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6387a338-f458-07f9-f16a-a91bcfa80b7f}">
          <p14:sldIdLst>
            <p14:sldId id="256"/>
            <p14:sldId id="257"/>
            <p14:sldId id="258"/>
          </p14:sldIdLst>
        </p14:section>
        <p14:section name="Progress" id="{e7297272-7d40-3a14-814c-60a31c1fedef}">
          <p14:sldIdLst>
            <p14:sldId id="259"/>
            <p14:sldId id="260"/>
          </p14:sldIdLst>
        </p14:section>
        <p14:section name="Steps 2–12" id="{df7ee80c-175d-ad99-5605-29576d287a8a}">
          <p14:sldIdLst>
            <p14:sldId id="261"/>
            <p14:sldId id="262"/>
            <p14:sldId id="263"/>
            <p14:sldId id="264"/>
            <p14:sldId id="265"/>
            <p14:sldId id="266"/>
            <p14:sldId id="267"/>
          </p14:sldIdLst>
        </p14:section>
        <p14:section name="Testing" id="{12626323-ca83-51ac-863f-a3f07c81815c}">
          <p14:sldIdLst>
            <p14:sldId id="268"/>
            <p14:sldId id="269"/>
            <p14:sldId id="270"/>
            <p14:sldId id="271"/>
          </p14:sldIdLst>
        </p14:section>
        <p14:section name="GitHub" id="{0052b607-0a1e-85ab-1c22-99d410b81c54}">
          <p14:sldIdLst>
            <p14:sldId id="272"/>
            <p14:sldId id="273"/>
            <p14:sldId id="274"/>
          </p14:sldIdLst>
        </p14:section>
        <p14:section name="Recreate without Claude" id="{17c7bf6a-5a13-dd16-dcdc-755437f65a51}">
          <p14:sldIdLst>
            <p14:sldId id="275"/>
            <p14:sldId id="276"/>
            <p14:sldId id="277"/>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Track B of project B1: making a RAG system stop answering from outdated runbooks. Steps 2 to 5 are done; Step 6, freezing the test set,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 and new runbooks are near-duplicates. Embedding search measures meaning, not validity, so it cannot tell which one is current. Measured with the lab's own embedder: in 4 of 8 plain questions the old version ranks first, and in every case both are in the top 2. With top-4 retrieval, roughly half the context the LLM sees is stale.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box except VERSION FILTER already exists in simple_rag/rag.py. At ingest, each chunk gets the manifest fields. At query time, Chroma's where clause drops superseded chunks before similarity ranking. This is structural, not a prompt instruction like 'prefer the newest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Teal is done, orange is next, outlined is still to do. Step 1 is not applicable because this is an individual project. Step 6 froze the 21 cases in commit 2cff45a. The order matters: the corpus and test cases are committed before rag.py changes, so the test can't be shaped by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holds what gets graded. The tracking folder holds how it was built and tested: logs from every run, the SOP, and the generator that recreates the corpus byte for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step 2: run the lab exactly as shipped before changing anything. All three commands worked. The 2 out of 6 eval score is the lab's built-in starting point, not a fault introduced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pair has 5 to 9 conflicting values. A few values are deliberately identical in both versions, such as replication factor 3 and /var/lib/kafka. Those feed the exact-string tests that must stay flat. The generator in tools/make_corpus.py recreates every file byte for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Metadata lives outside the documents so the embedded text is exactly what a reader sees. The manifest is written by the same generator as the runbooks, so they cannot drift. The conflicts block lists all 64 differing values and is used to write test cases, never given to the retriever.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Superseded cases test the fix. Exact-string cases must stay flat, which proves the filter didn't break normal retrieval. Multi-hop cases need two current documents. Unanswerable cases check the model doesn't start guessing. The set is written but not yet frozen: that is Step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rag.py only gained two settings to point at the Kafka corpus; retrieval is the original. b1_eval.py looks up each retrieved file in the manifest. Example: for 'Broker 4 hit 87%', the retriever returned disk-capacity.md AND disk-capacity-2025.md. This is the number the filter must take to 0% without moving exact-string off 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rag.py copies the manifest fields onto every chunk at ingest. The check reads Chroma directly, not rag.py. The demo runs one question against Chroma with and without the where clause: the 2025 disk runbook disappears. Step 9 puts exactly this clause into rag.retrieve().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change to the query is the where clause, and only when version_aware is True. OFF is byte-for-byte the original query, which the identical OFF run proves. The formal AFTER run, committed to results/, is Step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b1_check.py grows with each step and runs in one command. Each layer was also proven to catch mistakes by injecting errors. The ablation checks arrive with b1_eval.py in Step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plan and the runner come from one spec file, so the PDF can't drift from what was executed. LLM-dependent cases (E) are judged on meaning; the runner reports wording differences as WARN.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11 and 12: the same 21 frozen cases with the filter ON, committed; then a fair latency test (OFF and ON interleaved, 105 calls each) and the ablation table. No case fails with the filter ON; the 2 unanswerable cases are not scored on retrieval.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commands work from any terminal on this Mac. Each command's expected output is in the SOP, in the Verify and Expect parts of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Clone a branch with: git clone -b &lt;branch&gt; https://github.com/shreenathacc22/L2-RAG-B1-track-b-kafka-version-aware.git. The rag-deployment branch runs on its own; the project branch carries the full history and the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Vercel can't host the Python system (PyTorch is 558 MB against a 250 MB limit), so the stored chunk vectors are exported once and the question is embedded in the visitor's browser with the same model. Verified in Chrome against the live URL: every one of the 42 searches matches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needs an OpenAI-compatible key in .env (OPENAI_API_KEY, OPENAI_BASE_URL, MODEL); everything else runs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recreate_track_b.sh rebuilds everything up to the freeze in a separate folder and compares fingerprints of the corpus, manifest, golden set and check script with the original. If all four match, the rebuild is byte-identical. Logs go to the folder name plus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in a fresh terminal. The expected result of each command is in its comment. The full version with explanations is SOP Appendix A.2.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make_corpus.py and make_golden.py are deterministic: they reproduce the committed files byte for byte, which the shasum line 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copied files and two commands. rag.py differs from upstream only by the RAG_CORPUS / RAG_COLLECTION settings and flat-folder loading.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--chroma run is a deliberate negative test: before re-ingesting, the collection has no metadata, so the check must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OFF moves at all, something besides the filter changed and the ablation is invalid.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reuses the committed OFF and ON results instead of rerunning them, so the BEFORE evidence never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12 steps are complete and published. One-minute version: similarity alone served outdated runbooks for half the context; one query-time metadata filter removed them without hurting exact lookups or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1F2A3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83080"/>
            <a:ext cx="11064240" cy="17830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749040"/>
            <a:ext cx="10515600" cy="109728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B1 Version-Aware Retrieval · Track B · Kafka runbooks</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783080"/>
            <a:ext cx="11064240" cy="1783080"/>
          </a:xfrm>
          <a:prstGeom prst="rect">
            <a:avLst/>
          </a:prstGeom>
          <a:noFill/>
          <a:ln/>
        </p:spPr>
        <p:txBody>
          <a:bodyPr wrap="square" lIns="0" tIns="0" rIns="0" bIns="0" rtlCol="0" anchor="b"/>
          <a:lstStyle/>
          <a:p>
            <a:pPr algn="l" indent="0" marL="0">
              <a:buNone/>
            </a:pPr>
            <a:r>
              <a:rPr lang="en-US" sz="4400" b="1" dirty="0">
                <a:solidFill>
                  <a:schemeClr val="bg1"/>
                </a:solidFill>
              </a:rPr>
              <a:t>B1 Version-Aware Retrieval</a:t>
            </a:r>
            <a:endParaRPr lang="en-US" sz="4400" dirty="0"/>
          </a:p>
        </p:txBody>
      </p:sp>
      <p:sp>
        <p:nvSpPr>
          <p:cNvPr id="3" name="Text 0"/>
          <p:cNvSpPr/>
          <p:nvPr>
            <p:ph idx="101" type="body" hasCustomPrompt="1"/>
          </p:nvPr>
        </p:nvSpPr>
        <p:spPr>
          <a:xfrm>
            <a:off x="548640" y="3749040"/>
            <a:ext cx="10515600" cy="1097280"/>
          </a:xfrm>
          <a:prstGeom prst="rect">
            <a:avLst/>
          </a:prstGeom>
          <a:noFill/>
          <a:ln/>
        </p:spPr>
        <p:txBody>
          <a:bodyPr wrap="square" lIns="0" tIns="0" rIns="0" bIns="0" rtlCol="0" anchor="t"/>
          <a:lstStyle/>
          <a:p>
            <a:pPr indent="0" marL="0">
              <a:buNone/>
            </a:pPr>
            <a:r>
              <a:rPr lang="en-US" sz="2000" dirty="0">
                <a:solidFill>
                  <a:schemeClr val="accent5"/>
                </a:solidFill>
              </a:rPr>
              <a:t>Track B · Kafka runbooks · how the flow works, step by step</a:t>
            </a:r>
            <a:endParaRPr lang="en-US" sz="2000" dirty="0"/>
          </a:p>
        </p:txBody>
      </p:sp>
      <p:sp>
        <p:nvSpPr>
          <p:cNvPr id="4" name="Text 2"/>
          <p:cNvSpPr txBox="1"/>
          <p:nvPr/>
        </p:nvSpPr>
        <p:spPr>
          <a:xfrm>
            <a:off x="548640" y="6035040"/>
            <a:ext cx="10972800" cy="320040"/>
          </a:xfrm>
          <a:prstGeom prst="rect">
            <a:avLst/>
          </a:prstGeom>
          <a:noFill/>
          <a:ln/>
        </p:spPr>
        <p:txBody>
          <a:bodyPr wrap="square" lIns="0" tIns="0" rIns="0" bIns="0" rtlCol="0" anchor="ctr"/>
          <a:lstStyle/>
          <a:p>
            <a:pPr indent="0" marL="0">
              <a:buNone/>
            </a:pPr>
            <a:r>
              <a:rPr lang="en-US" sz="1200" dirty="0">
                <a:solidFill>
                  <a:schemeClr val="accent4"/>
                </a:solidFill>
              </a:rPr>
              <a:t>Modern AI Pro · Level 2 · RAG Design   |   Shreenath Shetty   |   v8 · 2026-10-18</a:t>
            </a:r>
            <a:endParaRPr lang="en-US" sz="1200" dirty="0"/>
          </a:p>
        </p:txBody>
      </p:sp>
      <p:sp>
        <p:nvSpPr>
          <p:cNvPr id="5" name="badge"/>
          <p:cNvSpPr/>
          <p:nvPr/>
        </p:nvSpPr>
        <p:spPr>
          <a:xfrm>
            <a:off x="548640" y="914400"/>
            <a:ext cx="640080" cy="640080"/>
          </a:xfrm>
          <a:prstGeom prst="ellipse">
            <a:avLst/>
          </a:prstGeom>
          <a:solidFill>
            <a:srgbClr val="E8833A"/>
          </a:solidFill>
          <a:ln/>
        </p:spPr>
      </p:sp>
      <p:sp>
        <p:nvSpPr>
          <p:cNvPr id="6" name="Text 4"/>
          <p:cNvSpPr txBox="1"/>
          <p:nvPr/>
        </p:nvSpPr>
        <p:spPr>
          <a:xfrm>
            <a:off x="548640" y="914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rPr>
              <a:t>B1</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Old runbooks win on similarity alone</a:t>
            </a:r>
            <a:endParaRPr lang="en-US" sz="3400" dirty="0"/>
          </a:p>
        </p:txBody>
      </p:sp>
      <p:sp>
        <p:nvSpPr>
          <p:cNvPr id="3" name="old card"/>
          <p:cNvSpPr/>
          <p:nvPr/>
        </p:nvSpPr>
        <p:spPr>
          <a:xfrm>
            <a:off x="548640" y="1417320"/>
            <a:ext cx="3566160" cy="2331720"/>
          </a:xfrm>
          <a:prstGeom prst="roundRect">
            <a:avLst>
              <a:gd name="adj" fmla="val 4706"/>
            </a:avLst>
          </a:prstGeom>
          <a:solidFill>
            <a:srgbClr val="FDEBDC"/>
          </a:solidFill>
          <a:ln/>
          <a:effectLst>
            <a:outerShdw sx="100000" sy="100000" kx="0" ky="0" algn="bl" rotWithShape="0" blurRad="76200" dist="25400" dir="5400000">
              <a:srgbClr val="000000">
                <a:alpha val="12000"/>
              </a:srgbClr>
            </a:outerShdw>
          </a:effectLst>
        </p:spPr>
      </p:sp>
      <p:sp>
        <p:nvSpPr>
          <p:cNvPr id="4" name="Text 2"/>
          <p:cNvSpPr txBox="1"/>
          <p:nvPr/>
        </p:nvSpPr>
        <p:spPr>
          <a:xfrm>
            <a:off x="822960" y="1600200"/>
            <a:ext cx="3108960" cy="320040"/>
          </a:xfrm>
          <a:prstGeom prst="rect">
            <a:avLst/>
          </a:prstGeom>
          <a:noFill/>
          <a:ln/>
        </p:spPr>
        <p:txBody>
          <a:bodyPr wrap="square" lIns="0" tIns="0" rIns="0" bIns="0" rtlCol="0" anchor="ctr"/>
          <a:lstStyle/>
          <a:p>
            <a:pPr indent="0" marL="0">
              <a:buNone/>
            </a:pPr>
            <a:r>
              <a:rPr lang="en-US" sz="1400" b="1" dirty="0">
                <a:solidFill>
                  <a:schemeClr val="tx1"/>
                </a:solidFill>
              </a:rPr>
              <a:t>disk-capacity-2025.md</a:t>
            </a:r>
            <a:endParaRPr lang="en-US" sz="1400" dirty="0"/>
          </a:p>
        </p:txBody>
      </p:sp>
      <p:sp>
        <p:nvSpPr>
          <p:cNvPr id="5" name="Text 3"/>
          <p:cNvSpPr txBox="1"/>
          <p:nvPr/>
        </p:nvSpPr>
        <p:spPr>
          <a:xfrm>
            <a:off x="822960" y="1920240"/>
            <a:ext cx="3108960" cy="274320"/>
          </a:xfrm>
          <a:prstGeom prst="rect">
            <a:avLst/>
          </a:prstGeom>
          <a:noFill/>
          <a:ln/>
        </p:spPr>
        <p:txBody>
          <a:bodyPr wrap="square" lIns="0" tIns="0" rIns="0" bIns="0" rtlCol="0" anchor="ctr"/>
          <a:lstStyle/>
          <a:p>
            <a:pPr indent="0" marL="0">
              <a:buNone/>
            </a:pPr>
            <a:r>
              <a:rPr lang="en-US" sz="1200" dirty="0">
                <a:solidFill>
                  <a:schemeClr val="accent4"/>
                </a:solidFill>
              </a:rPr>
              <a:t>Version 2 · 2025-02-01</a:t>
            </a:r>
            <a:endParaRPr lang="en-US" sz="1200" dirty="0"/>
          </a:p>
        </p:txBody>
      </p:sp>
      <p:sp>
        <p:nvSpPr>
          <p:cNvPr id="6" name="Text 4"/>
          <p:cNvSpPr txBox="1"/>
          <p:nvPr/>
        </p:nvSpPr>
        <p:spPr>
          <a:xfrm>
            <a:off x="822960" y="2377440"/>
            <a:ext cx="3108960" cy="548640"/>
          </a:xfrm>
          <a:prstGeom prst="rect">
            <a:avLst/>
          </a:prstGeom>
          <a:noFill/>
          <a:ln/>
        </p:spPr>
        <p:txBody>
          <a:bodyPr wrap="square" lIns="0" tIns="0" rIns="0" bIns="0" rtlCol="0" anchor="ctr"/>
          <a:lstStyle/>
          <a:p>
            <a:pPr indent="0" marL="0">
              <a:buNone/>
            </a:pPr>
            <a:r>
              <a:rPr lang="en-US" sz="2600" b="1" dirty="0">
                <a:solidFill>
                  <a:schemeClr val="accent2"/>
                </a:solidFill>
              </a:rPr>
              <a:t>Page at 90% used</a:t>
            </a:r>
            <a:endParaRPr lang="en-US" sz="2600" dirty="0"/>
          </a:p>
        </p:txBody>
      </p:sp>
      <p:sp>
        <p:nvSpPr>
          <p:cNvPr id="7" name="Text 5"/>
          <p:cNvSpPr txBox="1"/>
          <p:nvPr/>
        </p:nvSpPr>
        <p:spPr>
          <a:xfrm>
            <a:off x="822960" y="2971800"/>
            <a:ext cx="3108960" cy="640080"/>
          </a:xfrm>
          <a:prstGeom prst="rect">
            <a:avLst/>
          </a:prstGeom>
          <a:noFill/>
          <a:ln/>
        </p:spPr>
        <p:txBody>
          <a:bodyPr wrap="square" lIns="0" tIns="0" rIns="0" bIns="0" rtlCol="0" anchor="ctr"/>
          <a:lstStyle/>
          <a:p>
            <a:pPr indent="0" marL="0">
              <a:buNone/>
            </a:pPr>
            <a:r>
              <a:rPr lang="en-US" sz="1300" dirty="0">
                <a:solidFill>
                  <a:schemeClr val="tx1"/>
                </a:solidFill>
              </a:rPr>
              <a:t>Reads like a live document. Nothing says it is outdated.</a:t>
            </a:r>
            <a:endParaRPr lang="en-US" sz="1300" dirty="0"/>
          </a:p>
        </p:txBody>
      </p:sp>
      <p:sp>
        <p:nvSpPr>
          <p:cNvPr id="8" name="current card"/>
          <p:cNvSpPr/>
          <p:nvPr/>
        </p:nvSpPr>
        <p:spPr>
          <a:xfrm>
            <a:off x="548640" y="3977640"/>
            <a:ext cx="3566160" cy="2194560"/>
          </a:xfrm>
          <a:prstGeom prst="roundRect">
            <a:avLst>
              <a:gd name="adj" fmla="val 5000"/>
            </a:avLst>
          </a:prstGeom>
          <a:solidFill>
            <a:srgbClr val="CDEFEA"/>
          </a:solidFill>
          <a:ln/>
          <a:effectLst>
            <a:outerShdw sx="100000" sy="100000" kx="0" ky="0" algn="bl" rotWithShape="0" blurRad="76200" dist="25400" dir="5400000">
              <a:srgbClr val="000000">
                <a:alpha val="12000"/>
              </a:srgbClr>
            </a:outerShdw>
          </a:effectLst>
        </p:spPr>
      </p:sp>
      <p:sp>
        <p:nvSpPr>
          <p:cNvPr id="9" name="Text 7"/>
          <p:cNvSpPr txBox="1"/>
          <p:nvPr/>
        </p:nvSpPr>
        <p:spPr>
          <a:xfrm>
            <a:off x="822960" y="4160520"/>
            <a:ext cx="3108960" cy="320040"/>
          </a:xfrm>
          <a:prstGeom prst="rect">
            <a:avLst/>
          </a:prstGeom>
          <a:noFill/>
          <a:ln/>
        </p:spPr>
        <p:txBody>
          <a:bodyPr wrap="square" lIns="0" tIns="0" rIns="0" bIns="0" rtlCol="0" anchor="ctr"/>
          <a:lstStyle/>
          <a:p>
            <a:pPr indent="0" marL="0">
              <a:buNone/>
            </a:pPr>
            <a:r>
              <a:rPr lang="en-US" sz="1400" b="1" dirty="0">
                <a:solidFill>
                  <a:schemeClr val="tx1"/>
                </a:solidFill>
              </a:rPr>
              <a:t>disk-capacity.md</a:t>
            </a:r>
            <a:endParaRPr lang="en-US" sz="1400" dirty="0"/>
          </a:p>
        </p:txBody>
      </p:sp>
      <p:sp>
        <p:nvSpPr>
          <p:cNvPr id="10" name="Text 8"/>
          <p:cNvSpPr txBox="1"/>
          <p:nvPr/>
        </p:nvSpPr>
        <p:spPr>
          <a:xfrm>
            <a:off x="822960" y="4480560"/>
            <a:ext cx="3108960" cy="274320"/>
          </a:xfrm>
          <a:prstGeom prst="rect">
            <a:avLst/>
          </a:prstGeom>
          <a:noFill/>
          <a:ln/>
        </p:spPr>
        <p:txBody>
          <a:bodyPr wrap="square" lIns="0" tIns="0" rIns="0" bIns="0" rtlCol="0" anchor="ctr"/>
          <a:lstStyle/>
          <a:p>
            <a:pPr indent="0" marL="0">
              <a:buNone/>
            </a:pPr>
            <a:r>
              <a:rPr lang="en-US" sz="1200" dirty="0">
                <a:solidFill>
                  <a:schemeClr val="accent4"/>
                </a:solidFill>
              </a:rPr>
              <a:t>Version 3 · 2026-05-01</a:t>
            </a:r>
            <a:endParaRPr lang="en-US" sz="1200" dirty="0"/>
          </a:p>
        </p:txBody>
      </p:sp>
      <p:sp>
        <p:nvSpPr>
          <p:cNvPr id="11" name="Text 9"/>
          <p:cNvSpPr txBox="1"/>
          <p:nvPr/>
        </p:nvSpPr>
        <p:spPr>
          <a:xfrm>
            <a:off x="822960" y="4937760"/>
            <a:ext cx="3108960" cy="548640"/>
          </a:xfrm>
          <a:prstGeom prst="rect">
            <a:avLst/>
          </a:prstGeom>
          <a:noFill/>
          <a:ln/>
        </p:spPr>
        <p:txBody>
          <a:bodyPr wrap="square" lIns="0" tIns="0" rIns="0" bIns="0" rtlCol="0" anchor="ctr"/>
          <a:lstStyle/>
          <a:p>
            <a:pPr indent="0" marL="0">
              <a:buNone/>
            </a:pPr>
            <a:r>
              <a:rPr lang="en-US" sz="2600" b="1" dirty="0">
                <a:solidFill>
                  <a:schemeClr val="accent1"/>
                </a:solidFill>
              </a:rPr>
              <a:t>Page at 85% used</a:t>
            </a:r>
            <a:endParaRPr lang="en-US" sz="2600" dirty="0"/>
          </a:p>
        </p:txBody>
      </p:sp>
      <p:sp>
        <p:nvSpPr>
          <p:cNvPr id="12" name="Text 10"/>
          <p:cNvSpPr txBox="1"/>
          <p:nvPr/>
        </p:nvSpPr>
        <p:spPr>
          <a:xfrm>
            <a:off x="822960" y="5532120"/>
            <a:ext cx="3108960" cy="365760"/>
          </a:xfrm>
          <a:prstGeom prst="rect">
            <a:avLst/>
          </a:prstGeom>
          <a:noFill/>
          <a:ln/>
        </p:spPr>
        <p:txBody>
          <a:bodyPr wrap="square" lIns="0" tIns="0" rIns="0" bIns="0" rtlCol="0" anchor="ctr"/>
          <a:lstStyle/>
          <a:p>
            <a:pPr indent="0" marL="0">
              <a:buNone/>
            </a:pPr>
            <a:r>
              <a:rPr lang="en-US" sz="1300" dirty="0">
                <a:solidFill>
                  <a:schemeClr val="tx1"/>
                </a:solidFill>
              </a:rPr>
              <a:t>Same wording, different facts.</a:t>
            </a:r>
            <a:endParaRPr lang="en-US" sz="1300" dirty="0"/>
          </a:p>
        </p:txBody>
      </p:sp>
      <p:sp>
        <p:nvSpPr>
          <p:cNvPr id="13" name="Text 11"/>
          <p:cNvSpPr txBox="1"/>
          <p:nvPr/>
        </p:nvSpPr>
        <p:spPr>
          <a:xfrm>
            <a:off x="4754880" y="1463040"/>
            <a:ext cx="3108960" cy="91440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0.87–0.97</a:t>
            </a:r>
            <a:endParaRPr lang="en-US" sz="4800" dirty="0"/>
          </a:p>
        </p:txBody>
      </p:sp>
      <p:sp>
        <p:nvSpPr>
          <p:cNvPr id="14" name="Text 12"/>
          <p:cNvSpPr txBox="1"/>
          <p:nvPr/>
        </p:nvSpPr>
        <p:spPr>
          <a:xfrm>
            <a:off x="8001000" y="1572768"/>
            <a:ext cx="3611880" cy="731520"/>
          </a:xfrm>
          <a:prstGeom prst="rect">
            <a:avLst/>
          </a:prstGeom>
          <a:noFill/>
          <a:ln/>
        </p:spPr>
        <p:txBody>
          <a:bodyPr wrap="square" lIns="0" tIns="0" rIns="0" bIns="0" rtlCol="0" anchor="ctr"/>
          <a:lstStyle/>
          <a:p>
            <a:pPr indent="0" marL="0">
              <a:buNone/>
            </a:pPr>
            <a:r>
              <a:rPr lang="en-US" sz="1500" dirty="0">
                <a:solidFill>
                  <a:schemeClr val="tx1"/>
                </a:solidFill>
              </a:rPr>
              <a:t>similarity between old and current versions of the same runbook</a:t>
            </a:r>
            <a:endParaRPr lang="en-US" sz="1500" dirty="0"/>
          </a:p>
        </p:txBody>
      </p:sp>
      <p:sp>
        <p:nvSpPr>
          <p:cNvPr id="15" name="Text 13"/>
          <p:cNvSpPr txBox="1"/>
          <p:nvPr/>
        </p:nvSpPr>
        <p:spPr>
          <a:xfrm>
            <a:off x="4754880" y="3063240"/>
            <a:ext cx="3108960" cy="91440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4 / 8</a:t>
            </a:r>
            <a:endParaRPr lang="en-US" sz="4800" dirty="0"/>
          </a:p>
        </p:txBody>
      </p:sp>
      <p:sp>
        <p:nvSpPr>
          <p:cNvPr id="16" name="Text 14"/>
          <p:cNvSpPr txBox="1"/>
          <p:nvPr/>
        </p:nvSpPr>
        <p:spPr>
          <a:xfrm>
            <a:off x="8001000" y="3172968"/>
            <a:ext cx="3611880" cy="731520"/>
          </a:xfrm>
          <a:prstGeom prst="rect">
            <a:avLst/>
          </a:prstGeom>
          <a:noFill/>
          <a:ln/>
        </p:spPr>
        <p:txBody>
          <a:bodyPr wrap="square" lIns="0" tIns="0" rIns="0" bIns="0" rtlCol="0" anchor="ctr"/>
          <a:lstStyle/>
          <a:p>
            <a:pPr indent="0" marL="0">
              <a:buNone/>
            </a:pPr>
            <a:r>
              <a:rPr lang="en-US" sz="1500" dirty="0">
                <a:solidFill>
                  <a:schemeClr val="tx1"/>
                </a:solidFill>
              </a:rPr>
              <a:t>plain questions where the OLD version ranks first</a:t>
            </a:r>
            <a:endParaRPr lang="en-US" sz="1500" dirty="0"/>
          </a:p>
        </p:txBody>
      </p:sp>
      <p:sp>
        <p:nvSpPr>
          <p:cNvPr id="17" name="Text 15"/>
          <p:cNvSpPr txBox="1"/>
          <p:nvPr/>
        </p:nvSpPr>
        <p:spPr>
          <a:xfrm>
            <a:off x="4754880" y="4663440"/>
            <a:ext cx="3108960" cy="914400"/>
          </a:xfrm>
          <a:prstGeom prst="rect">
            <a:avLst/>
          </a:prstGeom>
          <a:noFill/>
          <a:ln/>
        </p:spPr>
        <p:txBody>
          <a:bodyPr wrap="square" lIns="0" tIns="0" rIns="0" bIns="0" rtlCol="0" anchor="ctr"/>
          <a:lstStyle/>
          <a:p>
            <a:pPr indent="0" marL="0">
              <a:buNone/>
            </a:pPr>
            <a:r>
              <a:rPr lang="en-US" sz="4800" b="1" dirty="0">
                <a:solidFill>
                  <a:schemeClr val="tx1"/>
                </a:solidFill>
                <a:latin typeface="Cambria" pitchFamily="34" charset="0"/>
                <a:ea typeface="Cambria" pitchFamily="34" charset="-122"/>
                <a:cs typeface="Cambria" pitchFamily="34" charset="-120"/>
              </a:rPr>
              <a:t>8 / 8</a:t>
            </a:r>
            <a:endParaRPr lang="en-US" sz="4800" dirty="0"/>
          </a:p>
        </p:txBody>
      </p:sp>
      <p:sp>
        <p:nvSpPr>
          <p:cNvPr id="18" name="Text 16"/>
          <p:cNvSpPr txBox="1"/>
          <p:nvPr/>
        </p:nvSpPr>
        <p:spPr>
          <a:xfrm>
            <a:off x="8001000" y="4773168"/>
            <a:ext cx="3611880" cy="731520"/>
          </a:xfrm>
          <a:prstGeom prst="rect">
            <a:avLst/>
          </a:prstGeom>
          <a:noFill/>
          <a:ln/>
        </p:spPr>
        <p:txBody>
          <a:bodyPr wrap="square" lIns="0" tIns="0" rIns="0" bIns="0" rtlCol="0" anchor="ctr"/>
          <a:lstStyle/>
          <a:p>
            <a:pPr indent="0" marL="0">
              <a:buNone/>
            </a:pPr>
            <a:r>
              <a:rPr lang="en-US" sz="1500" dirty="0">
                <a:solidFill>
                  <a:schemeClr val="tx1"/>
                </a:solidFill>
              </a:rPr>
              <a:t>questions where both versions land in the top 2, so both reach the LLM</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B1 adds one stage: a version filter</a:t>
            </a:r>
            <a:endParaRPr lang="en-US" sz="3400" dirty="0"/>
          </a:p>
        </p:txBody>
      </p:sp>
      <p:sp>
        <p:nvSpPr>
          <p:cNvPr id="3" name="Text 1"/>
          <p:cNvSpPr txBox="1"/>
          <p:nvPr/>
        </p:nvSpPr>
        <p:spPr>
          <a:xfrm>
            <a:off x="548640" y="1709928"/>
            <a:ext cx="1188720" cy="365760"/>
          </a:xfrm>
          <a:prstGeom prst="rect">
            <a:avLst/>
          </a:prstGeom>
          <a:noFill/>
          <a:ln/>
        </p:spPr>
        <p:txBody>
          <a:bodyPr wrap="square" lIns="0" tIns="0" rIns="0" bIns="0" rtlCol="0" anchor="ctr"/>
          <a:lstStyle/>
          <a:p>
            <a:pPr indent="0" marL="0">
              <a:buNone/>
            </a:pPr>
            <a:r>
              <a:rPr lang="en-US" sz="1600" b="1" dirty="0">
                <a:solidFill>
                  <a:schemeClr val="tx2"/>
                </a:solidFill>
              </a:rPr>
              <a:t>INGEST</a:t>
            </a:r>
            <a:endParaRPr lang="en-US" sz="1600" dirty="0"/>
          </a:p>
        </p:txBody>
      </p:sp>
      <p:sp>
        <p:nvSpPr>
          <p:cNvPr id="4" name="Text 2"/>
          <p:cNvSpPr txBox="1"/>
          <p:nvPr/>
        </p:nvSpPr>
        <p:spPr>
          <a:xfrm>
            <a:off x="548640" y="2057400"/>
            <a:ext cx="1188720" cy="320040"/>
          </a:xfrm>
          <a:prstGeom prst="rect">
            <a:avLst/>
          </a:prstGeom>
          <a:noFill/>
          <a:ln/>
        </p:spPr>
        <p:txBody>
          <a:bodyPr wrap="square" lIns="0" tIns="0" rIns="0" bIns="0" rtlCol="0" anchor="ctr"/>
          <a:lstStyle/>
          <a:p>
            <a:pPr indent="0" marL="0">
              <a:buNone/>
            </a:pPr>
            <a:r>
              <a:rPr lang="en-US" sz="1100" dirty="0">
                <a:solidFill>
                  <a:schemeClr val="accent4"/>
                </a:solidFill>
              </a:rPr>
              <a:t>rag.py ingest</a:t>
            </a:r>
            <a:endParaRPr lang="en-US" sz="1100" dirty="0"/>
          </a:p>
        </p:txBody>
      </p:sp>
      <p:sp>
        <p:nvSpPr>
          <p:cNvPr id="5" name="INGEST 16 runbooks"/>
          <p:cNvSpPr/>
          <p:nvPr/>
        </p:nvSpPr>
        <p:spPr>
          <a:xfrm>
            <a:off x="1874520" y="1600200"/>
            <a:ext cx="141732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6" name="Text 4"/>
          <p:cNvSpPr txBox="1"/>
          <p:nvPr/>
        </p:nvSpPr>
        <p:spPr>
          <a:xfrm>
            <a:off x="1947672" y="1709928"/>
            <a:ext cx="1271016" cy="411480"/>
          </a:xfrm>
          <a:prstGeom prst="rect">
            <a:avLst/>
          </a:prstGeom>
          <a:noFill/>
          <a:ln/>
        </p:spPr>
        <p:txBody>
          <a:bodyPr wrap="square" lIns="0" tIns="0" rIns="0" bIns="0" rtlCol="0" anchor="ctr"/>
          <a:lstStyle/>
          <a:p>
            <a:pPr algn="ctr" indent="0" marL="0">
              <a:buNone/>
            </a:pPr>
            <a:r>
              <a:rPr lang="en-US" sz="1500" b="1" dirty="0">
                <a:solidFill>
                  <a:schemeClr val="tx1"/>
                </a:solidFill>
              </a:rPr>
              <a:t>16 runbooks</a:t>
            </a:r>
            <a:endParaRPr lang="en-US" sz="1500" dirty="0"/>
          </a:p>
        </p:txBody>
      </p:sp>
      <p:sp>
        <p:nvSpPr>
          <p:cNvPr id="7" name="Text 5"/>
          <p:cNvSpPr txBox="1"/>
          <p:nvPr/>
        </p:nvSpPr>
        <p:spPr>
          <a:xfrm>
            <a:off x="1947672" y="2103120"/>
            <a:ext cx="1271016" cy="365760"/>
          </a:xfrm>
          <a:prstGeom prst="rect">
            <a:avLst/>
          </a:prstGeom>
          <a:noFill/>
          <a:ln/>
        </p:spPr>
        <p:txBody>
          <a:bodyPr wrap="square" lIns="0" tIns="0" rIns="0" bIns="0" rtlCol="0" anchor="ctr"/>
          <a:lstStyle/>
          <a:p>
            <a:pPr algn="ctr" indent="0" marL="0">
              <a:buNone/>
            </a:pPr>
            <a:r>
              <a:rPr lang="en-US" sz="1100" dirty="0">
                <a:solidFill>
                  <a:schemeClr val="accent4"/>
                </a:solidFill>
              </a:rPr>
              <a:t>corpus/kafka/</a:t>
            </a:r>
            <a:endParaRPr lang="en-US" sz="1100" dirty="0"/>
          </a:p>
        </p:txBody>
      </p:sp>
      <p:sp>
        <p:nvSpPr>
          <p:cNvPr id="8" name="INGEST arrow 0"/>
          <p:cNvSpPr/>
          <p:nvPr/>
        </p:nvSpPr>
        <p:spPr>
          <a:xfrm>
            <a:off x="3319272" y="2075688"/>
            <a:ext cx="237744" cy="0"/>
          </a:xfrm>
          <a:prstGeom prst="line">
            <a:avLst/>
          </a:prstGeom>
          <a:noFill/>
          <a:ln w="22225">
            <a:solidFill>
              <a:srgbClr val="64748B"/>
            </a:solidFill>
            <a:prstDash val="solid"/>
            <a:tailEnd type="triangle"/>
          </a:ln>
        </p:spPr>
      </p:sp>
      <p:sp>
        <p:nvSpPr>
          <p:cNvPr id="9" name="INGEST load"/>
          <p:cNvSpPr/>
          <p:nvPr/>
        </p:nvSpPr>
        <p:spPr>
          <a:xfrm>
            <a:off x="3584448" y="1600200"/>
            <a:ext cx="114300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10" name="Text 8"/>
          <p:cNvSpPr txBox="1"/>
          <p:nvPr/>
        </p:nvSpPr>
        <p:spPr>
          <a:xfrm>
            <a:off x="3657600" y="1709928"/>
            <a:ext cx="996696" cy="411480"/>
          </a:xfrm>
          <a:prstGeom prst="rect">
            <a:avLst/>
          </a:prstGeom>
          <a:noFill/>
          <a:ln/>
        </p:spPr>
        <p:txBody>
          <a:bodyPr wrap="square" lIns="0" tIns="0" rIns="0" bIns="0" rtlCol="0" anchor="ctr"/>
          <a:lstStyle/>
          <a:p>
            <a:pPr algn="ctr" indent="0" marL="0">
              <a:buNone/>
            </a:pPr>
            <a:r>
              <a:rPr lang="en-US" sz="1500" b="1" dirty="0">
                <a:solidFill>
                  <a:schemeClr val="tx1"/>
                </a:solidFill>
              </a:rPr>
              <a:t>load</a:t>
            </a:r>
            <a:endParaRPr lang="en-US" sz="1500" dirty="0"/>
          </a:p>
        </p:txBody>
      </p:sp>
      <p:sp>
        <p:nvSpPr>
          <p:cNvPr id="11" name="Text 9"/>
          <p:cNvSpPr txBox="1"/>
          <p:nvPr/>
        </p:nvSpPr>
        <p:spPr>
          <a:xfrm>
            <a:off x="3657600" y="2103120"/>
            <a:ext cx="996696" cy="365760"/>
          </a:xfrm>
          <a:prstGeom prst="rect">
            <a:avLst/>
          </a:prstGeom>
          <a:noFill/>
          <a:ln/>
        </p:spPr>
        <p:txBody>
          <a:bodyPr wrap="square" lIns="0" tIns="0" rIns="0" bIns="0" rtlCol="0" anchor="ctr"/>
          <a:lstStyle/>
          <a:p>
            <a:pPr algn="ctr" indent="0" marL="0">
              <a:buNone/>
            </a:pPr>
            <a:r>
              <a:rPr lang="en-US" sz="1100" dirty="0">
                <a:solidFill>
                  <a:schemeClr val="accent4"/>
                </a:solidFill>
              </a:rPr>
              <a:t>read files</a:t>
            </a:r>
            <a:endParaRPr lang="en-US" sz="1100" dirty="0"/>
          </a:p>
        </p:txBody>
      </p:sp>
      <p:sp>
        <p:nvSpPr>
          <p:cNvPr id="12" name="INGEST arrow 1"/>
          <p:cNvSpPr/>
          <p:nvPr/>
        </p:nvSpPr>
        <p:spPr>
          <a:xfrm>
            <a:off x="4754880" y="2075688"/>
            <a:ext cx="237744" cy="0"/>
          </a:xfrm>
          <a:prstGeom prst="line">
            <a:avLst/>
          </a:prstGeom>
          <a:noFill/>
          <a:ln w="22225">
            <a:solidFill>
              <a:srgbClr val="64748B"/>
            </a:solidFill>
            <a:prstDash val="solid"/>
            <a:tailEnd type="triangle"/>
          </a:ln>
        </p:spPr>
      </p:sp>
      <p:sp>
        <p:nvSpPr>
          <p:cNvPr id="13" name="INGEST + metadata"/>
          <p:cNvSpPr/>
          <p:nvPr/>
        </p:nvSpPr>
        <p:spPr>
          <a:xfrm>
            <a:off x="5020056" y="1600200"/>
            <a:ext cx="1783080" cy="960120"/>
          </a:xfrm>
          <a:prstGeom prst="roundRect">
            <a:avLst>
              <a:gd name="adj" fmla="val 11429"/>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5093208" y="1709928"/>
            <a:ext cx="1636776" cy="411480"/>
          </a:xfrm>
          <a:prstGeom prst="rect">
            <a:avLst/>
          </a:prstGeom>
          <a:noFill/>
          <a:ln/>
        </p:spPr>
        <p:txBody>
          <a:bodyPr wrap="square" lIns="0" tIns="0" rIns="0" bIns="0" rtlCol="0" anchor="ctr"/>
          <a:lstStyle/>
          <a:p>
            <a:pPr algn="ctr" indent="0" marL="0">
              <a:buNone/>
            </a:pPr>
            <a:r>
              <a:rPr lang="en-US" sz="1500" b="1" dirty="0">
                <a:solidFill>
                  <a:schemeClr val="tx1"/>
                </a:solidFill>
              </a:rPr>
              <a:t>+ metadata</a:t>
            </a:r>
            <a:endParaRPr lang="en-US" sz="1500" dirty="0"/>
          </a:p>
        </p:txBody>
      </p:sp>
      <p:sp>
        <p:nvSpPr>
          <p:cNvPr id="15" name="Text 13"/>
          <p:cNvSpPr txBox="1"/>
          <p:nvPr/>
        </p:nvSpPr>
        <p:spPr>
          <a:xfrm>
            <a:off x="5093208" y="2103120"/>
            <a:ext cx="1636776" cy="365760"/>
          </a:xfrm>
          <a:prstGeom prst="rect">
            <a:avLst/>
          </a:prstGeom>
          <a:noFill/>
          <a:ln/>
        </p:spPr>
        <p:txBody>
          <a:bodyPr wrap="square" lIns="0" tIns="0" rIns="0" bIns="0" rtlCol="0" anchor="ctr"/>
          <a:lstStyle/>
          <a:p>
            <a:pPr algn="ctr" indent="0" marL="0">
              <a:buNone/>
            </a:pPr>
            <a:r>
              <a:rPr lang="en-US" sz="1100" dirty="0">
                <a:solidFill>
                  <a:schemeClr val="accent4"/>
                </a:solidFill>
              </a:rPr>
              <a:t>manifest.json · Step 8</a:t>
            </a:r>
            <a:endParaRPr lang="en-US" sz="1100" dirty="0"/>
          </a:p>
        </p:txBody>
      </p:sp>
      <p:sp>
        <p:nvSpPr>
          <p:cNvPr id="16" name="INGEST arrow 2"/>
          <p:cNvSpPr/>
          <p:nvPr/>
        </p:nvSpPr>
        <p:spPr>
          <a:xfrm>
            <a:off x="6830568" y="2075688"/>
            <a:ext cx="237744" cy="0"/>
          </a:xfrm>
          <a:prstGeom prst="line">
            <a:avLst/>
          </a:prstGeom>
          <a:noFill/>
          <a:ln w="22225">
            <a:solidFill>
              <a:srgbClr val="64748B"/>
            </a:solidFill>
            <a:prstDash val="solid"/>
            <a:tailEnd type="triangle"/>
          </a:ln>
        </p:spPr>
      </p:sp>
      <p:sp>
        <p:nvSpPr>
          <p:cNvPr id="17" name="INGEST chunk"/>
          <p:cNvSpPr/>
          <p:nvPr/>
        </p:nvSpPr>
        <p:spPr>
          <a:xfrm>
            <a:off x="7095744" y="1600200"/>
            <a:ext cx="114300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18" name="Text 16"/>
          <p:cNvSpPr txBox="1"/>
          <p:nvPr/>
        </p:nvSpPr>
        <p:spPr>
          <a:xfrm>
            <a:off x="7168896" y="1709928"/>
            <a:ext cx="996696" cy="411480"/>
          </a:xfrm>
          <a:prstGeom prst="rect">
            <a:avLst/>
          </a:prstGeom>
          <a:noFill/>
          <a:ln/>
        </p:spPr>
        <p:txBody>
          <a:bodyPr wrap="square" lIns="0" tIns="0" rIns="0" bIns="0" rtlCol="0" anchor="ctr"/>
          <a:lstStyle/>
          <a:p>
            <a:pPr algn="ctr" indent="0" marL="0">
              <a:buNone/>
            </a:pPr>
            <a:r>
              <a:rPr lang="en-US" sz="1500" b="1" dirty="0">
                <a:solidFill>
                  <a:schemeClr val="tx1"/>
                </a:solidFill>
              </a:rPr>
              <a:t>chunk</a:t>
            </a:r>
            <a:endParaRPr lang="en-US" sz="1500" dirty="0"/>
          </a:p>
        </p:txBody>
      </p:sp>
      <p:sp>
        <p:nvSpPr>
          <p:cNvPr id="19" name="Text 17"/>
          <p:cNvSpPr txBox="1"/>
          <p:nvPr/>
        </p:nvSpPr>
        <p:spPr>
          <a:xfrm>
            <a:off x="7168896" y="2103120"/>
            <a:ext cx="996696" cy="365760"/>
          </a:xfrm>
          <a:prstGeom prst="rect">
            <a:avLst/>
          </a:prstGeom>
          <a:noFill/>
          <a:ln/>
        </p:spPr>
        <p:txBody>
          <a:bodyPr wrap="square" lIns="0" tIns="0" rIns="0" bIns="0" rtlCol="0" anchor="ctr"/>
          <a:lstStyle/>
          <a:p>
            <a:pPr algn="ctr" indent="0" marL="0">
              <a:buNone/>
            </a:pPr>
            <a:r>
              <a:rPr lang="en-US" sz="1100" dirty="0">
                <a:solidFill>
                  <a:schemeClr val="accent4"/>
                </a:solidFill>
              </a:rPr>
              <a:t>split text</a:t>
            </a:r>
            <a:endParaRPr lang="en-US" sz="1100" dirty="0"/>
          </a:p>
        </p:txBody>
      </p:sp>
      <p:sp>
        <p:nvSpPr>
          <p:cNvPr id="20" name="INGEST arrow 3"/>
          <p:cNvSpPr/>
          <p:nvPr/>
        </p:nvSpPr>
        <p:spPr>
          <a:xfrm>
            <a:off x="8266176" y="2075688"/>
            <a:ext cx="237744" cy="0"/>
          </a:xfrm>
          <a:prstGeom prst="line">
            <a:avLst/>
          </a:prstGeom>
          <a:noFill/>
          <a:ln w="22225">
            <a:solidFill>
              <a:srgbClr val="64748B"/>
            </a:solidFill>
            <a:prstDash val="solid"/>
            <a:tailEnd type="triangle"/>
          </a:ln>
        </p:spPr>
      </p:sp>
      <p:sp>
        <p:nvSpPr>
          <p:cNvPr id="21" name="INGEST embed"/>
          <p:cNvSpPr/>
          <p:nvPr/>
        </p:nvSpPr>
        <p:spPr>
          <a:xfrm>
            <a:off x="8531352" y="1600200"/>
            <a:ext cx="141732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22" name="Text 20"/>
          <p:cNvSpPr txBox="1"/>
          <p:nvPr/>
        </p:nvSpPr>
        <p:spPr>
          <a:xfrm>
            <a:off x="8604504" y="1709928"/>
            <a:ext cx="1271016" cy="411480"/>
          </a:xfrm>
          <a:prstGeom prst="rect">
            <a:avLst/>
          </a:prstGeom>
          <a:noFill/>
          <a:ln/>
        </p:spPr>
        <p:txBody>
          <a:bodyPr wrap="square" lIns="0" tIns="0" rIns="0" bIns="0" rtlCol="0" anchor="ctr"/>
          <a:lstStyle/>
          <a:p>
            <a:pPr algn="ctr" indent="0" marL="0">
              <a:buNone/>
            </a:pPr>
            <a:r>
              <a:rPr lang="en-US" sz="1500" b="1" dirty="0">
                <a:solidFill>
                  <a:schemeClr val="tx1"/>
                </a:solidFill>
              </a:rPr>
              <a:t>embed</a:t>
            </a:r>
            <a:endParaRPr lang="en-US" sz="1500" dirty="0"/>
          </a:p>
        </p:txBody>
      </p:sp>
      <p:sp>
        <p:nvSpPr>
          <p:cNvPr id="23" name="Text 21"/>
          <p:cNvSpPr txBox="1"/>
          <p:nvPr/>
        </p:nvSpPr>
        <p:spPr>
          <a:xfrm>
            <a:off x="8604504" y="2103120"/>
            <a:ext cx="1271016" cy="365760"/>
          </a:xfrm>
          <a:prstGeom prst="rect">
            <a:avLst/>
          </a:prstGeom>
          <a:noFill/>
          <a:ln/>
        </p:spPr>
        <p:txBody>
          <a:bodyPr wrap="square" lIns="0" tIns="0" rIns="0" bIns="0" rtlCol="0" anchor="ctr"/>
          <a:lstStyle/>
          <a:p>
            <a:pPr algn="ctr" indent="0" marL="0">
              <a:buNone/>
            </a:pPr>
            <a:r>
              <a:rPr lang="en-US" sz="1100" dirty="0">
                <a:solidFill>
                  <a:schemeClr val="accent4"/>
                </a:solidFill>
              </a:rPr>
              <a:t>MiniLM-L6-v2</a:t>
            </a:r>
            <a:endParaRPr lang="en-US" sz="1100" dirty="0"/>
          </a:p>
        </p:txBody>
      </p:sp>
      <p:sp>
        <p:nvSpPr>
          <p:cNvPr id="24" name="INGEST arrow 4"/>
          <p:cNvSpPr/>
          <p:nvPr/>
        </p:nvSpPr>
        <p:spPr>
          <a:xfrm>
            <a:off x="9976104" y="2075688"/>
            <a:ext cx="237744" cy="0"/>
          </a:xfrm>
          <a:prstGeom prst="line">
            <a:avLst/>
          </a:prstGeom>
          <a:noFill/>
          <a:ln w="22225">
            <a:solidFill>
              <a:srgbClr val="64748B"/>
            </a:solidFill>
            <a:prstDash val="solid"/>
            <a:tailEnd type="triangle"/>
          </a:ln>
        </p:spPr>
      </p:sp>
      <p:sp>
        <p:nvSpPr>
          <p:cNvPr id="25" name="INGEST Chroma"/>
          <p:cNvSpPr/>
          <p:nvPr/>
        </p:nvSpPr>
        <p:spPr>
          <a:xfrm>
            <a:off x="10241280" y="1600200"/>
            <a:ext cx="146304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26" name="Text 24"/>
          <p:cNvSpPr txBox="1"/>
          <p:nvPr/>
        </p:nvSpPr>
        <p:spPr>
          <a:xfrm>
            <a:off x="10314432" y="1709928"/>
            <a:ext cx="1316736" cy="411480"/>
          </a:xfrm>
          <a:prstGeom prst="rect">
            <a:avLst/>
          </a:prstGeom>
          <a:noFill/>
          <a:ln/>
        </p:spPr>
        <p:txBody>
          <a:bodyPr wrap="square" lIns="0" tIns="0" rIns="0" bIns="0" rtlCol="0" anchor="ctr"/>
          <a:lstStyle/>
          <a:p>
            <a:pPr algn="ctr" indent="0" marL="0">
              <a:buNone/>
            </a:pPr>
            <a:r>
              <a:rPr lang="en-US" sz="1500" b="1" dirty="0">
                <a:solidFill>
                  <a:schemeClr val="tx1"/>
                </a:solidFill>
              </a:rPr>
              <a:t>Chroma</a:t>
            </a:r>
            <a:endParaRPr lang="en-US" sz="1500" dirty="0"/>
          </a:p>
        </p:txBody>
      </p:sp>
      <p:sp>
        <p:nvSpPr>
          <p:cNvPr id="27" name="Text 25"/>
          <p:cNvSpPr txBox="1"/>
          <p:nvPr/>
        </p:nvSpPr>
        <p:spPr>
          <a:xfrm>
            <a:off x="10314432" y="2103120"/>
            <a:ext cx="1316736" cy="365760"/>
          </a:xfrm>
          <a:prstGeom prst="rect">
            <a:avLst/>
          </a:prstGeom>
          <a:noFill/>
          <a:ln/>
        </p:spPr>
        <p:txBody>
          <a:bodyPr wrap="square" lIns="0" tIns="0" rIns="0" bIns="0" rtlCol="0" anchor="ctr"/>
          <a:lstStyle/>
          <a:p>
            <a:pPr algn="ctr" indent="0" marL="0">
              <a:buNone/>
            </a:pPr>
            <a:r>
              <a:rPr lang="en-US" sz="1100" dirty="0">
                <a:solidFill>
                  <a:schemeClr val="accent4"/>
                </a:solidFill>
              </a:rPr>
              <a:t>vectors + metadata</a:t>
            </a:r>
            <a:endParaRPr lang="en-US" sz="1100" dirty="0"/>
          </a:p>
        </p:txBody>
      </p:sp>
      <p:sp>
        <p:nvSpPr>
          <p:cNvPr id="28" name="Text 26"/>
          <p:cNvSpPr txBox="1"/>
          <p:nvPr/>
        </p:nvSpPr>
        <p:spPr>
          <a:xfrm>
            <a:off x="548640" y="3447288"/>
            <a:ext cx="1188720" cy="365760"/>
          </a:xfrm>
          <a:prstGeom prst="rect">
            <a:avLst/>
          </a:prstGeom>
          <a:noFill/>
          <a:ln/>
        </p:spPr>
        <p:txBody>
          <a:bodyPr wrap="square" lIns="0" tIns="0" rIns="0" bIns="0" rtlCol="0" anchor="ctr"/>
          <a:lstStyle/>
          <a:p>
            <a:pPr indent="0" marL="0">
              <a:buNone/>
            </a:pPr>
            <a:r>
              <a:rPr lang="en-US" sz="1600" b="1" dirty="0">
                <a:solidFill>
                  <a:schemeClr val="tx2"/>
                </a:solidFill>
              </a:rPr>
              <a:t>QUERY</a:t>
            </a:r>
            <a:endParaRPr lang="en-US" sz="1600" dirty="0"/>
          </a:p>
        </p:txBody>
      </p:sp>
      <p:sp>
        <p:nvSpPr>
          <p:cNvPr id="29" name="Text 27"/>
          <p:cNvSpPr txBox="1"/>
          <p:nvPr/>
        </p:nvSpPr>
        <p:spPr>
          <a:xfrm>
            <a:off x="548640" y="3794760"/>
            <a:ext cx="1188720" cy="320040"/>
          </a:xfrm>
          <a:prstGeom prst="rect">
            <a:avLst/>
          </a:prstGeom>
          <a:noFill/>
          <a:ln/>
        </p:spPr>
        <p:txBody>
          <a:bodyPr wrap="square" lIns="0" tIns="0" rIns="0" bIns="0" rtlCol="0" anchor="ctr"/>
          <a:lstStyle/>
          <a:p>
            <a:pPr indent="0" marL="0">
              <a:buNone/>
            </a:pPr>
            <a:r>
              <a:rPr lang="en-US" sz="1100" dirty="0">
                <a:solidFill>
                  <a:schemeClr val="accent4"/>
                </a:solidFill>
              </a:rPr>
              <a:t>ask / b1_eval</a:t>
            </a:r>
            <a:endParaRPr lang="en-US" sz="1100" dirty="0"/>
          </a:p>
        </p:txBody>
      </p:sp>
      <p:sp>
        <p:nvSpPr>
          <p:cNvPr id="30" name="QUERY question"/>
          <p:cNvSpPr/>
          <p:nvPr/>
        </p:nvSpPr>
        <p:spPr>
          <a:xfrm>
            <a:off x="1874520" y="3337560"/>
            <a:ext cx="141732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31" name="Text 29"/>
          <p:cNvSpPr txBox="1"/>
          <p:nvPr/>
        </p:nvSpPr>
        <p:spPr>
          <a:xfrm>
            <a:off x="1947672" y="3447288"/>
            <a:ext cx="1271016" cy="411480"/>
          </a:xfrm>
          <a:prstGeom prst="rect">
            <a:avLst/>
          </a:prstGeom>
          <a:noFill/>
          <a:ln/>
        </p:spPr>
        <p:txBody>
          <a:bodyPr wrap="square" lIns="0" tIns="0" rIns="0" bIns="0" rtlCol="0" anchor="ctr"/>
          <a:lstStyle/>
          <a:p>
            <a:pPr algn="ctr" indent="0" marL="0">
              <a:buNone/>
            </a:pPr>
            <a:r>
              <a:rPr lang="en-US" sz="1500" b="1" dirty="0">
                <a:solidFill>
                  <a:schemeClr val="tx1"/>
                </a:solidFill>
              </a:rPr>
              <a:t>question</a:t>
            </a:r>
            <a:endParaRPr lang="en-US" sz="1500" dirty="0"/>
          </a:p>
        </p:txBody>
      </p:sp>
      <p:sp>
        <p:nvSpPr>
          <p:cNvPr id="32" name="Text 30"/>
          <p:cNvSpPr txBox="1"/>
          <p:nvPr/>
        </p:nvSpPr>
        <p:spPr>
          <a:xfrm>
            <a:off x="1947672" y="3840480"/>
            <a:ext cx="1271016" cy="365760"/>
          </a:xfrm>
          <a:prstGeom prst="rect">
            <a:avLst/>
          </a:prstGeom>
          <a:noFill/>
          <a:ln/>
        </p:spPr>
        <p:txBody>
          <a:bodyPr wrap="square" lIns="0" tIns="0" rIns="0" bIns="0" rtlCol="0" anchor="ctr"/>
          <a:lstStyle/>
          <a:p>
            <a:pPr algn="ctr" indent="0" marL="0">
              <a:buNone/>
            </a:pPr>
            <a:r>
              <a:rPr lang="en-US" sz="1100" dirty="0">
                <a:solidFill>
                  <a:schemeClr val="accent4"/>
                </a:solidFill>
              </a:rPr>
              <a:t>from the user</a:t>
            </a:r>
            <a:endParaRPr lang="en-US" sz="1100" dirty="0"/>
          </a:p>
        </p:txBody>
      </p:sp>
      <p:sp>
        <p:nvSpPr>
          <p:cNvPr id="33" name="QUERY arrow 0"/>
          <p:cNvSpPr/>
          <p:nvPr/>
        </p:nvSpPr>
        <p:spPr>
          <a:xfrm>
            <a:off x="3319272" y="3813048"/>
            <a:ext cx="237744" cy="0"/>
          </a:xfrm>
          <a:prstGeom prst="line">
            <a:avLst/>
          </a:prstGeom>
          <a:noFill/>
          <a:ln w="22225">
            <a:solidFill>
              <a:srgbClr val="64748B"/>
            </a:solidFill>
            <a:prstDash val="solid"/>
            <a:tailEnd type="triangle"/>
          </a:ln>
        </p:spPr>
      </p:sp>
      <p:sp>
        <p:nvSpPr>
          <p:cNvPr id="34" name="QUERY embed"/>
          <p:cNvSpPr/>
          <p:nvPr/>
        </p:nvSpPr>
        <p:spPr>
          <a:xfrm>
            <a:off x="3584448" y="3337560"/>
            <a:ext cx="114300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35" name="Text 33"/>
          <p:cNvSpPr txBox="1"/>
          <p:nvPr/>
        </p:nvSpPr>
        <p:spPr>
          <a:xfrm>
            <a:off x="3657600" y="3447288"/>
            <a:ext cx="996696" cy="411480"/>
          </a:xfrm>
          <a:prstGeom prst="rect">
            <a:avLst/>
          </a:prstGeom>
          <a:noFill/>
          <a:ln/>
        </p:spPr>
        <p:txBody>
          <a:bodyPr wrap="square" lIns="0" tIns="0" rIns="0" bIns="0" rtlCol="0" anchor="ctr"/>
          <a:lstStyle/>
          <a:p>
            <a:pPr algn="ctr" indent="0" marL="0">
              <a:buNone/>
            </a:pPr>
            <a:r>
              <a:rPr lang="en-US" sz="1500" b="1" dirty="0">
                <a:solidFill>
                  <a:schemeClr val="tx1"/>
                </a:solidFill>
              </a:rPr>
              <a:t>embed</a:t>
            </a:r>
            <a:endParaRPr lang="en-US" sz="1500" dirty="0"/>
          </a:p>
        </p:txBody>
      </p:sp>
      <p:sp>
        <p:nvSpPr>
          <p:cNvPr id="36" name="Text 34"/>
          <p:cNvSpPr txBox="1"/>
          <p:nvPr/>
        </p:nvSpPr>
        <p:spPr>
          <a:xfrm>
            <a:off x="3657600" y="3840480"/>
            <a:ext cx="996696" cy="365760"/>
          </a:xfrm>
          <a:prstGeom prst="rect">
            <a:avLst/>
          </a:prstGeom>
          <a:noFill/>
          <a:ln/>
        </p:spPr>
        <p:txBody>
          <a:bodyPr wrap="square" lIns="0" tIns="0" rIns="0" bIns="0" rtlCol="0" anchor="ctr"/>
          <a:lstStyle/>
          <a:p>
            <a:pPr algn="ctr" indent="0" marL="0">
              <a:buNone/>
            </a:pPr>
            <a:r>
              <a:rPr lang="en-US" sz="1100" dirty="0">
                <a:solidFill>
                  <a:schemeClr val="accent4"/>
                </a:solidFill>
              </a:rPr>
              <a:t>same model</a:t>
            </a:r>
            <a:endParaRPr lang="en-US" sz="1100" dirty="0"/>
          </a:p>
        </p:txBody>
      </p:sp>
      <p:sp>
        <p:nvSpPr>
          <p:cNvPr id="37" name="QUERY arrow 1"/>
          <p:cNvSpPr/>
          <p:nvPr/>
        </p:nvSpPr>
        <p:spPr>
          <a:xfrm>
            <a:off x="4754880" y="3813048"/>
            <a:ext cx="237744" cy="0"/>
          </a:xfrm>
          <a:prstGeom prst="line">
            <a:avLst/>
          </a:prstGeom>
          <a:noFill/>
          <a:ln w="22225">
            <a:solidFill>
              <a:srgbClr val="64748B"/>
            </a:solidFill>
            <a:prstDash val="solid"/>
            <a:tailEnd type="triangle"/>
          </a:ln>
        </p:spPr>
      </p:sp>
      <p:sp>
        <p:nvSpPr>
          <p:cNvPr id="38" name="QUERY VERSION FILTER"/>
          <p:cNvSpPr/>
          <p:nvPr/>
        </p:nvSpPr>
        <p:spPr>
          <a:xfrm>
            <a:off x="5020056" y="3337560"/>
            <a:ext cx="2057400" cy="960120"/>
          </a:xfrm>
          <a:prstGeom prst="roundRect">
            <a:avLst>
              <a:gd name="adj" fmla="val 11429"/>
            </a:avLst>
          </a:prstGeom>
          <a:solidFill>
            <a:srgbClr val="FDEBDC"/>
          </a:solidFill>
          <a:ln w="19050">
            <a:solidFill>
              <a:srgbClr val="E8833A"/>
            </a:solidFill>
            <a:prstDash val="solid"/>
          </a:ln>
          <a:effectLst>
            <a:outerShdw sx="100000" sy="100000" kx="0" ky="0" algn="bl" rotWithShape="0" blurRad="76200" dist="25400" dir="5400000">
              <a:srgbClr val="000000">
                <a:alpha val="12000"/>
              </a:srgbClr>
            </a:outerShdw>
          </a:effectLst>
        </p:spPr>
      </p:sp>
      <p:sp>
        <p:nvSpPr>
          <p:cNvPr id="39" name="Text 37"/>
          <p:cNvSpPr txBox="1"/>
          <p:nvPr/>
        </p:nvSpPr>
        <p:spPr>
          <a:xfrm>
            <a:off x="5093208" y="3447288"/>
            <a:ext cx="1911096" cy="411480"/>
          </a:xfrm>
          <a:prstGeom prst="rect">
            <a:avLst/>
          </a:prstGeom>
          <a:noFill/>
          <a:ln/>
        </p:spPr>
        <p:txBody>
          <a:bodyPr wrap="square" lIns="0" tIns="0" rIns="0" bIns="0" rtlCol="0" anchor="ctr"/>
          <a:lstStyle/>
          <a:p>
            <a:pPr algn="ctr" indent="0" marL="0">
              <a:buNone/>
            </a:pPr>
            <a:r>
              <a:rPr lang="en-US" sz="1500" b="1" dirty="0">
                <a:solidFill>
                  <a:schemeClr val="accent2"/>
                </a:solidFill>
              </a:rPr>
              <a:t>VERSION FILTER</a:t>
            </a:r>
            <a:endParaRPr lang="en-US" sz="1500" dirty="0"/>
          </a:p>
        </p:txBody>
      </p:sp>
      <p:sp>
        <p:nvSpPr>
          <p:cNvPr id="40" name="Text 38"/>
          <p:cNvSpPr txBox="1"/>
          <p:nvPr/>
        </p:nvSpPr>
        <p:spPr>
          <a:xfrm>
            <a:off x="5093208" y="3840480"/>
            <a:ext cx="1911096" cy="365760"/>
          </a:xfrm>
          <a:prstGeom prst="rect">
            <a:avLst/>
          </a:prstGeom>
          <a:noFill/>
          <a:ln/>
        </p:spPr>
        <p:txBody>
          <a:bodyPr wrap="square" lIns="0" tIns="0" rIns="0" bIns="0" rtlCol="0" anchor="ctr"/>
          <a:lstStyle/>
          <a:p>
            <a:pPr algn="ctr" indent="0" marL="0">
              <a:buNone/>
            </a:pPr>
            <a:r>
              <a:rPr lang="en-US" sz="1100" dirty="0">
                <a:solidFill>
                  <a:schemeClr val="accent4"/>
                </a:solidFill>
              </a:rPr>
              <a:t>superseded = False</a:t>
            </a:r>
            <a:endParaRPr lang="en-US" sz="1100" dirty="0"/>
          </a:p>
        </p:txBody>
      </p:sp>
      <p:sp>
        <p:nvSpPr>
          <p:cNvPr id="41" name="QUERY arrow 2"/>
          <p:cNvSpPr/>
          <p:nvPr/>
        </p:nvSpPr>
        <p:spPr>
          <a:xfrm>
            <a:off x="7104888" y="3813048"/>
            <a:ext cx="237744" cy="0"/>
          </a:xfrm>
          <a:prstGeom prst="line">
            <a:avLst/>
          </a:prstGeom>
          <a:noFill/>
          <a:ln w="22225">
            <a:solidFill>
              <a:srgbClr val="64748B"/>
            </a:solidFill>
            <a:prstDash val="solid"/>
            <a:tailEnd type="triangle"/>
          </a:ln>
        </p:spPr>
      </p:sp>
      <p:sp>
        <p:nvSpPr>
          <p:cNvPr id="42" name="QUERY top-4"/>
          <p:cNvSpPr/>
          <p:nvPr/>
        </p:nvSpPr>
        <p:spPr>
          <a:xfrm>
            <a:off x="7370064" y="3337560"/>
            <a:ext cx="141732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43" name="Text 41"/>
          <p:cNvSpPr txBox="1"/>
          <p:nvPr/>
        </p:nvSpPr>
        <p:spPr>
          <a:xfrm>
            <a:off x="7443216" y="3447288"/>
            <a:ext cx="1271016" cy="411480"/>
          </a:xfrm>
          <a:prstGeom prst="rect">
            <a:avLst/>
          </a:prstGeom>
          <a:noFill/>
          <a:ln/>
        </p:spPr>
        <p:txBody>
          <a:bodyPr wrap="square" lIns="0" tIns="0" rIns="0" bIns="0" rtlCol="0" anchor="ctr"/>
          <a:lstStyle/>
          <a:p>
            <a:pPr algn="ctr" indent="0" marL="0">
              <a:buNone/>
            </a:pPr>
            <a:r>
              <a:rPr lang="en-US" sz="1500" b="1" dirty="0">
                <a:solidFill>
                  <a:schemeClr val="tx1"/>
                </a:solidFill>
              </a:rPr>
              <a:t>top-4</a:t>
            </a:r>
            <a:endParaRPr lang="en-US" sz="1500" dirty="0"/>
          </a:p>
        </p:txBody>
      </p:sp>
      <p:sp>
        <p:nvSpPr>
          <p:cNvPr id="44" name="Text 42"/>
          <p:cNvSpPr txBox="1"/>
          <p:nvPr/>
        </p:nvSpPr>
        <p:spPr>
          <a:xfrm>
            <a:off x="7443216" y="3840480"/>
            <a:ext cx="1271016" cy="365760"/>
          </a:xfrm>
          <a:prstGeom prst="rect">
            <a:avLst/>
          </a:prstGeom>
          <a:noFill/>
          <a:ln/>
        </p:spPr>
        <p:txBody>
          <a:bodyPr wrap="square" lIns="0" tIns="0" rIns="0" bIns="0" rtlCol="0" anchor="ctr"/>
          <a:lstStyle/>
          <a:p>
            <a:pPr algn="ctr" indent="0" marL="0">
              <a:buNone/>
            </a:pPr>
            <a:r>
              <a:rPr lang="en-US" sz="1100" dirty="0">
                <a:solidFill>
                  <a:schemeClr val="accent4"/>
                </a:solidFill>
              </a:rPr>
              <a:t>by similarity</a:t>
            </a:r>
            <a:endParaRPr lang="en-US" sz="1100" dirty="0"/>
          </a:p>
        </p:txBody>
      </p:sp>
      <p:sp>
        <p:nvSpPr>
          <p:cNvPr id="45" name="QUERY arrow 3"/>
          <p:cNvSpPr/>
          <p:nvPr/>
        </p:nvSpPr>
        <p:spPr>
          <a:xfrm>
            <a:off x="8814816" y="3813048"/>
            <a:ext cx="237744" cy="0"/>
          </a:xfrm>
          <a:prstGeom prst="line">
            <a:avLst/>
          </a:prstGeom>
          <a:noFill/>
          <a:ln w="22225">
            <a:solidFill>
              <a:srgbClr val="64748B"/>
            </a:solidFill>
            <a:prstDash val="solid"/>
            <a:tailEnd type="triangle"/>
          </a:ln>
        </p:spPr>
      </p:sp>
      <p:sp>
        <p:nvSpPr>
          <p:cNvPr id="46" name="QUERY LLM answer"/>
          <p:cNvSpPr/>
          <p:nvPr/>
        </p:nvSpPr>
        <p:spPr>
          <a:xfrm>
            <a:off x="9079992" y="3337560"/>
            <a:ext cx="1965960" cy="960120"/>
          </a:xfrm>
          <a:prstGeom prst="roundRect">
            <a:avLst>
              <a:gd name="adj" fmla="val 11429"/>
            </a:avLst>
          </a:prstGeom>
          <a:solidFill>
            <a:srgbClr val="EEF2F5"/>
          </a:solidFill>
          <a:ln/>
          <a:effectLst>
            <a:outerShdw sx="100000" sy="100000" kx="0" ky="0" algn="bl" rotWithShape="0" blurRad="76200" dist="25400" dir="5400000">
              <a:srgbClr val="000000">
                <a:alpha val="12000"/>
              </a:srgbClr>
            </a:outerShdw>
          </a:effectLst>
        </p:spPr>
      </p:sp>
      <p:sp>
        <p:nvSpPr>
          <p:cNvPr id="47" name="Text 45"/>
          <p:cNvSpPr txBox="1"/>
          <p:nvPr/>
        </p:nvSpPr>
        <p:spPr>
          <a:xfrm>
            <a:off x="9153144" y="3447288"/>
            <a:ext cx="1819656" cy="411480"/>
          </a:xfrm>
          <a:prstGeom prst="rect">
            <a:avLst/>
          </a:prstGeom>
          <a:noFill/>
          <a:ln/>
        </p:spPr>
        <p:txBody>
          <a:bodyPr wrap="square" lIns="0" tIns="0" rIns="0" bIns="0" rtlCol="0" anchor="ctr"/>
          <a:lstStyle/>
          <a:p>
            <a:pPr algn="ctr" indent="0" marL="0">
              <a:buNone/>
            </a:pPr>
            <a:r>
              <a:rPr lang="en-US" sz="1500" b="1" dirty="0">
                <a:solidFill>
                  <a:schemeClr val="tx1"/>
                </a:solidFill>
              </a:rPr>
              <a:t>LLM answer</a:t>
            </a:r>
            <a:endParaRPr lang="en-US" sz="1500" dirty="0"/>
          </a:p>
        </p:txBody>
      </p:sp>
      <p:sp>
        <p:nvSpPr>
          <p:cNvPr id="48" name="Text 46"/>
          <p:cNvSpPr txBox="1"/>
          <p:nvPr/>
        </p:nvSpPr>
        <p:spPr>
          <a:xfrm>
            <a:off x="9153144" y="3840480"/>
            <a:ext cx="1819656" cy="365760"/>
          </a:xfrm>
          <a:prstGeom prst="rect">
            <a:avLst/>
          </a:prstGeom>
          <a:noFill/>
          <a:ln/>
        </p:spPr>
        <p:txBody>
          <a:bodyPr wrap="square" lIns="0" tIns="0" rIns="0" bIns="0" rtlCol="0" anchor="ctr"/>
          <a:lstStyle/>
          <a:p>
            <a:pPr algn="ctr" indent="0" marL="0">
              <a:buNone/>
            </a:pPr>
            <a:r>
              <a:rPr lang="en-US" sz="1100" dirty="0">
                <a:solidFill>
                  <a:schemeClr val="accent4"/>
                </a:solidFill>
              </a:rPr>
              <a:t>with citations</a:t>
            </a:r>
            <a:endParaRPr lang="en-US" sz="1100" dirty="0"/>
          </a:p>
        </p:txBody>
      </p:sp>
      <p:sp>
        <p:nvSpPr>
          <p:cNvPr id="49" name="legend 0"/>
          <p:cNvSpPr/>
          <p:nvPr/>
        </p:nvSpPr>
        <p:spPr>
          <a:xfrm>
            <a:off x="1874520" y="4983480"/>
            <a:ext cx="320040" cy="274320"/>
          </a:xfrm>
          <a:prstGeom prst="roundRect">
            <a:avLst>
              <a:gd name="adj" fmla="val 16667"/>
            </a:avLst>
          </a:prstGeom>
          <a:solidFill>
            <a:srgbClr val="FDEBDC"/>
          </a:solidFill>
          <a:ln w="15875">
            <a:solidFill>
              <a:srgbClr val="E8833A"/>
            </a:solidFill>
            <a:prstDash val="solid"/>
          </a:ln>
        </p:spPr>
      </p:sp>
      <p:sp>
        <p:nvSpPr>
          <p:cNvPr id="50" name="Text 48"/>
          <p:cNvSpPr txBox="1"/>
          <p:nvPr/>
        </p:nvSpPr>
        <p:spPr>
          <a:xfrm>
            <a:off x="2286000" y="4937760"/>
            <a:ext cx="3108960" cy="365760"/>
          </a:xfrm>
          <a:prstGeom prst="rect">
            <a:avLst/>
          </a:prstGeom>
          <a:noFill/>
          <a:ln/>
        </p:spPr>
        <p:txBody>
          <a:bodyPr wrap="square" lIns="0" tIns="0" rIns="0" bIns="0" rtlCol="0" anchor="ctr"/>
          <a:lstStyle/>
          <a:p>
            <a:pPr indent="0" marL="0">
              <a:buNone/>
            </a:pPr>
            <a:r>
              <a:rPr lang="en-US" sz="1200" dirty="0">
                <a:solidFill>
                  <a:schemeClr val="tx1"/>
                </a:solidFill>
              </a:rPr>
              <a:t>New stage, switchable OFF / ON</a:t>
            </a:r>
            <a:endParaRPr lang="en-US" sz="1200" dirty="0"/>
          </a:p>
        </p:txBody>
      </p:sp>
      <p:sp>
        <p:nvSpPr>
          <p:cNvPr id="51" name="legend 1"/>
          <p:cNvSpPr/>
          <p:nvPr/>
        </p:nvSpPr>
        <p:spPr>
          <a:xfrm>
            <a:off x="5440680" y="4983480"/>
            <a:ext cx="320040" cy="274320"/>
          </a:xfrm>
          <a:prstGeom prst="roundRect">
            <a:avLst>
              <a:gd name="adj" fmla="val 16667"/>
            </a:avLst>
          </a:prstGeom>
          <a:solidFill>
            <a:srgbClr val="CDEFEA"/>
          </a:solidFill>
          <a:ln w="15875">
            <a:solidFill>
              <a:srgbClr val="0F9D8A"/>
            </a:solidFill>
            <a:prstDash val="solid"/>
          </a:ln>
        </p:spPr>
      </p:sp>
      <p:sp>
        <p:nvSpPr>
          <p:cNvPr id="52" name="Text 50"/>
          <p:cNvSpPr txBox="1"/>
          <p:nvPr/>
        </p:nvSpPr>
        <p:spPr>
          <a:xfrm>
            <a:off x="5852160" y="4937760"/>
            <a:ext cx="3017520" cy="365760"/>
          </a:xfrm>
          <a:prstGeom prst="rect">
            <a:avLst/>
          </a:prstGeom>
          <a:noFill/>
          <a:ln/>
        </p:spPr>
        <p:txBody>
          <a:bodyPr wrap="square" lIns="0" tIns="0" rIns="0" bIns="0" rtlCol="0" anchor="ctr"/>
          <a:lstStyle/>
          <a:p>
            <a:pPr indent="0" marL="0">
              <a:buNone/>
            </a:pPr>
            <a:r>
              <a:rPr lang="en-US" sz="1200" dirty="0">
                <a:solidFill>
                  <a:schemeClr val="tx1"/>
                </a:solidFill>
              </a:rPr>
              <a:t>The metadata it needs (Steps 4 and 8)</a:t>
            </a:r>
            <a:endParaRPr lang="en-US" sz="1200" dirty="0"/>
          </a:p>
        </p:txBody>
      </p:sp>
      <p:sp>
        <p:nvSpPr>
          <p:cNvPr id="53" name="legend 2"/>
          <p:cNvSpPr/>
          <p:nvPr/>
        </p:nvSpPr>
        <p:spPr>
          <a:xfrm>
            <a:off x="9006840" y="4983480"/>
            <a:ext cx="320040" cy="274320"/>
          </a:xfrm>
          <a:prstGeom prst="roundRect">
            <a:avLst>
              <a:gd name="adj" fmla="val 16667"/>
            </a:avLst>
          </a:prstGeom>
          <a:solidFill>
            <a:srgbClr val="EEF2F5"/>
          </a:solidFill>
          <a:ln/>
        </p:spPr>
      </p:sp>
      <p:sp>
        <p:nvSpPr>
          <p:cNvPr id="54" name="Text 52"/>
          <p:cNvSpPr txBox="1"/>
          <p:nvPr/>
        </p:nvSpPr>
        <p:spPr>
          <a:xfrm>
            <a:off x="9418320" y="4937760"/>
            <a:ext cx="3017520" cy="365760"/>
          </a:xfrm>
          <a:prstGeom prst="rect">
            <a:avLst/>
          </a:prstGeom>
          <a:noFill/>
          <a:ln/>
        </p:spPr>
        <p:txBody>
          <a:bodyPr wrap="square" lIns="0" tIns="0" rIns="0" bIns="0" rtlCol="0" anchor="ctr"/>
          <a:lstStyle/>
          <a:p>
            <a:pPr indent="0" marL="0">
              <a:buNone/>
            </a:pPr>
            <a:r>
              <a:rPr lang="en-US" sz="1200" dirty="0">
                <a:solidFill>
                  <a:schemeClr val="tx1"/>
                </a:solidFill>
              </a:rPr>
              <a:t>Unchanged lab code</a:t>
            </a:r>
            <a:endParaRPr lang="en-US" sz="1200" dirty="0"/>
          </a:p>
        </p:txBody>
      </p:sp>
      <p:sp>
        <p:nvSpPr>
          <p:cNvPr id="55" name="Text 53"/>
          <p:cNvSpPr txBox="1"/>
          <p:nvPr/>
        </p:nvSpPr>
        <p:spPr>
          <a:xfrm>
            <a:off x="1874520" y="5577840"/>
            <a:ext cx="9601200" cy="411480"/>
          </a:xfrm>
          <a:prstGeom prst="rect">
            <a:avLst/>
          </a:prstGeom>
          <a:noFill/>
          <a:ln/>
        </p:spPr>
        <p:txBody>
          <a:bodyPr wrap="square" lIns="0" tIns="0" rIns="0" bIns="0" rtlCol="0" anchor="ctr"/>
          <a:lstStyle/>
          <a:p>
            <a:pPr indent="0" marL="0">
              <a:buNone/>
            </a:pPr>
            <a:r>
              <a:rPr lang="en-US" sz="1600" i="1" dirty="0">
                <a:solidFill>
                  <a:schemeClr val="tx2"/>
                </a:solidFill>
              </a:rPr>
              <a:t>Old chunks are removed before ranking. They never compete, so they can't win.</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All twelve steps done</a:t>
            </a:r>
            <a:endParaRPr lang="en-US" sz="3400" dirty="0"/>
          </a:p>
        </p:txBody>
      </p:sp>
      <p:sp>
        <p:nvSpPr>
          <p:cNvPr id="3" name="step 1"/>
          <p:cNvSpPr/>
          <p:nvPr/>
        </p:nvSpPr>
        <p:spPr>
          <a:xfrm>
            <a:off x="777240" y="1600200"/>
            <a:ext cx="777240" cy="777240"/>
          </a:xfrm>
          <a:prstGeom prst="ellipse">
            <a:avLst/>
          </a:prstGeom>
          <a:solidFill>
            <a:srgbClr val="EEF2F5"/>
          </a:solidFill>
          <a:ln/>
        </p:spPr>
      </p:sp>
      <p:sp>
        <p:nvSpPr>
          <p:cNvPr id="4" name="Text 2"/>
          <p:cNvSpPr txBox="1"/>
          <p:nvPr/>
        </p:nvSpPr>
        <p:spPr>
          <a:xfrm>
            <a:off x="777240" y="1600200"/>
            <a:ext cx="777240" cy="777240"/>
          </a:xfrm>
          <a:prstGeom prst="rect">
            <a:avLst/>
          </a:prstGeom>
          <a:no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5" name="Text 3"/>
          <p:cNvSpPr txBox="1"/>
          <p:nvPr/>
        </p:nvSpPr>
        <p:spPr>
          <a:xfrm>
            <a:off x="411480" y="246888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Team setup</a:t>
            </a:r>
            <a:endParaRPr lang="en-US" sz="1300" dirty="0"/>
          </a:p>
        </p:txBody>
      </p:sp>
      <p:sp>
        <p:nvSpPr>
          <p:cNvPr id="6" name="Text 4"/>
          <p:cNvSpPr txBox="1"/>
          <p:nvPr/>
        </p:nvSpPr>
        <p:spPr>
          <a:xfrm>
            <a:off x="411480" y="2862072"/>
            <a:ext cx="1508760" cy="274320"/>
          </a:xfrm>
          <a:prstGeom prst="rect">
            <a:avLst/>
          </a:prstGeom>
          <a:noFill/>
          <a:ln/>
        </p:spPr>
        <p:txBody>
          <a:bodyPr wrap="square" lIns="0" tIns="0" rIns="0" bIns="0" rtlCol="0" anchor="ctr"/>
          <a:lstStyle/>
          <a:p>
            <a:pPr algn="ctr" indent="0" marL="0">
              <a:buNone/>
            </a:pPr>
            <a:r>
              <a:rPr lang="en-US" sz="1100" b="1" dirty="0">
                <a:solidFill>
                  <a:schemeClr val="accent4"/>
                </a:solidFill>
              </a:rPr>
              <a:t>N/A</a:t>
            </a:r>
            <a:endParaRPr lang="en-US" sz="1100" dirty="0"/>
          </a:p>
        </p:txBody>
      </p:sp>
      <p:sp>
        <p:nvSpPr>
          <p:cNvPr id="7" name="road arrow 1"/>
          <p:cNvSpPr/>
          <p:nvPr/>
        </p:nvSpPr>
        <p:spPr>
          <a:xfrm>
            <a:off x="1645920" y="1988820"/>
            <a:ext cx="914400" cy="0"/>
          </a:xfrm>
          <a:prstGeom prst="line">
            <a:avLst/>
          </a:prstGeom>
          <a:noFill/>
          <a:ln w="22225">
            <a:solidFill>
              <a:srgbClr val="64748B"/>
            </a:solidFill>
            <a:prstDash val="solid"/>
            <a:tailEnd type="triangle"/>
          </a:ln>
        </p:spPr>
      </p:sp>
      <p:sp>
        <p:nvSpPr>
          <p:cNvPr id="8" name="step 2"/>
          <p:cNvSpPr/>
          <p:nvPr/>
        </p:nvSpPr>
        <p:spPr>
          <a:xfrm>
            <a:off x="2651760" y="1600200"/>
            <a:ext cx="777240" cy="777240"/>
          </a:xfrm>
          <a:prstGeom prst="ellipse">
            <a:avLst/>
          </a:prstGeom>
          <a:solidFill>
            <a:srgbClr val="0F9D8A"/>
          </a:solidFill>
          <a:ln/>
        </p:spPr>
      </p:sp>
      <p:sp>
        <p:nvSpPr>
          <p:cNvPr id="9" name="Text 7"/>
          <p:cNvSpPr txBox="1"/>
          <p:nvPr/>
        </p:nvSpPr>
        <p:spPr>
          <a:xfrm>
            <a:off x="2651760" y="160020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8"/>
          <p:cNvSpPr txBox="1"/>
          <p:nvPr/>
        </p:nvSpPr>
        <p:spPr>
          <a:xfrm>
            <a:off x="2286000" y="246888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Run lab unchanged</a:t>
            </a:r>
            <a:endParaRPr lang="en-US" sz="1300" dirty="0"/>
          </a:p>
        </p:txBody>
      </p:sp>
      <p:sp>
        <p:nvSpPr>
          <p:cNvPr id="11" name="Text 9"/>
          <p:cNvSpPr txBox="1"/>
          <p:nvPr/>
        </p:nvSpPr>
        <p:spPr>
          <a:xfrm>
            <a:off x="2286000" y="286207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12" name="road arrow 2"/>
          <p:cNvSpPr/>
          <p:nvPr/>
        </p:nvSpPr>
        <p:spPr>
          <a:xfrm>
            <a:off x="3520440" y="1988820"/>
            <a:ext cx="914400" cy="0"/>
          </a:xfrm>
          <a:prstGeom prst="line">
            <a:avLst/>
          </a:prstGeom>
          <a:noFill/>
          <a:ln w="22225">
            <a:solidFill>
              <a:srgbClr val="64748B"/>
            </a:solidFill>
            <a:prstDash val="solid"/>
            <a:tailEnd type="triangle"/>
          </a:ln>
        </p:spPr>
      </p:sp>
      <p:sp>
        <p:nvSpPr>
          <p:cNvPr id="13" name="step 3"/>
          <p:cNvSpPr/>
          <p:nvPr/>
        </p:nvSpPr>
        <p:spPr>
          <a:xfrm>
            <a:off x="4526280" y="1600200"/>
            <a:ext cx="777240" cy="777240"/>
          </a:xfrm>
          <a:prstGeom prst="ellipse">
            <a:avLst/>
          </a:prstGeom>
          <a:solidFill>
            <a:srgbClr val="0F9D8A"/>
          </a:solidFill>
          <a:ln/>
        </p:spPr>
      </p:sp>
      <p:sp>
        <p:nvSpPr>
          <p:cNvPr id="14" name="Text 12"/>
          <p:cNvSpPr txBox="1"/>
          <p:nvPr/>
        </p:nvSpPr>
        <p:spPr>
          <a:xfrm>
            <a:off x="4526280" y="160020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5" name="Text 13"/>
          <p:cNvSpPr txBox="1"/>
          <p:nvPr/>
        </p:nvSpPr>
        <p:spPr>
          <a:xfrm>
            <a:off x="4160520" y="246888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Versioned corpus</a:t>
            </a:r>
            <a:endParaRPr lang="en-US" sz="1300" dirty="0"/>
          </a:p>
        </p:txBody>
      </p:sp>
      <p:sp>
        <p:nvSpPr>
          <p:cNvPr id="16" name="Text 14"/>
          <p:cNvSpPr txBox="1"/>
          <p:nvPr/>
        </p:nvSpPr>
        <p:spPr>
          <a:xfrm>
            <a:off x="4160520" y="286207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17" name="road arrow 3"/>
          <p:cNvSpPr/>
          <p:nvPr/>
        </p:nvSpPr>
        <p:spPr>
          <a:xfrm>
            <a:off x="5394960" y="1988820"/>
            <a:ext cx="914400" cy="0"/>
          </a:xfrm>
          <a:prstGeom prst="line">
            <a:avLst/>
          </a:prstGeom>
          <a:noFill/>
          <a:ln w="22225">
            <a:solidFill>
              <a:srgbClr val="64748B"/>
            </a:solidFill>
            <a:prstDash val="solid"/>
            <a:tailEnd type="triangle"/>
          </a:ln>
        </p:spPr>
      </p:sp>
      <p:sp>
        <p:nvSpPr>
          <p:cNvPr id="18" name="step 4"/>
          <p:cNvSpPr/>
          <p:nvPr/>
        </p:nvSpPr>
        <p:spPr>
          <a:xfrm>
            <a:off x="6400800" y="1600200"/>
            <a:ext cx="777240" cy="777240"/>
          </a:xfrm>
          <a:prstGeom prst="ellipse">
            <a:avLst/>
          </a:prstGeom>
          <a:solidFill>
            <a:srgbClr val="0F9D8A"/>
          </a:solidFill>
          <a:ln/>
        </p:spPr>
      </p:sp>
      <p:sp>
        <p:nvSpPr>
          <p:cNvPr id="19" name="Text 17"/>
          <p:cNvSpPr txBox="1"/>
          <p:nvPr/>
        </p:nvSpPr>
        <p:spPr>
          <a:xfrm>
            <a:off x="6400800" y="160020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0" name="Text 18"/>
          <p:cNvSpPr txBox="1"/>
          <p:nvPr/>
        </p:nvSpPr>
        <p:spPr>
          <a:xfrm>
            <a:off x="6035040" y="246888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Metadata manifest</a:t>
            </a:r>
            <a:endParaRPr lang="en-US" sz="1300" dirty="0"/>
          </a:p>
        </p:txBody>
      </p:sp>
      <p:sp>
        <p:nvSpPr>
          <p:cNvPr id="21" name="Text 19"/>
          <p:cNvSpPr txBox="1"/>
          <p:nvPr/>
        </p:nvSpPr>
        <p:spPr>
          <a:xfrm>
            <a:off x="6035040" y="286207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22" name="road arrow 4"/>
          <p:cNvSpPr/>
          <p:nvPr/>
        </p:nvSpPr>
        <p:spPr>
          <a:xfrm>
            <a:off x="7269480" y="1988820"/>
            <a:ext cx="914400" cy="0"/>
          </a:xfrm>
          <a:prstGeom prst="line">
            <a:avLst/>
          </a:prstGeom>
          <a:noFill/>
          <a:ln w="22225">
            <a:solidFill>
              <a:srgbClr val="64748B"/>
            </a:solidFill>
            <a:prstDash val="solid"/>
            <a:tailEnd type="triangle"/>
          </a:ln>
        </p:spPr>
      </p:sp>
      <p:sp>
        <p:nvSpPr>
          <p:cNvPr id="23" name="step 5"/>
          <p:cNvSpPr/>
          <p:nvPr/>
        </p:nvSpPr>
        <p:spPr>
          <a:xfrm>
            <a:off x="8275320" y="1600200"/>
            <a:ext cx="777240" cy="777240"/>
          </a:xfrm>
          <a:prstGeom prst="ellipse">
            <a:avLst/>
          </a:prstGeom>
          <a:solidFill>
            <a:srgbClr val="0F9D8A"/>
          </a:solidFill>
          <a:ln/>
        </p:spPr>
      </p:sp>
      <p:sp>
        <p:nvSpPr>
          <p:cNvPr id="24" name="Text 22"/>
          <p:cNvSpPr txBox="1"/>
          <p:nvPr/>
        </p:nvSpPr>
        <p:spPr>
          <a:xfrm>
            <a:off x="8275320" y="160020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5" name="Text 23"/>
          <p:cNvSpPr txBox="1"/>
          <p:nvPr/>
        </p:nvSpPr>
        <p:spPr>
          <a:xfrm>
            <a:off x="7909560" y="246888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Golden set</a:t>
            </a:r>
            <a:endParaRPr lang="en-US" sz="1300" dirty="0"/>
          </a:p>
        </p:txBody>
      </p:sp>
      <p:sp>
        <p:nvSpPr>
          <p:cNvPr id="26" name="Text 24"/>
          <p:cNvSpPr txBox="1"/>
          <p:nvPr/>
        </p:nvSpPr>
        <p:spPr>
          <a:xfrm>
            <a:off x="7909560" y="286207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27" name="road arrow 5"/>
          <p:cNvSpPr/>
          <p:nvPr/>
        </p:nvSpPr>
        <p:spPr>
          <a:xfrm>
            <a:off x="9144000" y="1988820"/>
            <a:ext cx="914400" cy="0"/>
          </a:xfrm>
          <a:prstGeom prst="line">
            <a:avLst/>
          </a:prstGeom>
          <a:noFill/>
          <a:ln w="22225">
            <a:solidFill>
              <a:srgbClr val="64748B"/>
            </a:solidFill>
            <a:prstDash val="solid"/>
            <a:tailEnd type="triangle"/>
          </a:ln>
        </p:spPr>
      </p:sp>
      <p:sp>
        <p:nvSpPr>
          <p:cNvPr id="28" name="step 6"/>
          <p:cNvSpPr/>
          <p:nvPr/>
        </p:nvSpPr>
        <p:spPr>
          <a:xfrm>
            <a:off x="10149840" y="1600200"/>
            <a:ext cx="777240" cy="777240"/>
          </a:xfrm>
          <a:prstGeom prst="ellipse">
            <a:avLst/>
          </a:prstGeom>
          <a:solidFill>
            <a:srgbClr val="0F9D8A"/>
          </a:solidFill>
          <a:ln/>
        </p:spPr>
      </p:sp>
      <p:sp>
        <p:nvSpPr>
          <p:cNvPr id="29" name="Text 27"/>
          <p:cNvSpPr txBox="1"/>
          <p:nvPr/>
        </p:nvSpPr>
        <p:spPr>
          <a:xfrm>
            <a:off x="10149840" y="160020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30" name="Text 28"/>
          <p:cNvSpPr txBox="1"/>
          <p:nvPr/>
        </p:nvSpPr>
        <p:spPr>
          <a:xfrm>
            <a:off x="9784080" y="246888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Freeze in Git</a:t>
            </a:r>
            <a:endParaRPr lang="en-US" sz="1300" dirty="0"/>
          </a:p>
        </p:txBody>
      </p:sp>
      <p:sp>
        <p:nvSpPr>
          <p:cNvPr id="31" name="Text 29"/>
          <p:cNvSpPr txBox="1"/>
          <p:nvPr/>
        </p:nvSpPr>
        <p:spPr>
          <a:xfrm>
            <a:off x="9784080" y="286207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32" name="step 7"/>
          <p:cNvSpPr/>
          <p:nvPr/>
        </p:nvSpPr>
        <p:spPr>
          <a:xfrm>
            <a:off x="777240" y="3749040"/>
            <a:ext cx="777240" cy="777240"/>
          </a:xfrm>
          <a:prstGeom prst="ellipse">
            <a:avLst/>
          </a:prstGeom>
          <a:solidFill>
            <a:srgbClr val="0F9D8A"/>
          </a:solidFill>
          <a:ln/>
        </p:spPr>
      </p:sp>
      <p:sp>
        <p:nvSpPr>
          <p:cNvPr id="33" name="Text 31"/>
          <p:cNvSpPr txBox="1"/>
          <p:nvPr/>
        </p:nvSpPr>
        <p:spPr>
          <a:xfrm>
            <a:off x="777240" y="37490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7</a:t>
            </a:r>
            <a:endParaRPr lang="en-US" sz="2000" dirty="0"/>
          </a:p>
        </p:txBody>
      </p:sp>
      <p:sp>
        <p:nvSpPr>
          <p:cNvPr id="34" name="Text 32"/>
          <p:cNvSpPr txBox="1"/>
          <p:nvPr/>
        </p:nvSpPr>
        <p:spPr>
          <a:xfrm>
            <a:off x="411480" y="461772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BEFORE run</a:t>
            </a:r>
            <a:endParaRPr lang="en-US" sz="1300" dirty="0"/>
          </a:p>
        </p:txBody>
      </p:sp>
      <p:sp>
        <p:nvSpPr>
          <p:cNvPr id="35" name="Text 33"/>
          <p:cNvSpPr txBox="1"/>
          <p:nvPr/>
        </p:nvSpPr>
        <p:spPr>
          <a:xfrm>
            <a:off x="411480" y="501091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36" name="road arrow 7"/>
          <p:cNvSpPr/>
          <p:nvPr/>
        </p:nvSpPr>
        <p:spPr>
          <a:xfrm>
            <a:off x="1645920" y="4137660"/>
            <a:ext cx="914400" cy="0"/>
          </a:xfrm>
          <a:prstGeom prst="line">
            <a:avLst/>
          </a:prstGeom>
          <a:noFill/>
          <a:ln w="22225">
            <a:solidFill>
              <a:srgbClr val="64748B"/>
            </a:solidFill>
            <a:prstDash val="solid"/>
            <a:tailEnd type="triangle"/>
          </a:ln>
        </p:spPr>
      </p:sp>
      <p:sp>
        <p:nvSpPr>
          <p:cNvPr id="37" name="step 8"/>
          <p:cNvSpPr/>
          <p:nvPr/>
        </p:nvSpPr>
        <p:spPr>
          <a:xfrm>
            <a:off x="2651760" y="3749040"/>
            <a:ext cx="777240" cy="777240"/>
          </a:xfrm>
          <a:prstGeom prst="ellipse">
            <a:avLst/>
          </a:prstGeom>
          <a:solidFill>
            <a:srgbClr val="0F9D8A"/>
          </a:solidFill>
          <a:ln/>
        </p:spPr>
      </p:sp>
      <p:sp>
        <p:nvSpPr>
          <p:cNvPr id="38" name="Text 36"/>
          <p:cNvSpPr txBox="1"/>
          <p:nvPr/>
        </p:nvSpPr>
        <p:spPr>
          <a:xfrm>
            <a:off x="2651760" y="37490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8</a:t>
            </a:r>
            <a:endParaRPr lang="en-US" sz="2000" dirty="0"/>
          </a:p>
        </p:txBody>
      </p:sp>
      <p:sp>
        <p:nvSpPr>
          <p:cNvPr id="39" name="Text 37"/>
          <p:cNvSpPr txBox="1"/>
          <p:nvPr/>
        </p:nvSpPr>
        <p:spPr>
          <a:xfrm>
            <a:off x="2286000" y="461772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Metadata to Chroma</a:t>
            </a:r>
            <a:endParaRPr lang="en-US" sz="1300" dirty="0"/>
          </a:p>
        </p:txBody>
      </p:sp>
      <p:sp>
        <p:nvSpPr>
          <p:cNvPr id="40" name="Text 38"/>
          <p:cNvSpPr txBox="1"/>
          <p:nvPr/>
        </p:nvSpPr>
        <p:spPr>
          <a:xfrm>
            <a:off x="2286000" y="501091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41" name="road arrow 8"/>
          <p:cNvSpPr/>
          <p:nvPr/>
        </p:nvSpPr>
        <p:spPr>
          <a:xfrm>
            <a:off x="3520440" y="4137660"/>
            <a:ext cx="914400" cy="0"/>
          </a:xfrm>
          <a:prstGeom prst="line">
            <a:avLst/>
          </a:prstGeom>
          <a:noFill/>
          <a:ln w="22225">
            <a:solidFill>
              <a:srgbClr val="64748B"/>
            </a:solidFill>
            <a:prstDash val="solid"/>
            <a:tailEnd type="triangle"/>
          </a:ln>
        </p:spPr>
      </p:sp>
      <p:sp>
        <p:nvSpPr>
          <p:cNvPr id="42" name="step 9"/>
          <p:cNvSpPr/>
          <p:nvPr/>
        </p:nvSpPr>
        <p:spPr>
          <a:xfrm>
            <a:off x="4526280" y="3749040"/>
            <a:ext cx="777240" cy="777240"/>
          </a:xfrm>
          <a:prstGeom prst="ellipse">
            <a:avLst/>
          </a:prstGeom>
          <a:solidFill>
            <a:srgbClr val="0F9D8A"/>
          </a:solidFill>
          <a:ln/>
        </p:spPr>
      </p:sp>
      <p:sp>
        <p:nvSpPr>
          <p:cNvPr id="43" name="Text 41"/>
          <p:cNvSpPr txBox="1"/>
          <p:nvPr/>
        </p:nvSpPr>
        <p:spPr>
          <a:xfrm>
            <a:off x="4526280" y="37490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9</a:t>
            </a:r>
            <a:endParaRPr lang="en-US" sz="2000" dirty="0"/>
          </a:p>
        </p:txBody>
      </p:sp>
      <p:sp>
        <p:nvSpPr>
          <p:cNvPr id="44" name="Text 42"/>
          <p:cNvSpPr txBox="1"/>
          <p:nvPr/>
        </p:nvSpPr>
        <p:spPr>
          <a:xfrm>
            <a:off x="4160520" y="461772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Query filter</a:t>
            </a:r>
            <a:endParaRPr lang="en-US" sz="1300" dirty="0"/>
          </a:p>
        </p:txBody>
      </p:sp>
      <p:sp>
        <p:nvSpPr>
          <p:cNvPr id="45" name="Text 43"/>
          <p:cNvSpPr txBox="1"/>
          <p:nvPr/>
        </p:nvSpPr>
        <p:spPr>
          <a:xfrm>
            <a:off x="4160520" y="501091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46" name="road arrow 9"/>
          <p:cNvSpPr/>
          <p:nvPr/>
        </p:nvSpPr>
        <p:spPr>
          <a:xfrm>
            <a:off x="5394960" y="4137660"/>
            <a:ext cx="914400" cy="0"/>
          </a:xfrm>
          <a:prstGeom prst="line">
            <a:avLst/>
          </a:prstGeom>
          <a:noFill/>
          <a:ln w="22225">
            <a:solidFill>
              <a:srgbClr val="64748B"/>
            </a:solidFill>
            <a:prstDash val="solid"/>
            <a:tailEnd type="triangle"/>
          </a:ln>
        </p:spPr>
      </p:sp>
      <p:sp>
        <p:nvSpPr>
          <p:cNvPr id="47" name="step 10"/>
          <p:cNvSpPr/>
          <p:nvPr/>
        </p:nvSpPr>
        <p:spPr>
          <a:xfrm>
            <a:off x="6400800" y="3749040"/>
            <a:ext cx="777240" cy="777240"/>
          </a:xfrm>
          <a:prstGeom prst="ellipse">
            <a:avLst/>
          </a:prstGeom>
          <a:solidFill>
            <a:srgbClr val="0F9D8A"/>
          </a:solidFill>
          <a:ln/>
        </p:spPr>
      </p:sp>
      <p:sp>
        <p:nvSpPr>
          <p:cNvPr id="48" name="Text 46"/>
          <p:cNvSpPr txBox="1"/>
          <p:nvPr/>
        </p:nvSpPr>
        <p:spPr>
          <a:xfrm>
            <a:off x="6400800" y="37490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10</a:t>
            </a:r>
            <a:endParaRPr lang="en-US" sz="2000" dirty="0"/>
          </a:p>
        </p:txBody>
      </p:sp>
      <p:sp>
        <p:nvSpPr>
          <p:cNvPr id="49" name="Text 47"/>
          <p:cNvSpPr txBox="1"/>
          <p:nvPr/>
        </p:nvSpPr>
        <p:spPr>
          <a:xfrm>
            <a:off x="6035040" y="461772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OFF / ON switch</a:t>
            </a:r>
            <a:endParaRPr lang="en-US" sz="1300" dirty="0"/>
          </a:p>
        </p:txBody>
      </p:sp>
      <p:sp>
        <p:nvSpPr>
          <p:cNvPr id="50" name="Text 48"/>
          <p:cNvSpPr txBox="1"/>
          <p:nvPr/>
        </p:nvSpPr>
        <p:spPr>
          <a:xfrm>
            <a:off x="6035040" y="501091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51" name="road arrow 10"/>
          <p:cNvSpPr/>
          <p:nvPr/>
        </p:nvSpPr>
        <p:spPr>
          <a:xfrm>
            <a:off x="7269480" y="4137660"/>
            <a:ext cx="914400" cy="0"/>
          </a:xfrm>
          <a:prstGeom prst="line">
            <a:avLst/>
          </a:prstGeom>
          <a:noFill/>
          <a:ln w="22225">
            <a:solidFill>
              <a:srgbClr val="64748B"/>
            </a:solidFill>
            <a:prstDash val="solid"/>
            <a:tailEnd type="triangle"/>
          </a:ln>
        </p:spPr>
      </p:sp>
      <p:sp>
        <p:nvSpPr>
          <p:cNvPr id="52" name="step 11"/>
          <p:cNvSpPr/>
          <p:nvPr/>
        </p:nvSpPr>
        <p:spPr>
          <a:xfrm>
            <a:off x="8275320" y="3749040"/>
            <a:ext cx="777240" cy="777240"/>
          </a:xfrm>
          <a:prstGeom prst="ellipse">
            <a:avLst/>
          </a:prstGeom>
          <a:solidFill>
            <a:srgbClr val="0F9D8A"/>
          </a:solidFill>
          <a:ln/>
        </p:spPr>
      </p:sp>
      <p:sp>
        <p:nvSpPr>
          <p:cNvPr id="53" name="Text 51"/>
          <p:cNvSpPr txBox="1"/>
          <p:nvPr/>
        </p:nvSpPr>
        <p:spPr>
          <a:xfrm>
            <a:off x="8275320" y="37490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11</a:t>
            </a:r>
            <a:endParaRPr lang="en-US" sz="2000" dirty="0"/>
          </a:p>
        </p:txBody>
      </p:sp>
      <p:sp>
        <p:nvSpPr>
          <p:cNvPr id="54" name="Text 52"/>
          <p:cNvSpPr txBox="1"/>
          <p:nvPr/>
        </p:nvSpPr>
        <p:spPr>
          <a:xfrm>
            <a:off x="7909560" y="461772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AFTER run</a:t>
            </a:r>
            <a:endParaRPr lang="en-US" sz="1300" dirty="0"/>
          </a:p>
        </p:txBody>
      </p:sp>
      <p:sp>
        <p:nvSpPr>
          <p:cNvPr id="55" name="Text 53"/>
          <p:cNvSpPr txBox="1"/>
          <p:nvPr/>
        </p:nvSpPr>
        <p:spPr>
          <a:xfrm>
            <a:off x="7909560" y="501091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56" name="road arrow 11"/>
          <p:cNvSpPr/>
          <p:nvPr/>
        </p:nvSpPr>
        <p:spPr>
          <a:xfrm>
            <a:off x="9144000" y="4137660"/>
            <a:ext cx="914400" cy="0"/>
          </a:xfrm>
          <a:prstGeom prst="line">
            <a:avLst/>
          </a:prstGeom>
          <a:noFill/>
          <a:ln w="22225">
            <a:solidFill>
              <a:srgbClr val="64748B"/>
            </a:solidFill>
            <a:prstDash val="solid"/>
            <a:tailEnd type="triangle"/>
          </a:ln>
        </p:spPr>
      </p:sp>
      <p:sp>
        <p:nvSpPr>
          <p:cNvPr id="57" name="step 12"/>
          <p:cNvSpPr/>
          <p:nvPr/>
        </p:nvSpPr>
        <p:spPr>
          <a:xfrm>
            <a:off x="10149840" y="3749040"/>
            <a:ext cx="777240" cy="777240"/>
          </a:xfrm>
          <a:prstGeom prst="ellipse">
            <a:avLst/>
          </a:prstGeom>
          <a:solidFill>
            <a:srgbClr val="0F9D8A"/>
          </a:solidFill>
          <a:ln/>
        </p:spPr>
      </p:sp>
      <p:sp>
        <p:nvSpPr>
          <p:cNvPr id="58" name="Text 56"/>
          <p:cNvSpPr txBox="1"/>
          <p:nvPr/>
        </p:nvSpPr>
        <p:spPr>
          <a:xfrm>
            <a:off x="10149840" y="3749040"/>
            <a:ext cx="777240" cy="777240"/>
          </a:xfrm>
          <a:prstGeom prst="rect">
            <a:avLst/>
          </a:prstGeom>
          <a:noFill/>
          <a:ln/>
        </p:spPr>
        <p:txBody>
          <a:bodyPr wrap="square" lIns="0" tIns="0" rIns="0" bIns="0" rtlCol="0" anchor="ctr"/>
          <a:lstStyle/>
          <a:p>
            <a:pPr algn="ctr" indent="0" marL="0">
              <a:buNone/>
            </a:pPr>
            <a:r>
              <a:rPr lang="en-US" sz="2000" b="1" dirty="0">
                <a:solidFill>
                  <a:schemeClr val="bg1"/>
                </a:solidFill>
              </a:rPr>
              <a:t>12</a:t>
            </a:r>
            <a:endParaRPr lang="en-US" sz="2000" dirty="0"/>
          </a:p>
        </p:txBody>
      </p:sp>
      <p:sp>
        <p:nvSpPr>
          <p:cNvPr id="59" name="Text 57"/>
          <p:cNvSpPr txBox="1"/>
          <p:nvPr/>
        </p:nvSpPr>
        <p:spPr>
          <a:xfrm>
            <a:off x="9784080" y="4617720"/>
            <a:ext cx="1508760" cy="457200"/>
          </a:xfrm>
          <a:prstGeom prst="rect">
            <a:avLst/>
          </a:prstGeom>
          <a:noFill/>
          <a:ln/>
        </p:spPr>
        <p:txBody>
          <a:bodyPr wrap="square" lIns="0" tIns="0" rIns="0" bIns="0" rtlCol="0" anchor="ctr"/>
          <a:lstStyle/>
          <a:p>
            <a:pPr algn="ctr" indent="0" marL="0">
              <a:buNone/>
            </a:pPr>
            <a:r>
              <a:rPr lang="en-US" sz="1300" dirty="0">
                <a:solidFill>
                  <a:schemeClr val="tx1"/>
                </a:solidFill>
              </a:rPr>
              <a:t>Results table</a:t>
            </a:r>
            <a:endParaRPr lang="en-US" sz="1300" dirty="0"/>
          </a:p>
        </p:txBody>
      </p:sp>
      <p:sp>
        <p:nvSpPr>
          <p:cNvPr id="60" name="Text 58"/>
          <p:cNvSpPr txBox="1"/>
          <p:nvPr/>
        </p:nvSpPr>
        <p:spPr>
          <a:xfrm>
            <a:off x="9784080" y="5010912"/>
            <a:ext cx="1508760" cy="274320"/>
          </a:xfrm>
          <a:prstGeom prst="rect">
            <a:avLst/>
          </a:prstGeom>
          <a:noFill/>
          <a:ln/>
        </p:spPr>
        <p:txBody>
          <a:bodyPr wrap="square" lIns="0" tIns="0" rIns="0" bIns="0" rtlCol="0" anchor="ctr"/>
          <a:lstStyle/>
          <a:p>
            <a:pPr algn="ctr" indent="0" marL="0">
              <a:buNone/>
            </a:pPr>
            <a:r>
              <a:rPr lang="en-US" sz="1100" b="1" dirty="0">
                <a:solidFill>
                  <a:schemeClr val="accent1"/>
                </a:solidFill>
              </a:rPr>
              <a:t>Done</a:t>
            </a:r>
            <a:endParaRPr lang="en-US" sz="1100" dirty="0"/>
          </a:p>
        </p:txBody>
      </p:sp>
      <p:sp>
        <p:nvSpPr>
          <p:cNvPr id="61" name="Text 59"/>
          <p:cNvSpPr txBox="1"/>
          <p:nvPr/>
        </p:nvSpPr>
        <p:spPr>
          <a:xfrm>
            <a:off x="548640" y="5806440"/>
            <a:ext cx="11064240" cy="411480"/>
          </a:xfrm>
          <a:prstGeom prst="rect">
            <a:avLst/>
          </a:prstGeom>
          <a:noFill/>
          <a:ln/>
        </p:spPr>
        <p:txBody>
          <a:bodyPr wrap="square" lIns="0" tIns="0" rIns="0" bIns="0" rtlCol="0" anchor="ctr"/>
          <a:lstStyle/>
          <a:p>
            <a:pPr indent="0" marL="0">
              <a:buNone/>
            </a:pPr>
            <a:r>
              <a:rPr lang="en-US" sz="1400" i="1" dirty="0">
                <a:solidFill>
                  <a:schemeClr val="tx2"/>
                </a:solidFill>
              </a:rPr>
              <a:t>Data first (Steps 3–6), committed before any code change. Then measure BEFORE, add the filter, measure AFTER.</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Two folders: the code and the evidence</a:t>
            </a:r>
            <a:endParaRPr lang="en-US" sz="3400" dirty="0"/>
          </a:p>
        </p:txBody>
      </p:sp>
      <p:sp>
        <p:nvSpPr>
          <p:cNvPr id="3" name="track-b-kafka/simple_rag/"/>
          <p:cNvSpPr/>
          <p:nvPr/>
        </p:nvSpPr>
        <p:spPr>
          <a:xfrm>
            <a:off x="548640" y="1463040"/>
            <a:ext cx="5394960" cy="4663440"/>
          </a:xfrm>
          <a:prstGeom prst="roundRect">
            <a:avLst>
              <a:gd name="adj" fmla="val 2353"/>
            </a:avLst>
          </a:prstGeom>
          <a:solidFill>
            <a:srgbClr val="EEF2F5"/>
          </a:solidFill>
          <a:ln/>
          <a:effectLst>
            <a:outerShdw sx="100000" sy="100000" kx="0" ky="0" algn="bl" rotWithShape="0" blurRad="76200" dist="25400" dir="5400000">
              <a:srgbClr val="000000">
                <a:alpha val="12000"/>
              </a:srgbClr>
            </a:outerShdw>
          </a:effectLst>
        </p:spPr>
      </p:sp>
      <p:sp>
        <p:nvSpPr>
          <p:cNvPr id="4" name="Text 2"/>
          <p:cNvSpPr txBox="1"/>
          <p:nvPr/>
        </p:nvSpPr>
        <p:spPr>
          <a:xfrm>
            <a:off x="822960" y="1645920"/>
            <a:ext cx="484632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track-b-kafka/simple_rag/</a:t>
            </a:r>
            <a:endParaRPr lang="en-US" sz="2000" dirty="0"/>
          </a:p>
        </p:txBody>
      </p:sp>
      <p:sp>
        <p:nvSpPr>
          <p:cNvPr id="5" name="Text 3"/>
          <p:cNvSpPr txBox="1"/>
          <p:nvPr/>
        </p:nvSpPr>
        <p:spPr>
          <a:xfrm>
            <a:off x="822960" y="2057400"/>
            <a:ext cx="4846320" cy="320040"/>
          </a:xfrm>
          <a:prstGeom prst="rect">
            <a:avLst/>
          </a:prstGeom>
          <a:noFill/>
          <a:ln/>
        </p:spPr>
        <p:txBody>
          <a:bodyPr wrap="square" lIns="0" tIns="0" rIns="0" bIns="0" rtlCol="0" anchor="ctr"/>
          <a:lstStyle/>
          <a:p>
            <a:pPr indent="0" marL="0">
              <a:buNone/>
            </a:pPr>
            <a:r>
              <a:rPr lang="en-US" sz="1200" dirty="0">
                <a:solidFill>
                  <a:schemeClr val="accent4"/>
                </a:solidFill>
              </a:rPr>
              <a:t>Git repo · branch track-b · the code</a:t>
            </a:r>
            <a:endParaRPr lang="en-US" sz="1200" dirty="0"/>
          </a:p>
        </p:txBody>
      </p:sp>
      <p:sp>
        <p:nvSpPr>
          <p:cNvPr id="6" name="Text 4"/>
          <p:cNvSpPr txBox="1"/>
          <p:nvPr/>
        </p:nvSpPr>
        <p:spPr>
          <a:xfrm>
            <a:off x="822960" y="256032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corpus/kafka/</a:t>
            </a:r>
            <a:endParaRPr lang="en-US" sz="1300" dirty="0"/>
          </a:p>
        </p:txBody>
      </p:sp>
      <p:sp>
        <p:nvSpPr>
          <p:cNvPr id="7" name="Text 5"/>
          <p:cNvSpPr txBox="1"/>
          <p:nvPr/>
        </p:nvSpPr>
        <p:spPr>
          <a:xfrm>
            <a:off x="3154680" y="2560320"/>
            <a:ext cx="2606040" cy="457200"/>
          </a:xfrm>
          <a:prstGeom prst="rect">
            <a:avLst/>
          </a:prstGeom>
          <a:noFill/>
          <a:ln/>
        </p:spPr>
        <p:txBody>
          <a:bodyPr wrap="square" lIns="0" tIns="0" rIns="0" bIns="0" rtlCol="0" anchor="ctr"/>
          <a:lstStyle/>
          <a:p>
            <a:pPr indent="0" marL="0">
              <a:buNone/>
            </a:pPr>
            <a:r>
              <a:rPr lang="en-US" sz="1300" dirty="0">
                <a:solidFill>
                  <a:schemeClr val="tx1"/>
                </a:solidFill>
              </a:rPr>
              <a:t>16 runbooks + manifest.json</a:t>
            </a:r>
            <a:endParaRPr lang="en-US" sz="1300" dirty="0"/>
          </a:p>
        </p:txBody>
      </p:sp>
      <p:sp>
        <p:nvSpPr>
          <p:cNvPr id="8" name="Text 6"/>
          <p:cNvSpPr txBox="1"/>
          <p:nvPr/>
        </p:nvSpPr>
        <p:spPr>
          <a:xfrm>
            <a:off x="822960" y="310896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golden_kafka.jsonl</a:t>
            </a:r>
            <a:endParaRPr lang="en-US" sz="1300" dirty="0"/>
          </a:p>
        </p:txBody>
      </p:sp>
      <p:sp>
        <p:nvSpPr>
          <p:cNvPr id="9" name="Text 7"/>
          <p:cNvSpPr txBox="1"/>
          <p:nvPr/>
        </p:nvSpPr>
        <p:spPr>
          <a:xfrm>
            <a:off x="3154680" y="3108960"/>
            <a:ext cx="2606040" cy="457200"/>
          </a:xfrm>
          <a:prstGeom prst="rect">
            <a:avLst/>
          </a:prstGeom>
          <a:noFill/>
          <a:ln/>
        </p:spPr>
        <p:txBody>
          <a:bodyPr wrap="square" lIns="0" tIns="0" rIns="0" bIns="0" rtlCol="0" anchor="ctr"/>
          <a:lstStyle/>
          <a:p>
            <a:pPr indent="0" marL="0">
              <a:buNone/>
            </a:pPr>
            <a:r>
              <a:rPr lang="en-US" sz="1300" dirty="0">
                <a:solidFill>
                  <a:schemeClr val="tx1"/>
                </a:solidFill>
              </a:rPr>
              <a:t>21 test cases</a:t>
            </a:r>
            <a:endParaRPr lang="en-US" sz="1300" dirty="0"/>
          </a:p>
        </p:txBody>
      </p:sp>
      <p:sp>
        <p:nvSpPr>
          <p:cNvPr id="10" name="Text 8"/>
          <p:cNvSpPr txBox="1"/>
          <p:nvPr/>
        </p:nvSpPr>
        <p:spPr>
          <a:xfrm>
            <a:off x="822960" y="365760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b1_check.py</a:t>
            </a:r>
            <a:endParaRPr lang="en-US" sz="1300" dirty="0"/>
          </a:p>
        </p:txBody>
      </p:sp>
      <p:sp>
        <p:nvSpPr>
          <p:cNvPr id="11" name="Text 9"/>
          <p:cNvSpPr txBox="1"/>
          <p:nvPr/>
        </p:nvSpPr>
        <p:spPr>
          <a:xfrm>
            <a:off x="3154680" y="3657600"/>
            <a:ext cx="2606040" cy="457200"/>
          </a:xfrm>
          <a:prstGeom prst="rect">
            <a:avLst/>
          </a:prstGeom>
          <a:noFill/>
          <a:ln/>
        </p:spPr>
        <p:txBody>
          <a:bodyPr wrap="square" lIns="0" tIns="0" rIns="0" bIns="0" rtlCol="0" anchor="ctr"/>
          <a:lstStyle/>
          <a:p>
            <a:pPr indent="0" marL="0">
              <a:buNone/>
            </a:pPr>
            <a:r>
              <a:rPr lang="en-US" sz="1300" dirty="0">
                <a:solidFill>
                  <a:schemeClr val="tx1"/>
                </a:solidFill>
              </a:rPr>
              <a:t>data tests, Steps 3–5</a:t>
            </a:r>
            <a:endParaRPr lang="en-US" sz="1300" dirty="0"/>
          </a:p>
        </p:txBody>
      </p:sp>
      <p:sp>
        <p:nvSpPr>
          <p:cNvPr id="12" name="Text 10"/>
          <p:cNvSpPr txBox="1"/>
          <p:nvPr/>
        </p:nvSpPr>
        <p:spPr>
          <a:xfrm>
            <a:off x="822960" y="420624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rag.py</a:t>
            </a:r>
            <a:endParaRPr lang="en-US" sz="1300" dirty="0"/>
          </a:p>
        </p:txBody>
      </p:sp>
      <p:sp>
        <p:nvSpPr>
          <p:cNvPr id="13" name="Text 11"/>
          <p:cNvSpPr txBox="1"/>
          <p:nvPr/>
        </p:nvSpPr>
        <p:spPr>
          <a:xfrm>
            <a:off x="3154680" y="4206240"/>
            <a:ext cx="2606040" cy="457200"/>
          </a:xfrm>
          <a:prstGeom prst="rect">
            <a:avLst/>
          </a:prstGeom>
          <a:noFill/>
          <a:ln/>
        </p:spPr>
        <p:txBody>
          <a:bodyPr wrap="square" lIns="0" tIns="0" rIns="0" bIns="0" rtlCol="0" anchor="ctr"/>
          <a:lstStyle/>
          <a:p>
            <a:pPr indent="0" marL="0">
              <a:buNone/>
            </a:pPr>
            <a:r>
              <a:rPr lang="en-US" sz="1300" dirty="0">
                <a:solidFill>
                  <a:schemeClr val="tx1"/>
                </a:solidFill>
              </a:rPr>
              <a:t>pipeline; changes in 7–10</a:t>
            </a:r>
            <a:endParaRPr lang="en-US" sz="1300" dirty="0"/>
          </a:p>
        </p:txBody>
      </p:sp>
      <p:sp>
        <p:nvSpPr>
          <p:cNvPr id="14" name="Text 12"/>
          <p:cNvSpPr txBox="1"/>
          <p:nvPr/>
        </p:nvSpPr>
        <p:spPr>
          <a:xfrm>
            <a:off x="822960" y="475488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b1_eval.py</a:t>
            </a:r>
            <a:endParaRPr lang="en-US" sz="1300" dirty="0"/>
          </a:p>
        </p:txBody>
      </p:sp>
      <p:sp>
        <p:nvSpPr>
          <p:cNvPr id="15" name="Text 13"/>
          <p:cNvSpPr txBox="1"/>
          <p:nvPr/>
        </p:nvSpPr>
        <p:spPr>
          <a:xfrm>
            <a:off x="3154680" y="4754880"/>
            <a:ext cx="2606040" cy="457200"/>
          </a:xfrm>
          <a:prstGeom prst="rect">
            <a:avLst/>
          </a:prstGeom>
          <a:noFill/>
          <a:ln/>
        </p:spPr>
        <p:txBody>
          <a:bodyPr wrap="square" lIns="0" tIns="0" rIns="0" bIns="0" rtlCol="0" anchor="ctr"/>
          <a:lstStyle/>
          <a:p>
            <a:pPr indent="0" marL="0">
              <a:buNone/>
            </a:pPr>
            <a:r>
              <a:rPr lang="en-US" sz="1300" dirty="0">
                <a:solidFill>
                  <a:schemeClr val="tx1"/>
                </a:solidFill>
              </a:rPr>
              <a:t>OFF/ON evaluator (Step 7)</a:t>
            </a:r>
            <a:endParaRPr lang="en-US" sz="1300" dirty="0"/>
          </a:p>
        </p:txBody>
      </p:sp>
      <p:sp>
        <p:nvSpPr>
          <p:cNvPr id="16" name="Text 14"/>
          <p:cNvSpPr txBox="1"/>
          <p:nvPr/>
        </p:nvSpPr>
        <p:spPr>
          <a:xfrm>
            <a:off x="822960" y="530352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results/</a:t>
            </a:r>
            <a:endParaRPr lang="en-US" sz="1300" dirty="0"/>
          </a:p>
        </p:txBody>
      </p:sp>
      <p:sp>
        <p:nvSpPr>
          <p:cNvPr id="17" name="Text 15"/>
          <p:cNvSpPr txBox="1"/>
          <p:nvPr/>
        </p:nvSpPr>
        <p:spPr>
          <a:xfrm>
            <a:off x="3154680" y="5303520"/>
            <a:ext cx="2606040" cy="457200"/>
          </a:xfrm>
          <a:prstGeom prst="rect">
            <a:avLst/>
          </a:prstGeom>
          <a:noFill/>
          <a:ln/>
        </p:spPr>
        <p:txBody>
          <a:bodyPr wrap="square" lIns="0" tIns="0" rIns="0" bIns="0" rtlCol="0" anchor="ctr"/>
          <a:lstStyle/>
          <a:p>
            <a:pPr indent="0" marL="0">
              <a:buNone/>
            </a:pPr>
            <a:r>
              <a:rPr lang="en-US" sz="1300" dirty="0">
                <a:solidFill>
                  <a:schemeClr val="tx1"/>
                </a:solidFill>
              </a:rPr>
              <a:t>BEFORE, AFTER, summary</a:t>
            </a:r>
            <a:endParaRPr lang="en-US" sz="1300" dirty="0"/>
          </a:p>
        </p:txBody>
      </p:sp>
      <p:sp>
        <p:nvSpPr>
          <p:cNvPr id="18" name="b1-tracking/track-b/"/>
          <p:cNvSpPr/>
          <p:nvPr/>
        </p:nvSpPr>
        <p:spPr>
          <a:xfrm>
            <a:off x="6245352" y="1463040"/>
            <a:ext cx="5394960" cy="4663440"/>
          </a:xfrm>
          <a:prstGeom prst="roundRect">
            <a:avLst>
              <a:gd name="adj" fmla="val 2353"/>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6519672" y="1645920"/>
            <a:ext cx="484632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b1-tracking/track-b/</a:t>
            </a:r>
            <a:endParaRPr lang="en-US" sz="2000" dirty="0"/>
          </a:p>
        </p:txBody>
      </p:sp>
      <p:sp>
        <p:nvSpPr>
          <p:cNvPr id="20" name="Text 18"/>
          <p:cNvSpPr txBox="1"/>
          <p:nvPr/>
        </p:nvSpPr>
        <p:spPr>
          <a:xfrm>
            <a:off x="6519672" y="2057400"/>
            <a:ext cx="4846320" cy="320040"/>
          </a:xfrm>
          <a:prstGeom prst="rect">
            <a:avLst/>
          </a:prstGeom>
          <a:noFill/>
          <a:ln/>
        </p:spPr>
        <p:txBody>
          <a:bodyPr wrap="square" lIns="0" tIns="0" rIns="0" bIns="0" rtlCol="0" anchor="ctr"/>
          <a:lstStyle/>
          <a:p>
            <a:pPr indent="0" marL="0">
              <a:buNone/>
            </a:pPr>
            <a:r>
              <a:rPr lang="en-US" sz="1200" dirty="0">
                <a:solidFill>
                  <a:schemeClr val="accent4"/>
                </a:solidFill>
              </a:rPr>
              <a:t>Evidence and documentation</a:t>
            </a:r>
            <a:endParaRPr lang="en-US" sz="1200" dirty="0"/>
          </a:p>
        </p:txBody>
      </p:sp>
      <p:sp>
        <p:nvSpPr>
          <p:cNvPr id="21" name="Text 19"/>
          <p:cNvSpPr txBox="1"/>
          <p:nvPr/>
        </p:nvSpPr>
        <p:spPr>
          <a:xfrm>
            <a:off x="6519672" y="256032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SOP.md</a:t>
            </a:r>
            <a:endParaRPr lang="en-US" sz="1300" dirty="0"/>
          </a:p>
        </p:txBody>
      </p:sp>
      <p:sp>
        <p:nvSpPr>
          <p:cNvPr id="22" name="Text 20"/>
          <p:cNvSpPr txBox="1"/>
          <p:nvPr/>
        </p:nvSpPr>
        <p:spPr>
          <a:xfrm>
            <a:off x="8851392" y="2560320"/>
            <a:ext cx="2606040" cy="457200"/>
          </a:xfrm>
          <a:prstGeom prst="rect">
            <a:avLst/>
          </a:prstGeom>
          <a:noFill/>
          <a:ln/>
        </p:spPr>
        <p:txBody>
          <a:bodyPr wrap="square" lIns="0" tIns="0" rIns="0" bIns="0" rtlCol="0" anchor="ctr"/>
          <a:lstStyle/>
          <a:p>
            <a:pPr indent="0" marL="0">
              <a:buNone/>
            </a:pPr>
            <a:r>
              <a:rPr lang="en-US" sz="1300" dirty="0">
                <a:solidFill>
                  <a:schemeClr val="tx1"/>
                </a:solidFill>
              </a:rPr>
              <a:t>the runbook (source)</a:t>
            </a:r>
            <a:endParaRPr lang="en-US" sz="1300" dirty="0"/>
          </a:p>
        </p:txBody>
      </p:sp>
      <p:sp>
        <p:nvSpPr>
          <p:cNvPr id="23" name="Text 21"/>
          <p:cNvSpPr txBox="1"/>
          <p:nvPr/>
        </p:nvSpPr>
        <p:spPr>
          <a:xfrm>
            <a:off x="6519672" y="310896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docs/</a:t>
            </a:r>
            <a:endParaRPr lang="en-US" sz="1300" dirty="0"/>
          </a:p>
        </p:txBody>
      </p:sp>
      <p:sp>
        <p:nvSpPr>
          <p:cNvPr id="24" name="Text 22"/>
          <p:cNvSpPr txBox="1"/>
          <p:nvPr/>
        </p:nvSpPr>
        <p:spPr>
          <a:xfrm>
            <a:off x="8851392" y="3108960"/>
            <a:ext cx="2606040" cy="457200"/>
          </a:xfrm>
          <a:prstGeom prst="rect">
            <a:avLst/>
          </a:prstGeom>
          <a:noFill/>
          <a:ln/>
        </p:spPr>
        <p:txBody>
          <a:bodyPr wrap="square" lIns="0" tIns="0" rIns="0" bIns="0" rtlCol="0" anchor="ctr"/>
          <a:lstStyle/>
          <a:p>
            <a:pPr indent="0" marL="0">
              <a:buNone/>
            </a:pPr>
            <a:r>
              <a:rPr lang="en-US" sz="1300" dirty="0">
                <a:solidFill>
                  <a:schemeClr val="tx1"/>
                </a:solidFill>
              </a:rPr>
              <a:t>this deck + SOP PDF</a:t>
            </a:r>
            <a:endParaRPr lang="en-US" sz="1300" dirty="0"/>
          </a:p>
        </p:txBody>
      </p:sp>
      <p:sp>
        <p:nvSpPr>
          <p:cNvPr id="25" name="Text 23"/>
          <p:cNvSpPr txBox="1"/>
          <p:nvPr/>
        </p:nvSpPr>
        <p:spPr>
          <a:xfrm>
            <a:off x="6519672" y="365760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runs/step02…05/</a:t>
            </a:r>
            <a:endParaRPr lang="en-US" sz="1300" dirty="0"/>
          </a:p>
        </p:txBody>
      </p:sp>
      <p:sp>
        <p:nvSpPr>
          <p:cNvPr id="26" name="Text 24"/>
          <p:cNvSpPr txBox="1"/>
          <p:nvPr/>
        </p:nvSpPr>
        <p:spPr>
          <a:xfrm>
            <a:off x="8851392" y="3657600"/>
            <a:ext cx="2606040" cy="457200"/>
          </a:xfrm>
          <a:prstGeom prst="rect">
            <a:avLst/>
          </a:prstGeom>
          <a:noFill/>
          <a:ln/>
        </p:spPr>
        <p:txBody>
          <a:bodyPr wrap="square" lIns="0" tIns="0" rIns="0" bIns="0" rtlCol="0" anchor="ctr"/>
          <a:lstStyle/>
          <a:p>
            <a:pPr indent="0" marL="0">
              <a:buNone/>
            </a:pPr>
            <a:r>
              <a:rPr lang="en-US" sz="1300" dirty="0">
                <a:solidFill>
                  <a:schemeClr val="tx1"/>
                </a:solidFill>
              </a:rPr>
              <a:t>log of every run</a:t>
            </a:r>
            <a:endParaRPr lang="en-US" sz="1300" dirty="0"/>
          </a:p>
        </p:txBody>
      </p:sp>
      <p:sp>
        <p:nvSpPr>
          <p:cNvPr id="27" name="Text 25"/>
          <p:cNvSpPr txBox="1"/>
          <p:nvPr/>
        </p:nvSpPr>
        <p:spPr>
          <a:xfrm>
            <a:off x="6519672" y="4206240"/>
            <a:ext cx="224028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tools/</a:t>
            </a:r>
            <a:endParaRPr lang="en-US" sz="1300" dirty="0"/>
          </a:p>
        </p:txBody>
      </p:sp>
      <p:sp>
        <p:nvSpPr>
          <p:cNvPr id="28" name="Text 26"/>
          <p:cNvSpPr txBox="1"/>
          <p:nvPr/>
        </p:nvSpPr>
        <p:spPr>
          <a:xfrm>
            <a:off x="8851392" y="4206240"/>
            <a:ext cx="2606040" cy="457200"/>
          </a:xfrm>
          <a:prstGeom prst="rect">
            <a:avLst/>
          </a:prstGeom>
          <a:noFill/>
          <a:ln/>
        </p:spPr>
        <p:txBody>
          <a:bodyPr wrap="square" lIns="0" tIns="0" rIns="0" bIns="0" rtlCol="0" anchor="ctr"/>
          <a:lstStyle/>
          <a:p>
            <a:pPr indent="0" marL="0">
              <a:buNone/>
            </a:pPr>
            <a:r>
              <a:rPr lang="en-US" sz="1300" dirty="0">
                <a:solidFill>
                  <a:schemeClr val="tx1"/>
                </a:solidFill>
              </a:rPr>
              <a:t>make_corpus.py generator</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 2: the unchanged lab runs end to end</a:t>
            </a:r>
            <a:endParaRPr lang="en-US" sz="3400" dirty="0"/>
          </a:p>
        </p:txBody>
      </p:sp>
      <p:sp>
        <p:nvSpPr>
          <p:cNvPr id="3" name="step2 ingest"/>
          <p:cNvSpPr/>
          <p:nvPr/>
        </p:nvSpPr>
        <p:spPr>
          <a:xfrm>
            <a:off x="548640" y="1645920"/>
            <a:ext cx="3474720" cy="3017520"/>
          </a:xfrm>
          <a:prstGeom prst="roundRect">
            <a:avLst>
              <a:gd name="adj" fmla="val 3636"/>
            </a:avLst>
          </a:prstGeom>
          <a:solidFill>
            <a:srgbClr val="EEF2F5"/>
          </a:solidFill>
          <a:ln/>
          <a:effectLst>
            <a:outerShdw sx="100000" sy="100000" kx="0" ky="0" algn="bl" rotWithShape="0" blurRad="76200" dist="25400" dir="5400000">
              <a:srgbClr val="000000">
                <a:alpha val="12000"/>
              </a:srgbClr>
            </a:outerShdw>
          </a:effectLst>
        </p:spPr>
      </p:sp>
      <p:sp>
        <p:nvSpPr>
          <p:cNvPr id="4" name="Text 2"/>
          <p:cNvSpPr txBox="1"/>
          <p:nvPr/>
        </p:nvSpPr>
        <p:spPr>
          <a:xfrm>
            <a:off x="822960" y="1828800"/>
            <a:ext cx="2926080" cy="365760"/>
          </a:xfrm>
          <a:prstGeom prst="rect">
            <a:avLst/>
          </a:prstGeom>
          <a:noFill/>
          <a:ln/>
        </p:spPr>
        <p:txBody>
          <a:bodyPr wrap="square" lIns="0" tIns="0" rIns="0" bIns="0" rtlCol="0" anchor="ctr"/>
          <a:lstStyle/>
          <a:p>
            <a:pPr indent="0" marL="0">
              <a:buNone/>
            </a:pPr>
            <a:r>
              <a:rPr lang="en-US" sz="1500" b="1" dirty="0">
                <a:solidFill>
                  <a:schemeClr val="tx2"/>
                </a:solidFill>
                <a:latin typeface="Courier New" pitchFamily="34" charset="0"/>
                <a:ea typeface="Courier New" pitchFamily="34" charset="-122"/>
                <a:cs typeface="Courier New" pitchFamily="34" charset="-120"/>
              </a:rPr>
              <a:t>rag.py ingest</a:t>
            </a:r>
            <a:endParaRPr lang="en-US" sz="1500" dirty="0"/>
          </a:p>
        </p:txBody>
      </p:sp>
      <p:sp>
        <p:nvSpPr>
          <p:cNvPr id="5" name="Text 3"/>
          <p:cNvSpPr txBox="1"/>
          <p:nvPr/>
        </p:nvSpPr>
        <p:spPr>
          <a:xfrm>
            <a:off x="822960" y="2331720"/>
            <a:ext cx="2926080" cy="1005840"/>
          </a:xfrm>
          <a:prstGeom prst="rect">
            <a:avLst/>
          </a:prstGeom>
          <a:noFill/>
          <a:ln/>
        </p:spPr>
        <p:txBody>
          <a:bodyPr wrap="square" lIns="0" tIns="0" rIns="0" bIns="0" rtlCol="0" anchor="ctr"/>
          <a:lstStyle/>
          <a:p>
            <a:pPr indent="0" marL="0">
              <a:buNone/>
            </a:pPr>
            <a:r>
              <a:rPr lang="en-US" sz="5400" b="1" dirty="0">
                <a:solidFill>
                  <a:schemeClr val="tx1"/>
                </a:solidFill>
                <a:latin typeface="Cambria" pitchFamily="34" charset="0"/>
                <a:ea typeface="Cambria" pitchFamily="34" charset="-122"/>
                <a:cs typeface="Cambria" pitchFamily="34" charset="-120"/>
              </a:rPr>
              <a:t>196</a:t>
            </a:r>
            <a:endParaRPr lang="en-US" sz="5400" dirty="0"/>
          </a:p>
        </p:txBody>
      </p:sp>
      <p:sp>
        <p:nvSpPr>
          <p:cNvPr id="6" name="Text 4"/>
          <p:cNvSpPr txBox="1"/>
          <p:nvPr/>
        </p:nvSpPr>
        <p:spPr>
          <a:xfrm>
            <a:off x="822960" y="3474720"/>
            <a:ext cx="2926080" cy="822960"/>
          </a:xfrm>
          <a:prstGeom prst="rect">
            <a:avLst/>
          </a:prstGeom>
          <a:noFill/>
          <a:ln/>
        </p:spPr>
        <p:txBody>
          <a:bodyPr wrap="square" lIns="0" tIns="0" rIns="0" bIns="0" rtlCol="0" anchor="ctr"/>
          <a:lstStyle/>
          <a:p>
            <a:pPr indent="0" marL="0">
              <a:buNone/>
            </a:pPr>
            <a:r>
              <a:rPr lang="en-US" sz="1500" dirty="0">
                <a:solidFill>
                  <a:schemeClr val="tx1"/>
                </a:solidFill>
              </a:rPr>
              <a:t>vectors stored from the Aventro corpus</a:t>
            </a:r>
            <a:endParaRPr lang="en-US" sz="1500" dirty="0"/>
          </a:p>
        </p:txBody>
      </p:sp>
      <p:sp>
        <p:nvSpPr>
          <p:cNvPr id="7" name="step2 ask"/>
          <p:cNvSpPr/>
          <p:nvPr/>
        </p:nvSpPr>
        <p:spPr>
          <a:xfrm>
            <a:off x="4297680" y="1645920"/>
            <a:ext cx="3474720" cy="3017520"/>
          </a:xfrm>
          <a:prstGeom prst="roundRect">
            <a:avLst>
              <a:gd name="adj" fmla="val 3636"/>
            </a:avLst>
          </a:prstGeom>
          <a:solidFill>
            <a:srgbClr val="EEF2F5"/>
          </a:solidFill>
          <a:ln/>
          <a:effectLst>
            <a:outerShdw sx="100000" sy="100000" kx="0" ky="0" algn="bl" rotWithShape="0" blurRad="76200" dist="25400" dir="5400000">
              <a:srgbClr val="000000">
                <a:alpha val="12000"/>
              </a:srgbClr>
            </a:outerShdw>
          </a:effectLst>
        </p:spPr>
      </p:sp>
      <p:sp>
        <p:nvSpPr>
          <p:cNvPr id="8" name="Text 6"/>
          <p:cNvSpPr txBox="1"/>
          <p:nvPr/>
        </p:nvSpPr>
        <p:spPr>
          <a:xfrm>
            <a:off x="4572000" y="1828800"/>
            <a:ext cx="2926080" cy="365760"/>
          </a:xfrm>
          <a:prstGeom prst="rect">
            <a:avLst/>
          </a:prstGeom>
          <a:noFill/>
          <a:ln/>
        </p:spPr>
        <p:txBody>
          <a:bodyPr wrap="square" lIns="0" tIns="0" rIns="0" bIns="0" rtlCol="0" anchor="ctr"/>
          <a:lstStyle/>
          <a:p>
            <a:pPr indent="0" marL="0">
              <a:buNone/>
            </a:pPr>
            <a:r>
              <a:rPr lang="en-US" sz="1500" b="1" dirty="0">
                <a:solidFill>
                  <a:schemeClr val="tx2"/>
                </a:solidFill>
                <a:latin typeface="Courier New" pitchFamily="34" charset="0"/>
                <a:ea typeface="Courier New" pitchFamily="34" charset="-122"/>
                <a:cs typeface="Courier New" pitchFamily="34" charset="-120"/>
              </a:rPr>
              <a:t>rag.py ask</a:t>
            </a:r>
            <a:endParaRPr lang="en-US" sz="1500" dirty="0"/>
          </a:p>
        </p:txBody>
      </p:sp>
      <p:sp>
        <p:nvSpPr>
          <p:cNvPr id="9" name="Text 7"/>
          <p:cNvSpPr txBox="1"/>
          <p:nvPr/>
        </p:nvSpPr>
        <p:spPr>
          <a:xfrm>
            <a:off x="4572000" y="2331720"/>
            <a:ext cx="2926080" cy="1005840"/>
          </a:xfrm>
          <a:prstGeom prst="rect">
            <a:avLst/>
          </a:prstGeom>
          <a:noFill/>
          <a:ln/>
        </p:spPr>
        <p:txBody>
          <a:bodyPr wrap="square" lIns="0" tIns="0" rIns="0" bIns="0" rtlCol="0" anchor="ctr"/>
          <a:lstStyle/>
          <a:p>
            <a:pPr indent="0" marL="0">
              <a:buNone/>
            </a:pPr>
            <a:r>
              <a:rPr lang="en-US" sz="5400" b="1" dirty="0">
                <a:solidFill>
                  <a:schemeClr val="tx1"/>
                </a:solidFill>
                <a:latin typeface="Cambria" pitchFamily="34" charset="0"/>
                <a:ea typeface="Cambria" pitchFamily="34" charset="-122"/>
                <a:cs typeface="Cambria" pitchFamily="34" charset="-120"/>
              </a:rPr>
              <a:t>21 s</a:t>
            </a:r>
            <a:endParaRPr lang="en-US" sz="5400" dirty="0"/>
          </a:p>
        </p:txBody>
      </p:sp>
      <p:sp>
        <p:nvSpPr>
          <p:cNvPr id="10" name="Text 8"/>
          <p:cNvSpPr txBox="1"/>
          <p:nvPr/>
        </p:nvSpPr>
        <p:spPr>
          <a:xfrm>
            <a:off x="4572000" y="3474720"/>
            <a:ext cx="2926080" cy="822960"/>
          </a:xfrm>
          <a:prstGeom prst="rect">
            <a:avLst/>
          </a:prstGeom>
          <a:noFill/>
          <a:ln/>
        </p:spPr>
        <p:txBody>
          <a:bodyPr wrap="square" lIns="0" tIns="0" rIns="0" bIns="0" rtlCol="0" anchor="ctr"/>
          <a:lstStyle/>
          <a:p>
            <a:pPr indent="0" marL="0">
              <a:buNone/>
            </a:pPr>
            <a:r>
              <a:rPr lang="en-US" sz="1500" dirty="0">
                <a:solidFill>
                  <a:schemeClr val="tx1"/>
                </a:solidFill>
              </a:rPr>
              <a:t>cited answer through the class proxy</a:t>
            </a:r>
            <a:endParaRPr lang="en-US" sz="1500" dirty="0"/>
          </a:p>
        </p:txBody>
      </p:sp>
      <p:sp>
        <p:nvSpPr>
          <p:cNvPr id="11" name="step2 eval"/>
          <p:cNvSpPr/>
          <p:nvPr/>
        </p:nvSpPr>
        <p:spPr>
          <a:xfrm>
            <a:off x="8046720" y="1645920"/>
            <a:ext cx="3474720" cy="3017520"/>
          </a:xfrm>
          <a:prstGeom prst="roundRect">
            <a:avLst>
              <a:gd name="adj" fmla="val 3636"/>
            </a:avLst>
          </a:prstGeom>
          <a:solidFill>
            <a:srgbClr val="EEF2F5"/>
          </a:solidFill>
          <a:ln/>
          <a:effectLst>
            <a:outerShdw sx="100000" sy="100000" kx="0" ky="0" algn="bl" rotWithShape="0" blurRad="76200" dist="25400" dir="5400000">
              <a:srgbClr val="000000">
                <a:alpha val="12000"/>
              </a:srgbClr>
            </a:outerShdw>
          </a:effectLst>
        </p:spPr>
      </p:sp>
      <p:sp>
        <p:nvSpPr>
          <p:cNvPr id="12" name="Text 10"/>
          <p:cNvSpPr txBox="1"/>
          <p:nvPr/>
        </p:nvSpPr>
        <p:spPr>
          <a:xfrm>
            <a:off x="8321040" y="1828800"/>
            <a:ext cx="2926080" cy="365760"/>
          </a:xfrm>
          <a:prstGeom prst="rect">
            <a:avLst/>
          </a:prstGeom>
          <a:noFill/>
          <a:ln/>
        </p:spPr>
        <p:txBody>
          <a:bodyPr wrap="square" lIns="0" tIns="0" rIns="0" bIns="0" rtlCol="0" anchor="ctr"/>
          <a:lstStyle/>
          <a:p>
            <a:pPr indent="0" marL="0">
              <a:buNone/>
            </a:pPr>
            <a:r>
              <a:rPr lang="en-US" sz="1500" b="1" dirty="0">
                <a:solidFill>
                  <a:schemeClr val="tx2"/>
                </a:solidFill>
                <a:latin typeface="Courier New" pitchFamily="34" charset="0"/>
                <a:ea typeface="Courier New" pitchFamily="34" charset="-122"/>
                <a:cs typeface="Courier New" pitchFamily="34" charset="-120"/>
              </a:rPr>
              <a:t>rag.py eval</a:t>
            </a:r>
            <a:endParaRPr lang="en-US" sz="1500" dirty="0"/>
          </a:p>
        </p:txBody>
      </p:sp>
      <p:sp>
        <p:nvSpPr>
          <p:cNvPr id="13" name="Text 11"/>
          <p:cNvSpPr txBox="1"/>
          <p:nvPr/>
        </p:nvSpPr>
        <p:spPr>
          <a:xfrm>
            <a:off x="8321040" y="2331720"/>
            <a:ext cx="2926080" cy="1005840"/>
          </a:xfrm>
          <a:prstGeom prst="rect">
            <a:avLst/>
          </a:prstGeom>
          <a:noFill/>
          <a:ln/>
        </p:spPr>
        <p:txBody>
          <a:bodyPr wrap="square" lIns="0" tIns="0" rIns="0" bIns="0" rtlCol="0" anchor="ctr"/>
          <a:lstStyle/>
          <a:p>
            <a:pPr indent="0" marL="0">
              <a:buNone/>
            </a:pPr>
            <a:r>
              <a:rPr lang="en-US" sz="5400" b="1" dirty="0">
                <a:solidFill>
                  <a:schemeClr val="tx1"/>
                </a:solidFill>
                <a:latin typeface="Cambria" pitchFamily="34" charset="0"/>
                <a:ea typeface="Cambria" pitchFamily="34" charset="-122"/>
                <a:cs typeface="Cambria" pitchFamily="34" charset="-120"/>
              </a:rPr>
              <a:t>2 / 6</a:t>
            </a:r>
            <a:endParaRPr lang="en-US" sz="5400" dirty="0"/>
          </a:p>
        </p:txBody>
      </p:sp>
      <p:sp>
        <p:nvSpPr>
          <p:cNvPr id="14" name="Text 12"/>
          <p:cNvSpPr txBox="1"/>
          <p:nvPr/>
        </p:nvSpPr>
        <p:spPr>
          <a:xfrm>
            <a:off x="8321040" y="3474720"/>
            <a:ext cx="2926080" cy="822960"/>
          </a:xfrm>
          <a:prstGeom prst="rect">
            <a:avLst/>
          </a:prstGeom>
          <a:noFill/>
          <a:ln/>
        </p:spPr>
        <p:txBody>
          <a:bodyPr wrap="square" lIns="0" tIns="0" rIns="0" bIns="0" rtlCol="0" anchor="ctr"/>
          <a:lstStyle/>
          <a:p>
            <a:pPr indent="0" marL="0">
              <a:buNone/>
            </a:pPr>
            <a:r>
              <a:rPr lang="en-US" sz="1500" dirty="0">
                <a:solidFill>
                  <a:schemeClr val="tx1"/>
                </a:solidFill>
              </a:rPr>
              <a:t>retrieval and answer: the lab's designed start</a:t>
            </a:r>
            <a:endParaRPr lang="en-US" sz="1500" dirty="0"/>
          </a:p>
        </p:txBody>
      </p:sp>
      <p:sp>
        <p:nvSpPr>
          <p:cNvPr id="15" name="Text 13"/>
          <p:cNvSpPr txBox="1"/>
          <p:nvPr/>
        </p:nvSpPr>
        <p:spPr>
          <a:xfrm>
            <a:off x="548640" y="5120640"/>
            <a:ext cx="11064240" cy="411480"/>
          </a:xfrm>
          <a:prstGeom prst="rect">
            <a:avLst/>
          </a:prstGeom>
          <a:noFill/>
          <a:ln/>
        </p:spPr>
        <p:txBody>
          <a:bodyPr wrap="square" lIns="0" tIns="0" rIns="0" bIns="0" rtlCol="0" anchor="ctr"/>
          <a:lstStyle/>
          <a:p>
            <a:pPr indent="0" marL="0">
              <a:buNone/>
            </a:pPr>
            <a:r>
              <a:rPr lang="en-US" sz="1600" i="1" dirty="0">
                <a:solidFill>
                  <a:schemeClr val="tx2"/>
                </a:solidFill>
              </a:rPr>
              <a:t>Why: if something breaks later, you know it worked before you touched it.</a:t>
            </a:r>
            <a:endParaRPr lang="en-US" sz="1600" dirty="0"/>
          </a:p>
        </p:txBody>
      </p:sp>
      <p:sp>
        <p:nvSpPr>
          <p:cNvPr id="16" name="Text 14"/>
          <p:cNvSpPr txBox="1"/>
          <p:nvPr/>
        </p:nvSpPr>
        <p:spPr>
          <a:xfrm>
            <a:off x="548640" y="562356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Evidence: runs/step02-baseline-unchanged/</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 3: eight subjects, two versions each</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589520" cy="914400"/>
        </p:xfrm>
        <a:graphic>
          <a:graphicData uri="http://schemas.openxmlformats.org/drawingml/2006/table">
            <a:tbl>
              <a:tblPr/>
              <a:tblGrid>
                <a:gridCol w="2103120"/>
                <a:gridCol w="2651760"/>
                <a:gridCol w="2834640"/>
              </a:tblGrid>
              <a:tr h="429768">
                <a:tc>
                  <a:txBody>
                    <a:bodyPr/>
                    <a:lstStyle/>
                    <a:p>
                      <a:pPr indent="0" marL="0">
                        <a:buNone/>
                      </a:pPr>
                      <a:r>
                        <a:rPr lang="en-US" sz="1300" b="1" dirty="0">
                          <a:solidFill>
                            <a:srgbClr val="FFFFFF"/>
                          </a:solidFill>
                        </a:rPr>
                        <a:t>Subject</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Old version says</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Current version says</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1F2A37"/>
                    </a:solidFill>
                  </a:tcPr>
                </a:tc>
              </a:tr>
              <a:tr h="429768">
                <a:tc>
                  <a:txBody>
                    <a:bodyPr/>
                    <a:lstStyle/>
                    <a:p>
                      <a:pPr indent="0" marL="0">
                        <a:buNone/>
                      </a:pPr>
                      <a:r>
                        <a:rPr lang="en-US" sz="1300" dirty="0">
                          <a:solidFill>
                            <a:srgbClr val="1F2A37"/>
                          </a:solidFill>
                        </a:rPr>
                        <a:t>Consumer lag</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E8833A"/>
                          </a:solidFill>
                        </a:rPr>
                        <a:t>page at 100,000 messages</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B6E61"/>
                          </a:solidFill>
                        </a:rPr>
                        <a:t>page at 10 min of time lag</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r>
              <a:tr h="429768">
                <a:tc>
                  <a:txBody>
                    <a:bodyPr/>
                    <a:lstStyle/>
                    <a:p>
                      <a:pPr indent="0" marL="0">
                        <a:buNone/>
                      </a:pPr>
                      <a:r>
                        <a:rPr lang="en-US" sz="1300" dirty="0">
                          <a:solidFill>
                            <a:srgbClr val="1F2A37"/>
                          </a:solidFill>
                        </a:rPr>
                        <a:t>Topic retention</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E8833A"/>
                          </a:solidFill>
                        </a:rPr>
                        <a:t>7 days (604800000 ms)</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0B6E61"/>
                          </a:solidFill>
                        </a:rPr>
                        <a:t>3 days (259200000 ms)</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r>
              <a:tr h="429768">
                <a:tc>
                  <a:txBody>
                    <a:bodyPr/>
                    <a:lstStyle/>
                    <a:p>
                      <a:pPr indent="0" marL="0">
                        <a:buNone/>
                      </a:pPr>
                      <a:r>
                        <a:rPr lang="en-US" sz="1300" dirty="0">
                          <a:solidFill>
                            <a:srgbClr val="1F2A37"/>
                          </a:solidFill>
                        </a:rPr>
                        <a:t>Rolling restart</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E8833A"/>
                          </a:solidFill>
                        </a:rPr>
                        <a:t>wait 5 min between brokers</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B6E61"/>
                          </a:solidFill>
                        </a:rPr>
                        <a:t>wait 10 min, controller last</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r>
              <a:tr h="429768">
                <a:tc>
                  <a:txBody>
                    <a:bodyPr/>
                    <a:lstStyle/>
                    <a:p>
                      <a:pPr indent="0" marL="0">
                        <a:buNone/>
                      </a:pPr>
                      <a:r>
                        <a:rPr lang="en-US" sz="1300" dirty="0">
                          <a:solidFill>
                            <a:srgbClr val="1F2A37"/>
                          </a:solidFill>
                        </a:rPr>
                        <a:t>Listeners and auth</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E8833A"/>
                          </a:solidFill>
                        </a:rPr>
                        <a:t>9092 PLAINTEXT</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0B6E61"/>
                          </a:solidFill>
                        </a:rPr>
                        <a:t>9094 SASL_SSL</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r>
              <a:tr h="429768">
                <a:tc>
                  <a:txBody>
                    <a:bodyPr/>
                    <a:lstStyle/>
                    <a:p>
                      <a:pPr indent="0" marL="0">
                        <a:buNone/>
                      </a:pPr>
                      <a:r>
                        <a:rPr lang="en-US" sz="1300" dirty="0">
                          <a:solidFill>
                            <a:srgbClr val="1F2A37"/>
                          </a:solidFill>
                        </a:rPr>
                        <a:t>Topic creation</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E8833A"/>
                          </a:solidFill>
                        </a:rPr>
                        <a:t>6 partitions, min ISR 1</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B6E61"/>
                          </a:solidFill>
                        </a:rPr>
                        <a:t>12 partitions, min ISR 2</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r>
              <a:tr h="429768">
                <a:tc>
                  <a:txBody>
                    <a:bodyPr/>
                    <a:lstStyle/>
                    <a:p>
                      <a:pPr indent="0" marL="0">
                        <a:buNone/>
                      </a:pPr>
                      <a:r>
                        <a:rPr lang="en-US" sz="1300" dirty="0">
                          <a:solidFill>
                            <a:srgbClr val="1F2A37"/>
                          </a:solidFill>
                        </a:rPr>
                        <a:t>Disk capacity</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E8833A"/>
                          </a:solidFill>
                        </a:rPr>
                        <a:t>page at 90%</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0B6E61"/>
                          </a:solidFill>
                        </a:rPr>
                        <a:t>page at 85%</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r>
              <a:tr h="429768">
                <a:tc>
                  <a:txBody>
                    <a:bodyPr/>
                    <a:lstStyle/>
                    <a:p>
                      <a:pPr indent="0" marL="0">
                        <a:buNone/>
                      </a:pPr>
                      <a:r>
                        <a:rPr lang="en-US" sz="1300" dirty="0">
                          <a:solidFill>
                            <a:srgbClr val="1F2A37"/>
                          </a:solidFill>
                        </a:rPr>
                        <a:t>Schema registry</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E8833A"/>
                          </a:solidFill>
                        </a:rPr>
                        <a:t>port 8081, BACKWARD</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B6E61"/>
                          </a:solidFill>
                        </a:rPr>
                        <a:t>port 8085, FULL_TRANSITIVE</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r>
              <a:tr h="429768">
                <a:tc>
                  <a:txBody>
                    <a:bodyPr/>
                    <a:lstStyle/>
                    <a:p>
                      <a:pPr indent="0" marL="0">
                        <a:buNone/>
                      </a:pPr>
                      <a:r>
                        <a:rPr lang="en-US" sz="1300" dirty="0">
                          <a:solidFill>
                            <a:srgbClr val="1F2A37"/>
                          </a:solidFill>
                        </a:rPr>
                        <a:t>On-call escalation</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E8833A"/>
                          </a:solidFill>
                        </a:rPr>
                        <a:t>ack 15 min, kafka-ops</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0B6E61"/>
                          </a:solidFill>
                        </a:rPr>
                        <a:t>ack 5 min, streaming-platform-prod</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4" name="design rules"/>
          <p:cNvSpPr/>
          <p:nvPr/>
        </p:nvSpPr>
        <p:spPr>
          <a:xfrm>
            <a:off x="8458200" y="1417320"/>
            <a:ext cx="3154680" cy="3867912"/>
          </a:xfrm>
          <a:prstGeom prst="roundRect">
            <a:avLst>
              <a:gd name="adj" fmla="val 3478"/>
            </a:avLst>
          </a:prstGeom>
          <a:solidFill>
            <a:srgbClr val="CDEFEA"/>
          </a:solidFill>
          <a:ln/>
          <a:effectLst>
            <a:outerShdw sx="100000" sy="100000" kx="0" ky="0" algn="bl" rotWithShape="0" blurRad="76200" dist="25400" dir="5400000">
              <a:srgbClr val="000000">
                <a:alpha val="12000"/>
              </a:srgbClr>
            </a:outerShdw>
          </a:effectLst>
        </p:spPr>
      </p:sp>
      <p:sp>
        <p:nvSpPr>
          <p:cNvPr id="5" name="Text 2"/>
          <p:cNvSpPr txBox="1"/>
          <p:nvPr/>
        </p:nvSpPr>
        <p:spPr>
          <a:xfrm>
            <a:off x="8686800" y="1600200"/>
            <a:ext cx="2743200" cy="365760"/>
          </a:xfrm>
          <a:prstGeom prst="rect">
            <a:avLst/>
          </a:prstGeom>
          <a:noFill/>
          <a:ln/>
        </p:spPr>
        <p:txBody>
          <a:bodyPr wrap="square" lIns="0" tIns="0" rIns="0" bIns="0" rtlCol="0" anchor="ctr"/>
          <a:lstStyle/>
          <a:p>
            <a:pPr indent="0" marL="0">
              <a:buNone/>
            </a:pPr>
            <a:r>
              <a:rPr lang="en-US" sz="1600" b="1" dirty="0">
                <a:solidFill>
                  <a:schemeClr val="tx2"/>
                </a:solidFill>
              </a:rPr>
              <a:t>Built so the trap is real</a:t>
            </a:r>
            <a:endParaRPr lang="en-US" sz="1600" dirty="0"/>
          </a:p>
        </p:txBody>
      </p:sp>
      <p:sp>
        <p:nvSpPr>
          <p:cNvPr id="6" name="Text 3"/>
          <p:cNvSpPr txBox="1"/>
          <p:nvPr/>
        </p:nvSpPr>
        <p:spPr>
          <a:xfrm>
            <a:off x="8686800" y="2057400"/>
            <a:ext cx="274320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One template per pair: only facts differ</a:t>
            </a:r>
            <a:endParaRPr lang="en-US" sz="1400" dirty="0"/>
          </a:p>
          <a:p>
            <a:pPr marL="342900" indent="-342900">
              <a:spcAft>
                <a:spcPts val="600"/>
              </a:spcAft>
              <a:buSzPct val="100000"/>
              <a:buChar char="•"/>
            </a:pPr>
            <a:r>
              <a:rPr lang="en-US" sz="1400" dirty="0">
                <a:solidFill>
                  <a:schemeClr val="tx1"/>
                </a:solidFill>
              </a:rPr>
              <a:t>No "superseded" banner in old files</a:t>
            </a:r>
            <a:endParaRPr lang="en-US" sz="1400" dirty="0"/>
          </a:p>
          <a:p>
            <a:pPr marL="342900" indent="-342900">
              <a:spcAft>
                <a:spcPts val="600"/>
              </a:spcAft>
              <a:buSzPct val="100000"/>
              <a:buChar char="•"/>
            </a:pPr>
            <a:r>
              <a:rPr lang="en-US" sz="1400" dirty="0">
                <a:solidFill>
                  <a:schemeClr val="tx1"/>
                </a:solidFill>
              </a:rPr>
              <a:t>No front-matter: metadata lives in the manifest</a:t>
            </a:r>
            <a:endParaRPr lang="en-US" sz="1400" dirty="0"/>
          </a:p>
          <a:p>
            <a:pPr marL="342900" indent="-342900">
              <a:spcAft>
                <a:spcPts val="600"/>
              </a:spcAft>
              <a:buSzPct val="100000"/>
              <a:buChar char="•"/>
            </a:pPr>
            <a:r>
              <a:rPr lang="en-US" sz="1400" dirty="0">
                <a:solidFill>
                  <a:schemeClr val="tx1"/>
                </a:solidFill>
              </a:rPr>
              <a:t>Fictional company Halcyon, not Meridian or Aventro</a:t>
            </a:r>
            <a:endParaRPr lang="en-US" sz="1400" dirty="0"/>
          </a:p>
        </p:txBody>
      </p:sp>
      <p:sp>
        <p:nvSpPr>
          <p:cNvPr id="7" name="Text 4"/>
          <p:cNvSpPr txBox="1"/>
          <p:nvPr/>
        </p:nvSpPr>
        <p:spPr>
          <a:xfrm>
            <a:off x="8686800" y="4343400"/>
            <a:ext cx="1371600" cy="68580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4 / 8</a:t>
            </a:r>
            <a:endParaRPr lang="en-US" sz="3200" dirty="0"/>
          </a:p>
        </p:txBody>
      </p:sp>
      <p:sp>
        <p:nvSpPr>
          <p:cNvPr id="8" name="Text 5"/>
          <p:cNvSpPr txBox="1"/>
          <p:nvPr/>
        </p:nvSpPr>
        <p:spPr>
          <a:xfrm>
            <a:off x="10058400" y="4343400"/>
            <a:ext cx="1417320" cy="731520"/>
          </a:xfrm>
          <a:prstGeom prst="rect">
            <a:avLst/>
          </a:prstGeom>
          <a:noFill/>
          <a:ln/>
        </p:spPr>
        <p:txBody>
          <a:bodyPr wrap="square" lIns="0" tIns="0" rIns="0" bIns="0" rtlCol="0" anchor="ctr"/>
          <a:lstStyle/>
          <a:p>
            <a:pPr indent="0" marL="0">
              <a:buNone/>
            </a:pPr>
            <a:r>
              <a:rPr lang="en-US" sz="1200" dirty="0">
                <a:solidFill>
                  <a:schemeClr val="tx1"/>
                </a:solidFill>
              </a:rPr>
              <a:t>plain questions where the old file ranks first</a:t>
            </a:r>
            <a:endParaRPr lang="en-US" sz="1200" dirty="0"/>
          </a:p>
        </p:txBody>
      </p:sp>
      <p:sp>
        <p:nvSpPr>
          <p:cNvPr id="9" name="Text 6"/>
          <p:cNvSpPr txBox="1"/>
          <p:nvPr/>
        </p:nvSpPr>
        <p:spPr>
          <a:xfrm>
            <a:off x="548640" y="5852160"/>
            <a:ext cx="11064240" cy="365760"/>
          </a:xfrm>
          <a:prstGeom prst="rect">
            <a:avLst/>
          </a:prstGeom>
          <a:noFill/>
          <a:ln/>
        </p:spPr>
        <p:txBody>
          <a:bodyPr wrap="square" lIns="0" tIns="0" rIns="0" bIns="0" rtlCol="0" anchor="ctr"/>
          <a:lstStyle/>
          <a:p>
            <a:pPr indent="0" marL="0">
              <a:buNone/>
            </a:pPr>
            <a:r>
              <a:rPr lang="en-US" sz="1200" dirty="0">
                <a:solidFill>
                  <a:schemeClr val="accent4"/>
                </a:solidFill>
              </a:rPr>
              <a:t>Test: python simple_rag/b1_check.py   →   16 files, 8 pairs, similarity 0.87–0.97, old ranks first 4/8   ·   PASS</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 4: the manifest says which file is current</a:t>
            </a:r>
            <a:endParaRPr lang="en-US" sz="3400" dirty="0"/>
          </a:p>
        </p:txBody>
      </p:sp>
      <p:sp>
        <p:nvSpPr>
          <p:cNvPr id="3" name="json card"/>
          <p:cNvSpPr/>
          <p:nvPr/>
        </p:nvSpPr>
        <p:spPr>
          <a:xfrm>
            <a:off x="548640" y="1463040"/>
            <a:ext cx="5486400" cy="4151376"/>
          </a:xfrm>
          <a:prstGeom prst="roundRect">
            <a:avLst>
              <a:gd name="adj" fmla="val 2643"/>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645920"/>
            <a:ext cx="4937760" cy="3794760"/>
          </a:xfrm>
          <a:prstGeom prst="rect">
            <a:avLst/>
          </a:prstGeom>
          <a:noFill/>
          <a:ln/>
        </p:spPr>
        <p:txBody>
          <a:bodyPr wrap="square" lIns="0" tIns="0" rIns="0" bIns="0" rtlCol="0" anchor="ctr"/>
          <a:lstStyle/>
          <a:p>
            <a:pPr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"disk-capacity.md": {</a:t>
            </a:r>
            <a:endParaRPr lang="en-US" sz="1700" dirty="0"/>
          </a:p>
          <a:p>
            <a:pPr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  "doc": "Kafka Broker Disk</a:t>
            </a:r>
            <a:endParaRPr lang="en-US" sz="1700" dirty="0"/>
          </a:p>
          <a:p>
            <a:pPr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          Capacity Runbook",</a:t>
            </a:r>
            <a:endParaRPr lang="en-US" sz="1700" dirty="0"/>
          </a:p>
          <a:p>
            <a:pPr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  "version": 3,</a:t>
            </a:r>
            <a:endParaRPr lang="en-US" sz="1700" dirty="0"/>
          </a:p>
          <a:p>
            <a:pPr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  "effective_date": "2026-05-01",</a:t>
            </a:r>
            <a:endParaRPr lang="en-US" sz="1700" dirty="0"/>
          </a:p>
          <a:p>
            <a:pPr indent="0" marL="0">
              <a:lnSpc>
                <a:spcPct val="115000"/>
              </a:lnSpc>
              <a:buNone/>
            </a:pPr>
            <a:r>
              <a:rPr lang="en-US" sz="1700" b="1" dirty="0">
                <a:solidFill>
                  <a:srgbClr val="CDEFEA"/>
                </a:solidFill>
                <a:latin typeface="Courier New" pitchFamily="34" charset="0"/>
                <a:ea typeface="Courier New" pitchFamily="34" charset="-122"/>
                <a:cs typeface="Courier New" pitchFamily="34" charset="-120"/>
              </a:rPr>
              <a:t>  "superseded": false</a:t>
            </a:r>
            <a:endParaRPr lang="en-US" sz="1700" dirty="0"/>
          </a:p>
          <a:p>
            <a:pPr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a:t>
            </a:r>
            <a:endParaRPr lang="en-US" sz="1700" dirty="0"/>
          </a:p>
          <a:p>
            <a:pPr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"disk-capacity-2025.md": { … v2,</a:t>
            </a:r>
            <a:endParaRPr lang="en-US" sz="1700" dirty="0"/>
          </a:p>
          <a:p>
            <a:pPr indent="0" marL="0">
              <a:lnSpc>
                <a:spcPct val="115000"/>
              </a:lnSpc>
              <a:buNone/>
            </a:pPr>
            <a:r>
              <a:rPr lang="en-US" sz="1700" b="1" dirty="0">
                <a:solidFill>
                  <a:srgbClr val="F7B98A"/>
                </a:solidFill>
                <a:latin typeface="Courier New" pitchFamily="34" charset="0"/>
                <a:ea typeface="Courier New" pitchFamily="34" charset="-122"/>
                <a:cs typeface="Courier New" pitchFamily="34" charset="-120"/>
              </a:rPr>
              <a:t>  "superseded": true }</a:t>
            </a:r>
            <a:endParaRPr lang="en-US" sz="1700" dirty="0"/>
          </a:p>
        </p:txBody>
      </p:sp>
      <p:sp>
        <p:nvSpPr>
          <p:cNvPr id="5" name="field doc"/>
          <p:cNvSpPr/>
          <p:nvPr/>
        </p:nvSpPr>
        <p:spPr>
          <a:xfrm>
            <a:off x="6400800" y="1463040"/>
            <a:ext cx="5212080" cy="914400"/>
          </a:xfrm>
          <a:prstGeom prst="roundRect">
            <a:avLst>
              <a:gd name="adj" fmla="val 12000"/>
            </a:avLst>
          </a:prstGeom>
          <a:solidFill>
            <a:srgbClr val="EEF2F5"/>
          </a:solidFill>
          <a:ln/>
          <a:effectLst>
            <a:outerShdw sx="100000" sy="100000" kx="0" ky="0" algn="bl" rotWithShape="0" blurRad="76200" dist="25400" dir="5400000">
              <a:srgbClr val="000000">
                <a:alpha val="12000"/>
              </a:srgbClr>
            </a:outerShdw>
          </a:effectLst>
        </p:spPr>
      </p:sp>
      <p:sp>
        <p:nvSpPr>
          <p:cNvPr id="6" name="Text 4"/>
          <p:cNvSpPr txBox="1"/>
          <p:nvPr/>
        </p:nvSpPr>
        <p:spPr>
          <a:xfrm>
            <a:off x="6629400" y="1554480"/>
            <a:ext cx="4754880" cy="347472"/>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doc</a:t>
            </a:r>
            <a:endParaRPr lang="en-US" sz="1500" dirty="0"/>
          </a:p>
        </p:txBody>
      </p:sp>
      <p:sp>
        <p:nvSpPr>
          <p:cNvPr id="7" name="Text 5"/>
          <p:cNvSpPr txBox="1"/>
          <p:nvPr/>
        </p:nvSpPr>
        <p:spPr>
          <a:xfrm>
            <a:off x="6629400" y="1920240"/>
            <a:ext cx="4754880" cy="365760"/>
          </a:xfrm>
          <a:prstGeom prst="rect">
            <a:avLst/>
          </a:prstGeom>
          <a:noFill/>
          <a:ln/>
        </p:spPr>
        <p:txBody>
          <a:bodyPr wrap="square" lIns="0" tIns="0" rIns="0" bIns="0" rtlCol="0" anchor="ctr"/>
          <a:lstStyle/>
          <a:p>
            <a:pPr indent="0" marL="0">
              <a:buNone/>
            </a:pPr>
            <a:r>
              <a:rPr lang="en-US" sz="1300" dirty="0">
                <a:solidFill>
                  <a:schemeClr val="tx1"/>
                </a:solidFill>
              </a:rPr>
              <a:t>Title shared by both versions: links the pair</a:t>
            </a:r>
            <a:endParaRPr lang="en-US" sz="1300" dirty="0"/>
          </a:p>
        </p:txBody>
      </p:sp>
      <p:sp>
        <p:nvSpPr>
          <p:cNvPr id="8" name="field version"/>
          <p:cNvSpPr/>
          <p:nvPr/>
        </p:nvSpPr>
        <p:spPr>
          <a:xfrm>
            <a:off x="6400800" y="2542032"/>
            <a:ext cx="5212080" cy="914400"/>
          </a:xfrm>
          <a:prstGeom prst="roundRect">
            <a:avLst>
              <a:gd name="adj" fmla="val 12000"/>
            </a:avLst>
          </a:prstGeom>
          <a:solidFill>
            <a:srgbClr val="EEF2F5"/>
          </a:solidFill>
          <a:ln/>
          <a:effectLst>
            <a:outerShdw sx="100000" sy="100000" kx="0" ky="0" algn="bl" rotWithShape="0" blurRad="76200" dist="25400" dir="5400000">
              <a:srgbClr val="000000">
                <a:alpha val="12000"/>
              </a:srgbClr>
            </a:outerShdw>
          </a:effectLst>
        </p:spPr>
      </p:sp>
      <p:sp>
        <p:nvSpPr>
          <p:cNvPr id="9" name="Text 7"/>
          <p:cNvSpPr txBox="1"/>
          <p:nvPr/>
        </p:nvSpPr>
        <p:spPr>
          <a:xfrm>
            <a:off x="6629400" y="2633472"/>
            <a:ext cx="4754880" cy="347472"/>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version</a:t>
            </a:r>
            <a:endParaRPr lang="en-US" sz="1500" dirty="0"/>
          </a:p>
        </p:txBody>
      </p:sp>
      <p:sp>
        <p:nvSpPr>
          <p:cNvPr id="10" name="Text 8"/>
          <p:cNvSpPr txBox="1"/>
          <p:nvPr/>
        </p:nvSpPr>
        <p:spPr>
          <a:xfrm>
            <a:off x="6629400" y="2999232"/>
            <a:ext cx="4754880" cy="365760"/>
          </a:xfrm>
          <a:prstGeom prst="rect">
            <a:avLst/>
          </a:prstGeom>
          <a:noFill/>
          <a:ln/>
        </p:spPr>
        <p:txBody>
          <a:bodyPr wrap="square" lIns="0" tIns="0" rIns="0" bIns="0" rtlCol="0" anchor="ctr"/>
          <a:lstStyle/>
          <a:p>
            <a:pPr indent="0" marL="0">
              <a:buNone/>
            </a:pPr>
            <a:r>
              <a:rPr lang="en-US" sz="1300" dirty="0">
                <a:solidFill>
                  <a:schemeClr val="tx1"/>
                </a:solidFill>
              </a:rPr>
              <a:t>Integer; higher is newer</a:t>
            </a:r>
            <a:endParaRPr lang="en-US" sz="1300" dirty="0"/>
          </a:p>
        </p:txBody>
      </p:sp>
      <p:sp>
        <p:nvSpPr>
          <p:cNvPr id="11" name="field effective_date"/>
          <p:cNvSpPr/>
          <p:nvPr/>
        </p:nvSpPr>
        <p:spPr>
          <a:xfrm>
            <a:off x="6400800" y="3621024"/>
            <a:ext cx="5212080" cy="914400"/>
          </a:xfrm>
          <a:prstGeom prst="roundRect">
            <a:avLst>
              <a:gd name="adj" fmla="val 12000"/>
            </a:avLst>
          </a:prstGeom>
          <a:solidFill>
            <a:srgbClr val="EEF2F5"/>
          </a:solidFill>
          <a:ln/>
          <a:effectLst>
            <a:outerShdw sx="100000" sy="100000" kx="0" ky="0" algn="bl" rotWithShape="0" blurRad="76200" dist="25400" dir="5400000">
              <a:srgbClr val="000000">
                <a:alpha val="12000"/>
              </a:srgbClr>
            </a:outerShdw>
          </a:effectLst>
        </p:spPr>
      </p:sp>
      <p:sp>
        <p:nvSpPr>
          <p:cNvPr id="12" name="Text 10"/>
          <p:cNvSpPr txBox="1"/>
          <p:nvPr/>
        </p:nvSpPr>
        <p:spPr>
          <a:xfrm>
            <a:off x="6629400" y="3712464"/>
            <a:ext cx="4754880" cy="347472"/>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effective_date</a:t>
            </a:r>
            <a:endParaRPr lang="en-US" sz="1500" dirty="0"/>
          </a:p>
        </p:txBody>
      </p:sp>
      <p:sp>
        <p:nvSpPr>
          <p:cNvPr id="13" name="Text 11"/>
          <p:cNvSpPr txBox="1"/>
          <p:nvPr/>
        </p:nvSpPr>
        <p:spPr>
          <a:xfrm>
            <a:off x="6629400" y="4078224"/>
            <a:ext cx="4754880" cy="365760"/>
          </a:xfrm>
          <a:prstGeom prst="rect">
            <a:avLst/>
          </a:prstGeom>
          <a:noFill/>
          <a:ln/>
        </p:spPr>
        <p:txBody>
          <a:bodyPr wrap="square" lIns="0" tIns="0" rIns="0" bIns="0" rtlCol="0" anchor="ctr"/>
          <a:lstStyle/>
          <a:p>
            <a:pPr indent="0" marL="0">
              <a:buNone/>
            </a:pPr>
            <a:r>
              <a:rPr lang="en-US" sz="1300" dirty="0">
                <a:solidFill>
                  <a:schemeClr val="tx1"/>
                </a:solidFill>
              </a:rPr>
              <a:t>YYYY-MM-DD; matches the file header</a:t>
            </a:r>
            <a:endParaRPr lang="en-US" sz="1300" dirty="0"/>
          </a:p>
        </p:txBody>
      </p:sp>
      <p:sp>
        <p:nvSpPr>
          <p:cNvPr id="14" name="field superseded"/>
          <p:cNvSpPr/>
          <p:nvPr/>
        </p:nvSpPr>
        <p:spPr>
          <a:xfrm>
            <a:off x="6400800" y="4700016"/>
            <a:ext cx="5212080" cy="914400"/>
          </a:xfrm>
          <a:prstGeom prst="roundRect">
            <a:avLst>
              <a:gd name="adj" fmla="val 12000"/>
            </a:avLst>
          </a:prstGeom>
          <a:solidFill>
            <a:srgbClr val="FDEBDC"/>
          </a:solidFill>
          <a:ln w="19050">
            <a:solidFill>
              <a:srgbClr val="E8833A"/>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6629400" y="4791456"/>
            <a:ext cx="4754880" cy="347472"/>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superseded</a:t>
            </a:r>
            <a:endParaRPr lang="en-US" sz="1500" dirty="0"/>
          </a:p>
        </p:txBody>
      </p:sp>
      <p:sp>
        <p:nvSpPr>
          <p:cNvPr id="16" name="Text 14"/>
          <p:cNvSpPr txBox="1"/>
          <p:nvPr/>
        </p:nvSpPr>
        <p:spPr>
          <a:xfrm>
            <a:off x="6629400" y="5157216"/>
            <a:ext cx="4754880" cy="365760"/>
          </a:xfrm>
          <a:prstGeom prst="rect">
            <a:avLst/>
          </a:prstGeom>
          <a:noFill/>
          <a:ln/>
        </p:spPr>
        <p:txBody>
          <a:bodyPr wrap="square" lIns="0" tIns="0" rIns="0" bIns="0" rtlCol="0" anchor="ctr"/>
          <a:lstStyle/>
          <a:p>
            <a:pPr indent="0" marL="0">
              <a:buNone/>
            </a:pPr>
            <a:r>
              <a:rPr lang="en-US" sz="1300" dirty="0">
                <a:solidFill>
                  <a:schemeClr val="tx1"/>
                </a:solidFill>
              </a:rPr>
              <a:t>true once a newer version exists. The filter uses only this</a:t>
            </a:r>
            <a:endParaRPr lang="en-US" sz="1300" dirty="0"/>
          </a:p>
        </p:txBody>
      </p:sp>
      <p:sp>
        <p:nvSpPr>
          <p:cNvPr id="17" name="Text 15"/>
          <p:cNvSpPr txBox="1"/>
          <p:nvPr/>
        </p:nvSpPr>
        <p:spPr>
          <a:xfrm>
            <a:off x="548640" y="5852160"/>
            <a:ext cx="11064240" cy="365760"/>
          </a:xfrm>
          <a:prstGeom prst="rect">
            <a:avLst/>
          </a:prstGeom>
          <a:noFill/>
          <a:ln/>
        </p:spPr>
        <p:txBody>
          <a:bodyPr wrap="square" lIns="0" tIns="0" rIns="0" bIns="0" rtlCol="0" anchor="ctr"/>
          <a:lstStyle/>
          <a:p>
            <a:pPr indent="0" marL="0">
              <a:buNone/>
            </a:pPr>
            <a:r>
              <a:rPr lang="en-US" sz="1200" dirty="0">
                <a:solidFill>
                  <a:schemeClr val="accent4"/>
                </a:solidFill>
              </a:rPr>
              <a:t>Test: b1_check.py → 16 entries, 8 current / 8 superseded, 64 conflict values verified · negative test FAIL (5) as intended</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 5: 21 questions, written before the fix</a:t>
            </a:r>
            <a:endParaRPr lang="en-US" sz="3400" dirty="0"/>
          </a:p>
        </p:txBody>
      </p:sp>
      <p:sp>
        <p:nvSpPr>
          <p:cNvPr id="3" name="Text 1"/>
          <p:cNvSpPr txBox="1"/>
          <p:nvPr/>
        </p:nvSpPr>
        <p:spPr>
          <a:xfrm>
            <a:off x="548640" y="1463040"/>
            <a:ext cx="5120640" cy="365760"/>
          </a:xfrm>
          <a:prstGeom prst="rect">
            <a:avLst/>
          </a:prstGeom>
          <a:noFill/>
          <a:ln/>
        </p:spPr>
        <p:txBody>
          <a:bodyPr wrap="square" lIns="0" tIns="0" rIns="0" bIns="0" rtlCol="0" anchor="ctr"/>
          <a:lstStyle/>
          <a:p>
            <a:pPr indent="0" marL="0">
              <a:buNone/>
            </a:pPr>
            <a:r>
              <a:rPr lang="en-US" sz="1600" b="1" dirty="0">
                <a:solidFill>
                  <a:schemeClr val="tx1"/>
                </a:solidFill>
              </a:rPr>
              <a:t>Cases by type</a:t>
            </a:r>
            <a:endParaRPr lang="en-US" sz="1600" dirty="0"/>
          </a:p>
        </p:txBody>
      </p:sp>
      <p:sp>
        <p:nvSpPr>
          <p:cNvPr id="4" name="Text 2"/>
          <p:cNvSpPr txBox="1"/>
          <p:nvPr/>
        </p:nvSpPr>
        <p:spPr>
          <a:xfrm>
            <a:off x="548640" y="2057400"/>
            <a:ext cx="1600200" cy="36576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superseded</a:t>
            </a:r>
            <a:endParaRPr lang="en-US" sz="1500" dirty="0"/>
          </a:p>
        </p:txBody>
      </p:sp>
      <p:sp>
        <p:nvSpPr>
          <p:cNvPr id="5" name="Text 3"/>
          <p:cNvSpPr txBox="1"/>
          <p:nvPr/>
        </p:nvSpPr>
        <p:spPr>
          <a:xfrm>
            <a:off x="548640" y="2423160"/>
            <a:ext cx="1691640" cy="320040"/>
          </a:xfrm>
          <a:prstGeom prst="rect">
            <a:avLst/>
          </a:prstGeom>
          <a:noFill/>
          <a:ln/>
        </p:spPr>
        <p:txBody>
          <a:bodyPr wrap="square" lIns="0" tIns="0" rIns="0" bIns="0" rtlCol="0" anchor="ctr"/>
          <a:lstStyle/>
          <a:p>
            <a:pPr indent="0" marL="0">
              <a:buNone/>
            </a:pPr>
            <a:r>
              <a:rPr lang="en-US" sz="1100" dirty="0">
                <a:solidFill>
                  <a:schemeClr val="accent4"/>
                </a:solidFill>
              </a:rPr>
              <a:t>old vs current conflict</a:t>
            </a:r>
            <a:endParaRPr lang="en-US" sz="1100" dirty="0"/>
          </a:p>
        </p:txBody>
      </p:sp>
      <p:sp>
        <p:nvSpPr>
          <p:cNvPr id="6" name="bar superseded"/>
          <p:cNvSpPr/>
          <p:nvPr/>
        </p:nvSpPr>
        <p:spPr>
          <a:xfrm>
            <a:off x="2331720" y="2103120"/>
            <a:ext cx="2715768" cy="548640"/>
          </a:xfrm>
          <a:prstGeom prst="rect">
            <a:avLst/>
          </a:prstGeom>
          <a:solidFill>
            <a:srgbClr val="E8833A"/>
          </a:solidFill>
          <a:ln/>
        </p:spPr>
      </p:sp>
      <p:sp>
        <p:nvSpPr>
          <p:cNvPr id="7" name="Text 5"/>
          <p:cNvSpPr txBox="1"/>
          <p:nvPr/>
        </p:nvSpPr>
        <p:spPr>
          <a:xfrm>
            <a:off x="5138928" y="2103120"/>
            <a:ext cx="548640" cy="548640"/>
          </a:xfrm>
          <a:prstGeom prst="rect">
            <a:avLst/>
          </a:prstGeom>
          <a:noFill/>
          <a:ln/>
        </p:spPr>
        <p:txBody>
          <a:bodyPr wrap="square" lIns="0" tIns="0" rIns="0" bIns="0" rtlCol="0" anchor="ctr"/>
          <a:lstStyle/>
          <a:p>
            <a:pPr indent="0" marL="0">
              <a:buNone/>
            </a:pPr>
            <a:r>
              <a:rPr lang="en-US" sz="2000" b="1" dirty="0">
                <a:solidFill>
                  <a:schemeClr val="tx1"/>
                </a:solidFill>
              </a:rPr>
              <a:t>9</a:t>
            </a:r>
            <a:endParaRPr lang="en-US" sz="2000" dirty="0"/>
          </a:p>
        </p:txBody>
      </p:sp>
      <p:sp>
        <p:nvSpPr>
          <p:cNvPr id="8" name="Text 6"/>
          <p:cNvSpPr txBox="1"/>
          <p:nvPr/>
        </p:nvSpPr>
        <p:spPr>
          <a:xfrm>
            <a:off x="548640" y="2953512"/>
            <a:ext cx="1600200" cy="36576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exact_string</a:t>
            </a:r>
            <a:endParaRPr lang="en-US" sz="1500" dirty="0"/>
          </a:p>
        </p:txBody>
      </p:sp>
      <p:sp>
        <p:nvSpPr>
          <p:cNvPr id="9" name="Text 7"/>
          <p:cNvSpPr txBox="1"/>
          <p:nvPr/>
        </p:nvSpPr>
        <p:spPr>
          <a:xfrm>
            <a:off x="548640" y="3319272"/>
            <a:ext cx="1691640" cy="320040"/>
          </a:xfrm>
          <a:prstGeom prst="rect">
            <a:avLst/>
          </a:prstGeom>
          <a:noFill/>
          <a:ln/>
        </p:spPr>
        <p:txBody>
          <a:bodyPr wrap="square" lIns="0" tIns="0" rIns="0" bIns="0" rtlCol="0" anchor="ctr"/>
          <a:lstStyle/>
          <a:p>
            <a:pPr indent="0" marL="0">
              <a:buNone/>
            </a:pPr>
            <a:r>
              <a:rPr lang="en-US" sz="1100" dirty="0">
                <a:solidFill>
                  <a:schemeClr val="accent4"/>
                </a:solidFill>
              </a:rPr>
              <a:t>exact value must be found</a:t>
            </a:r>
            <a:endParaRPr lang="en-US" sz="1100" dirty="0"/>
          </a:p>
        </p:txBody>
      </p:sp>
      <p:sp>
        <p:nvSpPr>
          <p:cNvPr id="10" name="bar exact_string"/>
          <p:cNvSpPr/>
          <p:nvPr/>
        </p:nvSpPr>
        <p:spPr>
          <a:xfrm>
            <a:off x="2331720" y="2999232"/>
            <a:ext cx="2112264" cy="548640"/>
          </a:xfrm>
          <a:prstGeom prst="rect">
            <a:avLst/>
          </a:prstGeom>
          <a:solidFill>
            <a:srgbClr val="0F9D8A"/>
          </a:solidFill>
          <a:ln/>
        </p:spPr>
      </p:sp>
      <p:sp>
        <p:nvSpPr>
          <p:cNvPr id="11" name="Text 9"/>
          <p:cNvSpPr txBox="1"/>
          <p:nvPr/>
        </p:nvSpPr>
        <p:spPr>
          <a:xfrm>
            <a:off x="4535424" y="2999232"/>
            <a:ext cx="548640" cy="548640"/>
          </a:xfrm>
          <a:prstGeom prst="rect">
            <a:avLst/>
          </a:prstGeom>
          <a:noFill/>
          <a:ln/>
        </p:spPr>
        <p:txBody>
          <a:bodyPr wrap="square" lIns="0" tIns="0" rIns="0" bIns="0" rtlCol="0" anchor="ctr"/>
          <a:lstStyle/>
          <a:p>
            <a:pPr indent="0" marL="0">
              <a:buNone/>
            </a:pPr>
            <a:r>
              <a:rPr lang="en-US" sz="2000" b="1" dirty="0">
                <a:solidFill>
                  <a:schemeClr val="tx1"/>
                </a:solidFill>
              </a:rPr>
              <a:t>7</a:t>
            </a:r>
            <a:endParaRPr lang="en-US" sz="2000" dirty="0"/>
          </a:p>
        </p:txBody>
      </p:sp>
      <p:sp>
        <p:nvSpPr>
          <p:cNvPr id="12" name="Text 10"/>
          <p:cNvSpPr txBox="1"/>
          <p:nvPr/>
        </p:nvSpPr>
        <p:spPr>
          <a:xfrm>
            <a:off x="548640" y="3849624"/>
            <a:ext cx="1600200" cy="36576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multi_hop</a:t>
            </a:r>
            <a:endParaRPr lang="en-US" sz="1500" dirty="0"/>
          </a:p>
        </p:txBody>
      </p:sp>
      <p:sp>
        <p:nvSpPr>
          <p:cNvPr id="13" name="Text 11"/>
          <p:cNvSpPr txBox="1"/>
          <p:nvPr/>
        </p:nvSpPr>
        <p:spPr>
          <a:xfrm>
            <a:off x="548640" y="4215384"/>
            <a:ext cx="1691640" cy="320040"/>
          </a:xfrm>
          <a:prstGeom prst="rect">
            <a:avLst/>
          </a:prstGeom>
          <a:noFill/>
          <a:ln/>
        </p:spPr>
        <p:txBody>
          <a:bodyPr wrap="square" lIns="0" tIns="0" rIns="0" bIns="0" rtlCol="0" anchor="ctr"/>
          <a:lstStyle/>
          <a:p>
            <a:pPr indent="0" marL="0">
              <a:buNone/>
            </a:pPr>
            <a:r>
              <a:rPr lang="en-US" sz="1100" dirty="0">
                <a:solidFill>
                  <a:schemeClr val="accent4"/>
                </a:solidFill>
              </a:rPr>
              <a:t>needs two current docs</a:t>
            </a:r>
            <a:endParaRPr lang="en-US" sz="1100" dirty="0"/>
          </a:p>
        </p:txBody>
      </p:sp>
      <p:sp>
        <p:nvSpPr>
          <p:cNvPr id="14" name="bar multi_hop"/>
          <p:cNvSpPr/>
          <p:nvPr/>
        </p:nvSpPr>
        <p:spPr>
          <a:xfrm>
            <a:off x="2331720" y="3895344"/>
            <a:ext cx="905256" cy="548640"/>
          </a:xfrm>
          <a:prstGeom prst="rect">
            <a:avLst/>
          </a:prstGeom>
          <a:solidFill>
            <a:srgbClr val="0B6E61"/>
          </a:solidFill>
          <a:ln/>
        </p:spPr>
      </p:sp>
      <p:sp>
        <p:nvSpPr>
          <p:cNvPr id="15" name="Text 13"/>
          <p:cNvSpPr txBox="1"/>
          <p:nvPr/>
        </p:nvSpPr>
        <p:spPr>
          <a:xfrm>
            <a:off x="3328416" y="3895344"/>
            <a:ext cx="548640" cy="548640"/>
          </a:xfrm>
          <a:prstGeom prst="rect">
            <a:avLst/>
          </a:prstGeom>
          <a:noFill/>
          <a:ln/>
        </p:spPr>
        <p:txBody>
          <a:bodyPr wrap="square" lIns="0" tIns="0" rIns="0" bIns="0" rtlCol="0" anchor="ctr"/>
          <a:lstStyle/>
          <a:p>
            <a:pPr indent="0" marL="0">
              <a:buNone/>
            </a:pPr>
            <a:r>
              <a:rPr lang="en-US" sz="2000" b="1" dirty="0">
                <a:solidFill>
                  <a:schemeClr val="tx1"/>
                </a:solidFill>
              </a:rPr>
              <a:t>3</a:t>
            </a:r>
            <a:endParaRPr lang="en-US" sz="2000" dirty="0"/>
          </a:p>
        </p:txBody>
      </p:sp>
      <p:sp>
        <p:nvSpPr>
          <p:cNvPr id="16" name="Text 14"/>
          <p:cNvSpPr txBox="1"/>
          <p:nvPr/>
        </p:nvSpPr>
        <p:spPr>
          <a:xfrm>
            <a:off x="548640" y="4745736"/>
            <a:ext cx="1600200" cy="36576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unanswerable</a:t>
            </a:r>
            <a:endParaRPr lang="en-US" sz="1500" dirty="0"/>
          </a:p>
        </p:txBody>
      </p:sp>
      <p:sp>
        <p:nvSpPr>
          <p:cNvPr id="17" name="Text 15"/>
          <p:cNvSpPr txBox="1"/>
          <p:nvPr/>
        </p:nvSpPr>
        <p:spPr>
          <a:xfrm>
            <a:off x="548640" y="5111496"/>
            <a:ext cx="1691640" cy="320040"/>
          </a:xfrm>
          <a:prstGeom prst="rect">
            <a:avLst/>
          </a:prstGeom>
          <a:noFill/>
          <a:ln/>
        </p:spPr>
        <p:txBody>
          <a:bodyPr wrap="square" lIns="0" tIns="0" rIns="0" bIns="0" rtlCol="0" anchor="ctr"/>
          <a:lstStyle/>
          <a:p>
            <a:pPr indent="0" marL="0">
              <a:buNone/>
            </a:pPr>
            <a:r>
              <a:rPr lang="en-US" sz="1100" dirty="0">
                <a:solidFill>
                  <a:schemeClr val="accent4"/>
                </a:solidFill>
              </a:rPr>
              <a:t>nothing to invent</a:t>
            </a:r>
            <a:endParaRPr lang="en-US" sz="1100" dirty="0"/>
          </a:p>
        </p:txBody>
      </p:sp>
      <p:sp>
        <p:nvSpPr>
          <p:cNvPr id="18" name="bar unanswerable"/>
          <p:cNvSpPr/>
          <p:nvPr/>
        </p:nvSpPr>
        <p:spPr>
          <a:xfrm>
            <a:off x="2331720" y="4791456"/>
            <a:ext cx="603504" cy="548640"/>
          </a:xfrm>
          <a:prstGeom prst="rect">
            <a:avLst/>
          </a:prstGeom>
          <a:solidFill>
            <a:srgbClr val="64748B"/>
          </a:solidFill>
          <a:ln/>
        </p:spPr>
      </p:sp>
      <p:sp>
        <p:nvSpPr>
          <p:cNvPr id="19" name="Text 17"/>
          <p:cNvSpPr txBox="1"/>
          <p:nvPr/>
        </p:nvSpPr>
        <p:spPr>
          <a:xfrm>
            <a:off x="3026664" y="4791456"/>
            <a:ext cx="548640" cy="548640"/>
          </a:xfrm>
          <a:prstGeom prst="rect">
            <a:avLst/>
          </a:prstGeom>
          <a:noFill/>
          <a:ln/>
        </p:spPr>
        <p:txBody>
          <a:bodyPr wrap="square" lIns="0" tIns="0" rIns="0" bIns="0" rtlCol="0" anchor="ctr"/>
          <a:lstStyle/>
          <a:p>
            <a:pPr indent="0" marL="0">
              <a:buNone/>
            </a:pPr>
            <a:r>
              <a:rPr lang="en-US" sz="2000" b="1" dirty="0">
                <a:solidFill>
                  <a:schemeClr val="tx1"/>
                </a:solidFill>
              </a:rPr>
              <a:t>2</a:t>
            </a:r>
            <a:endParaRPr lang="en-US" sz="2000" dirty="0"/>
          </a:p>
        </p:txBody>
      </p:sp>
      <p:sp>
        <p:nvSpPr>
          <p:cNvPr id="20" name="Text 18"/>
          <p:cNvSpPr txBox="1"/>
          <p:nvPr/>
        </p:nvSpPr>
        <p:spPr>
          <a:xfrm>
            <a:off x="548640" y="5532120"/>
            <a:ext cx="5120640" cy="274320"/>
          </a:xfrm>
          <a:prstGeom prst="rect">
            <a:avLst/>
          </a:prstGeom>
          <a:noFill/>
          <a:ln/>
        </p:spPr>
        <p:txBody>
          <a:bodyPr wrap="square" lIns="0" tIns="0" rIns="0" bIns="0" rtlCol="0" anchor="ctr"/>
          <a:lstStyle/>
          <a:p>
            <a:pPr indent="0" marL="0">
              <a:buNone/>
            </a:pPr>
            <a:r>
              <a:rPr lang="en-US" sz="1200" dirty="0">
                <a:solidFill>
                  <a:schemeClr val="accent4"/>
                </a:solidFill>
              </a:rPr>
              <a:t>21 cases, all 8 current runbooks covered</a:t>
            </a:r>
            <a:endParaRPr lang="en-US" sz="1200" dirty="0"/>
          </a:p>
        </p:txBody>
      </p:sp>
      <p:sp>
        <p:nvSpPr>
          <p:cNvPr id="21" name="example case"/>
          <p:cNvSpPr/>
          <p:nvPr/>
        </p:nvSpPr>
        <p:spPr>
          <a:xfrm>
            <a:off x="5989320" y="1417320"/>
            <a:ext cx="5623560" cy="2514600"/>
          </a:xfrm>
          <a:prstGeom prst="roundRect">
            <a:avLst>
              <a:gd name="adj" fmla="val 4364"/>
            </a:avLst>
          </a:prstGeom>
          <a:solidFill>
            <a:srgbClr val="EEF2F5"/>
          </a:solidFill>
          <a:ln/>
          <a:effectLst>
            <a:outerShdw sx="100000" sy="100000" kx="0" ky="0" algn="bl" rotWithShape="0" blurRad="76200" dist="25400" dir="5400000">
              <a:srgbClr val="000000">
                <a:alpha val="12000"/>
              </a:srgbClr>
            </a:outerShdw>
          </a:effectLst>
        </p:spPr>
      </p:sp>
      <p:sp>
        <p:nvSpPr>
          <p:cNvPr id="22" name="Text 20"/>
          <p:cNvSpPr txBox="1"/>
          <p:nvPr/>
        </p:nvSpPr>
        <p:spPr>
          <a:xfrm>
            <a:off x="6217920" y="1572768"/>
            <a:ext cx="5212080" cy="320040"/>
          </a:xfrm>
          <a:prstGeom prst="rect">
            <a:avLst/>
          </a:prstGeom>
          <a:noFill/>
          <a:ln/>
        </p:spPr>
        <p:txBody>
          <a:bodyPr wrap="square" lIns="0" tIns="0" rIns="0" bIns="0" rtlCol="0" anchor="ctr"/>
          <a:lstStyle/>
          <a:p>
            <a:pPr indent="0" marL="0">
              <a:buNone/>
            </a:pPr>
            <a:r>
              <a:rPr lang="en-US" sz="1300" b="1" dirty="0">
                <a:solidFill>
                  <a:schemeClr val="accent4"/>
                </a:solidFill>
              </a:rPr>
              <a:t>kafka-001 · superseded</a:t>
            </a:r>
            <a:endParaRPr lang="en-US" sz="1300" dirty="0"/>
          </a:p>
        </p:txBody>
      </p:sp>
      <p:sp>
        <p:nvSpPr>
          <p:cNvPr id="23" name="Text 21"/>
          <p:cNvSpPr txBox="1"/>
          <p:nvPr/>
        </p:nvSpPr>
        <p:spPr>
          <a:xfrm>
            <a:off x="6217920" y="1920240"/>
            <a:ext cx="5212080" cy="777240"/>
          </a:xfrm>
          <a:prstGeom prst="rect">
            <a:avLst/>
          </a:prstGeom>
          <a:noFill/>
          <a:ln/>
        </p:spPr>
        <p:txBody>
          <a:bodyPr wrap="square" lIns="0" tIns="0" rIns="0" bIns="0" rtlCol="0" anchor="ctr"/>
          <a:lstStyle/>
          <a:p>
            <a:pPr indent="0" marL="0">
              <a:buNone/>
            </a:pPr>
            <a:r>
              <a:rPr lang="en-US" sz="1700" i="1" dirty="0">
                <a:solidFill>
                  <a:schemeClr val="tx1"/>
                </a:solidFill>
              </a:rPr>
              <a:t>"Broker 4's data volume just hit 87%. Should that have paged someone?"</a:t>
            </a:r>
            <a:endParaRPr lang="en-US" sz="1700" dirty="0"/>
          </a:p>
        </p:txBody>
      </p:sp>
      <p:sp>
        <p:nvSpPr>
          <p:cNvPr id="24" name="Text 22"/>
          <p:cNvSpPr txBox="1"/>
          <p:nvPr/>
        </p:nvSpPr>
        <p:spPr>
          <a:xfrm>
            <a:off x="6217920" y="2788920"/>
            <a:ext cx="5212080" cy="1371600"/>
          </a:xfrm>
          <a:prstGeom prst="rect">
            <a:avLst/>
          </a:prstGeom>
          <a:noFill/>
          <a:ln/>
        </p:spPr>
        <p:txBody>
          <a:bodyPr wrap="square" lIns="0" tIns="0" rIns="0" bIns="0" rtlCol="0" anchor="t"/>
          <a:lstStyle/>
          <a:p>
            <a:pPr indent="0" marL="0">
              <a:spcAft>
                <a:spcPts val="400"/>
              </a:spcAft>
              <a:buNone/>
            </a:pPr>
            <a:r>
              <a:rPr lang="en-US" sz="1400" b="1" dirty="0">
                <a:solidFill>
                  <a:srgbClr val="0F9D8A"/>
                </a:solidFill>
              </a:rPr>
              <a:t>Pass: </a:t>
            </a:r>
            <a:pPr indent="0" marL="0">
              <a:spcAft>
                <a:spcPts val="400"/>
              </a:spcAft>
              <a:buNone/>
            </a:pPr>
            <a:r>
              <a:rPr lang="en-US" sz="1400" dirty="0">
                <a:solidFill>
                  <a:schemeClr val="tx1"/>
                </a:solidFill>
              </a:rPr>
              <a:t>yes, the page line is 85%</a:t>
            </a:r>
            <a:endParaRPr lang="en-US" sz="1400" dirty="0"/>
          </a:p>
          <a:p>
            <a:pPr indent="0" marL="0">
              <a:spcAft>
                <a:spcPts val="400"/>
              </a:spcAft>
              <a:buNone/>
            </a:pPr>
            <a:r>
              <a:rPr lang="en-US" sz="1400" b="1" dirty="0">
                <a:solidFill>
                  <a:schemeClr val="tx1"/>
                </a:solidFill>
              </a:rPr>
              <a:t>Must cite: </a:t>
            </a:r>
            <a:pPr indent="0" marL="0">
              <a:spcAft>
                <a:spcPts val="400"/>
              </a:spcAft>
              <a:buNone/>
            </a:pPr>
            <a:r>
              <a:rPr lang="en-US" sz="1400" dirty="0">
                <a:solidFill>
                  <a:schemeClr val="tx1"/>
                </a:solidFill>
              </a:rPr>
              <a:t>disk-capacity.md (v3)</a:t>
            </a:r>
            <a:endParaRPr lang="en-US" sz="1400" dirty="0"/>
          </a:p>
          <a:p>
            <a:pPr indent="0" marL="0">
              <a:spcAft>
                <a:spcPts val="400"/>
              </a:spcAft>
              <a:buNone/>
            </a:pPr>
            <a:r>
              <a:rPr lang="en-US" sz="1400" b="1" dirty="0">
                <a:solidFill>
                  <a:srgbClr val="E8833A"/>
                </a:solidFill>
              </a:rPr>
              <a:t>Must not cite / say: </a:t>
            </a:r>
            <a:pPr indent="0" marL="0">
              <a:spcAft>
                <a:spcPts val="400"/>
              </a:spcAft>
              <a:buNone/>
            </a:pPr>
            <a:r>
              <a:rPr lang="en-US" sz="1400" dirty="0">
                <a:solidFill>
                  <a:schemeClr val="tx1"/>
                </a:solidFill>
              </a:rPr>
              <a:t>the 2025 file, "90%"</a:t>
            </a:r>
            <a:endParaRPr lang="en-US" sz="1400" dirty="0"/>
          </a:p>
        </p:txBody>
      </p:sp>
      <p:sp>
        <p:nvSpPr>
          <p:cNvPr id="25" name="Text 23"/>
          <p:cNvSpPr txBox="1"/>
          <p:nvPr/>
        </p:nvSpPr>
        <p:spPr>
          <a:xfrm>
            <a:off x="5989320" y="4206240"/>
            <a:ext cx="562356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87% sits between old and new thresholds, so the versions give opposite answers.</a:t>
            </a:r>
            <a:endParaRPr lang="en-US" sz="1500" dirty="0"/>
          </a:p>
          <a:p>
            <a:pPr marL="342900" indent="-342900">
              <a:spcAft>
                <a:spcPts val="600"/>
              </a:spcAft>
              <a:buSzPct val="100000"/>
              <a:buChar char="•"/>
            </a:pPr>
            <a:r>
              <a:rPr lang="en-US" sz="1500" dirty="0">
                <a:solidFill>
                  <a:schemeClr val="tx1"/>
                </a:solidFill>
              </a:rPr>
              <a:t>Stale values are banned as literal strings: no LLM judge needed.</a:t>
            </a:r>
            <a:endParaRPr lang="en-US" sz="1500" dirty="0"/>
          </a:p>
          <a:p>
            <a:pPr marL="342900" indent="-342900">
              <a:spcAft>
                <a:spcPts val="600"/>
              </a:spcAft>
              <a:buSzPct val="100000"/>
              <a:buChar char="•"/>
            </a:pPr>
            <a:r>
              <a:rPr lang="en-US" sz="1500" dirty="0">
                <a:solidFill>
                  <a:schemeClr val="tx1"/>
                </a:solidFill>
              </a:rPr>
              <a:t>Paraphrase check caught one copied question before the freeze.</a:t>
            </a:r>
            <a:endParaRPr lang="en-US" sz="1500" dirty="0"/>
          </a:p>
        </p:txBody>
      </p:sp>
      <p:sp>
        <p:nvSpPr>
          <p:cNvPr id="26" name="Text 24"/>
          <p:cNvSpPr txBox="1"/>
          <p:nvPr/>
        </p:nvSpPr>
        <p:spPr>
          <a:xfrm>
            <a:off x="548640" y="5852160"/>
            <a:ext cx="11064240" cy="365760"/>
          </a:xfrm>
          <a:prstGeom prst="rect">
            <a:avLst/>
          </a:prstGeom>
          <a:noFill/>
          <a:ln/>
        </p:spPr>
        <p:txBody>
          <a:bodyPr wrap="square" lIns="0" tIns="0" rIns="0" bIns="0" rtlCol="0" anchor="ctr"/>
          <a:lstStyle/>
          <a:p>
            <a:pPr indent="0" marL="0">
              <a:buNone/>
            </a:pPr>
            <a:r>
              <a:rPr lang="en-US" sz="1200" dirty="0">
                <a:solidFill>
                  <a:schemeClr val="accent4"/>
                </a:solidFill>
              </a:rPr>
              <a:t>Test: b1_check.py → all cites resolve, banned strings only in old files, exact values verbatim · negative test FAIL (4) as intended</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 7: the baseline proves the problem</a:t>
            </a:r>
            <a:endParaRPr lang="en-US" sz="3400" dirty="0"/>
          </a:p>
        </p:txBody>
      </p:sp>
      <p:sp>
        <p:nvSpPr>
          <p:cNvPr id="3" name="headline"/>
          <p:cNvSpPr/>
          <p:nvPr/>
        </p:nvSpPr>
        <p:spPr>
          <a:xfrm>
            <a:off x="548640" y="1417320"/>
            <a:ext cx="4206240" cy="4343400"/>
          </a:xfrm>
          <a:prstGeom prst="roundRect">
            <a:avLst>
              <a:gd name="adj" fmla="val 2609"/>
            </a:avLst>
          </a:prstGeom>
          <a:solidFill>
            <a:srgbClr val="FDEBDC"/>
          </a:solidFill>
          <a:ln w="19050">
            <a:solidFill>
              <a:srgbClr val="E8833A"/>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822960" y="1645920"/>
            <a:ext cx="3657600" cy="365760"/>
          </a:xfrm>
          <a:prstGeom prst="rect">
            <a:avLst/>
          </a:prstGeom>
          <a:noFill/>
          <a:ln/>
        </p:spPr>
        <p:txBody>
          <a:bodyPr wrap="square" lIns="0" tIns="0" rIns="0" bIns="0" rtlCol="0" anchor="ctr"/>
          <a:lstStyle/>
          <a:p>
            <a:pPr indent="0" marL="0">
              <a:buNone/>
            </a:pPr>
            <a:r>
              <a:rPr lang="en-US" sz="1600" b="1" dirty="0">
                <a:solidFill>
                  <a:schemeClr val="tx1"/>
                </a:solidFill>
              </a:rPr>
              <a:t>Superseded chunks retrieved</a:t>
            </a:r>
            <a:endParaRPr lang="en-US" sz="1600" dirty="0"/>
          </a:p>
        </p:txBody>
      </p:sp>
      <p:sp>
        <p:nvSpPr>
          <p:cNvPr id="5" name="Text 3"/>
          <p:cNvSpPr txBox="1"/>
          <p:nvPr/>
        </p:nvSpPr>
        <p:spPr>
          <a:xfrm>
            <a:off x="822960" y="2103120"/>
            <a:ext cx="3657600" cy="1280160"/>
          </a:xfrm>
          <a:prstGeom prst="rect">
            <a:avLst/>
          </a:prstGeom>
          <a:noFill/>
          <a:ln/>
        </p:spPr>
        <p:txBody>
          <a:bodyPr wrap="square" lIns="0" tIns="0" rIns="0" bIns="0" rtlCol="0" anchor="ctr"/>
          <a:lstStyle/>
          <a:p>
            <a:pPr indent="0" marL="0">
              <a:buNone/>
            </a:pPr>
            <a:r>
              <a:rPr lang="en-US" sz="7200" b="1" dirty="0">
                <a:solidFill>
                  <a:schemeClr val="accent2"/>
                </a:solidFill>
                <a:latin typeface="Cambria" pitchFamily="34" charset="0"/>
                <a:ea typeface="Cambria" pitchFamily="34" charset="-122"/>
                <a:cs typeface="Cambria" pitchFamily="34" charset="-120"/>
              </a:rPr>
              <a:t>48.8%</a:t>
            </a:r>
            <a:endParaRPr lang="en-US" sz="7200" dirty="0"/>
          </a:p>
        </p:txBody>
      </p:sp>
      <p:sp>
        <p:nvSpPr>
          <p:cNvPr id="6" name="Text 4"/>
          <p:cNvSpPr txBox="1"/>
          <p:nvPr/>
        </p:nvSpPr>
        <p:spPr>
          <a:xfrm>
            <a:off x="822960" y="3520440"/>
            <a:ext cx="3657600" cy="822960"/>
          </a:xfrm>
          <a:prstGeom prst="rect">
            <a:avLst/>
          </a:prstGeom>
          <a:noFill/>
          <a:ln/>
        </p:spPr>
        <p:txBody>
          <a:bodyPr wrap="square" lIns="0" tIns="0" rIns="0" bIns="0" rtlCol="0" anchor="ctr"/>
          <a:lstStyle/>
          <a:p>
            <a:pPr indent="0" marL="0">
              <a:buNone/>
            </a:pPr>
            <a:r>
              <a:rPr lang="en-US" sz="1500" dirty="0">
                <a:solidFill>
                  <a:schemeClr val="tx1"/>
                </a:solidFill>
              </a:rPr>
              <a:t>41 of 84 retrieved chunks are outdated: half of what the LLM would read.</a:t>
            </a:r>
            <a:endParaRPr lang="en-US" sz="1500" dirty="0"/>
          </a:p>
        </p:txBody>
      </p:sp>
      <p:sp>
        <p:nvSpPr>
          <p:cNvPr id="7" name="Text 5"/>
          <p:cNvSpPr txBox="1"/>
          <p:nvPr/>
        </p:nvSpPr>
        <p:spPr>
          <a:xfrm>
            <a:off x="822960" y="5029200"/>
            <a:ext cx="3657600" cy="548640"/>
          </a:xfrm>
          <a:prstGeom prst="rect">
            <a:avLst/>
          </a:prstGeom>
          <a:noFill/>
          <a:ln/>
        </p:spPr>
        <p:txBody>
          <a:bodyPr wrap="square" lIns="0" tIns="0" rIns="0" bIns="0" rtlCol="0" anchor="ctr"/>
          <a:lstStyle/>
          <a:p>
            <a:pPr indent="0" marL="0">
              <a:buNone/>
            </a:pPr>
            <a:r>
              <a:rPr lang="en-US" sz="1200" dirty="0">
                <a:solidFill>
                  <a:schemeClr val="accent4"/>
                </a:solidFill>
              </a:rPr>
              <a:t>Filter OFF · unchanged retriever · k = 4 · 21 frozen cases</a:t>
            </a:r>
            <a:endParaRPr lang="en-US" sz="1200" dirty="0"/>
          </a:p>
        </p:txBody>
      </p:sp>
      <p:sp>
        <p:nvSpPr>
          <p:cNvPr id="8" name="stat superseded cases pass"/>
          <p:cNvSpPr/>
          <p:nvPr/>
        </p:nvSpPr>
        <p:spPr>
          <a:xfrm>
            <a:off x="5074920" y="1417320"/>
            <a:ext cx="3108960" cy="2057400"/>
          </a:xfrm>
          <a:prstGeom prst="roundRect">
            <a:avLst>
              <a:gd name="adj" fmla="val 5333"/>
            </a:avLst>
          </a:prstGeom>
          <a:solidFill>
            <a:srgbClr val="EEF2F5"/>
          </a:solidFill>
          <a:ln/>
          <a:effectLst>
            <a:outerShdw sx="100000" sy="100000" kx="0" ky="0" algn="bl" rotWithShape="0" blurRad="76200" dist="25400" dir="5400000">
              <a:srgbClr val="000000">
                <a:alpha val="12000"/>
              </a:srgbClr>
            </a:outerShdw>
          </a:effectLst>
        </p:spPr>
      </p:sp>
      <p:sp>
        <p:nvSpPr>
          <p:cNvPr id="9" name="Text 7"/>
          <p:cNvSpPr txBox="1"/>
          <p:nvPr/>
        </p:nvSpPr>
        <p:spPr>
          <a:xfrm>
            <a:off x="5303520" y="1600200"/>
            <a:ext cx="2651760" cy="822960"/>
          </a:xfrm>
          <a:prstGeom prst="rect">
            <a:avLst/>
          </a:prstGeom>
          <a:noFill/>
          <a:ln/>
        </p:spPr>
        <p:txBody>
          <a:bodyPr wrap="square" lIns="0" tIns="0" rIns="0" bIns="0" rtlCol="0" anchor="ctr"/>
          <a:lstStyle/>
          <a:p>
            <a:pPr indent="0" marL="0">
              <a:buNone/>
            </a:pPr>
            <a:r>
              <a:rPr lang="en-US" sz="4000" b="1" dirty="0">
                <a:solidFill>
                  <a:srgbClr val="E8833A"/>
                </a:solidFill>
                <a:latin typeface="Cambria" pitchFamily="34" charset="0"/>
                <a:ea typeface="Cambria" pitchFamily="34" charset="-122"/>
                <a:cs typeface="Cambria" pitchFamily="34" charset="-120"/>
              </a:rPr>
              <a:t>0 / 9</a:t>
            </a:r>
            <a:endParaRPr lang="en-US" sz="4000" dirty="0"/>
          </a:p>
        </p:txBody>
      </p:sp>
      <p:sp>
        <p:nvSpPr>
          <p:cNvPr id="10" name="Text 8"/>
          <p:cNvSpPr txBox="1"/>
          <p:nvPr/>
        </p:nvSpPr>
        <p:spPr>
          <a:xfrm>
            <a:off x="5303520" y="2468880"/>
            <a:ext cx="2651760" cy="365760"/>
          </a:xfrm>
          <a:prstGeom prst="rect">
            <a:avLst/>
          </a:prstGeom>
          <a:noFill/>
          <a:ln/>
        </p:spPr>
        <p:txBody>
          <a:bodyPr wrap="square" lIns="0" tIns="0" rIns="0" bIns="0" rtlCol="0" anchor="ctr"/>
          <a:lstStyle/>
          <a:p>
            <a:pPr indent="0" marL="0">
              <a:buNone/>
            </a:pPr>
            <a:r>
              <a:rPr lang="en-US" sz="1500" b="1" dirty="0">
                <a:solidFill>
                  <a:schemeClr val="tx1"/>
                </a:solidFill>
              </a:rPr>
              <a:t>superseded cases pass</a:t>
            </a:r>
            <a:endParaRPr lang="en-US" sz="1500" dirty="0"/>
          </a:p>
        </p:txBody>
      </p:sp>
      <p:sp>
        <p:nvSpPr>
          <p:cNvPr id="11" name="Text 9"/>
          <p:cNvSpPr txBox="1"/>
          <p:nvPr/>
        </p:nvSpPr>
        <p:spPr>
          <a:xfrm>
            <a:off x="5303520" y="2834640"/>
            <a:ext cx="2651760" cy="457200"/>
          </a:xfrm>
          <a:prstGeom prst="rect">
            <a:avLst/>
          </a:prstGeom>
          <a:noFill/>
          <a:ln/>
        </p:spPr>
        <p:txBody>
          <a:bodyPr wrap="square" lIns="0" tIns="0" rIns="0" bIns="0" rtlCol="0" anchor="ctr"/>
          <a:lstStyle/>
          <a:p>
            <a:pPr indent="0" marL="0">
              <a:buNone/>
            </a:pPr>
            <a:r>
              <a:rPr lang="en-US" sz="1300" dirty="0">
                <a:solidFill>
                  <a:schemeClr val="accent4"/>
                </a:solidFill>
              </a:rPr>
              <a:t>old twin retrieved every time</a:t>
            </a:r>
            <a:endParaRPr lang="en-US" sz="1300" dirty="0"/>
          </a:p>
        </p:txBody>
      </p:sp>
      <p:sp>
        <p:nvSpPr>
          <p:cNvPr id="12" name="stat exact-string cases pass"/>
          <p:cNvSpPr/>
          <p:nvPr/>
        </p:nvSpPr>
        <p:spPr>
          <a:xfrm>
            <a:off x="8366760" y="1417320"/>
            <a:ext cx="3108960" cy="2057400"/>
          </a:xfrm>
          <a:prstGeom prst="roundRect">
            <a:avLst>
              <a:gd name="adj" fmla="val 5333"/>
            </a:avLst>
          </a:prstGeom>
          <a:solidFill>
            <a:srgbClr val="EEF2F5"/>
          </a:solidFill>
          <a:ln/>
          <a:effectLst>
            <a:outerShdw sx="100000" sy="100000" kx="0" ky="0" algn="bl" rotWithShape="0" blurRad="76200" dist="25400" dir="5400000">
              <a:srgbClr val="000000">
                <a:alpha val="12000"/>
              </a:srgbClr>
            </a:outerShdw>
          </a:effectLst>
        </p:spPr>
      </p:sp>
      <p:sp>
        <p:nvSpPr>
          <p:cNvPr id="13" name="Text 11"/>
          <p:cNvSpPr txBox="1"/>
          <p:nvPr/>
        </p:nvSpPr>
        <p:spPr>
          <a:xfrm>
            <a:off x="8595360" y="1600200"/>
            <a:ext cx="2651760" cy="822960"/>
          </a:xfrm>
          <a:prstGeom prst="rect">
            <a:avLst/>
          </a:prstGeom>
          <a:noFill/>
          <a:ln/>
        </p:spPr>
        <p:txBody>
          <a:bodyPr wrap="square" lIns="0" tIns="0" rIns="0" bIns="0" rtlCol="0" anchor="ctr"/>
          <a:lstStyle/>
          <a:p>
            <a:pPr indent="0" marL="0">
              <a:buNone/>
            </a:pPr>
            <a:r>
              <a:rPr lang="en-US" sz="4000" b="1" dirty="0">
                <a:solidFill>
                  <a:srgbClr val="0F9D8A"/>
                </a:solidFill>
                <a:latin typeface="Cambria" pitchFamily="34" charset="0"/>
                <a:ea typeface="Cambria" pitchFamily="34" charset="-122"/>
                <a:cs typeface="Cambria" pitchFamily="34" charset="-120"/>
              </a:rPr>
              <a:t>7 / 7</a:t>
            </a:r>
            <a:endParaRPr lang="en-US" sz="4000" dirty="0"/>
          </a:p>
        </p:txBody>
      </p:sp>
      <p:sp>
        <p:nvSpPr>
          <p:cNvPr id="14" name="Text 12"/>
          <p:cNvSpPr txBox="1"/>
          <p:nvPr/>
        </p:nvSpPr>
        <p:spPr>
          <a:xfrm>
            <a:off x="8595360" y="2468880"/>
            <a:ext cx="2651760" cy="365760"/>
          </a:xfrm>
          <a:prstGeom prst="rect">
            <a:avLst/>
          </a:prstGeom>
          <a:noFill/>
          <a:ln/>
        </p:spPr>
        <p:txBody>
          <a:bodyPr wrap="square" lIns="0" tIns="0" rIns="0" bIns="0" rtlCol="0" anchor="ctr"/>
          <a:lstStyle/>
          <a:p>
            <a:pPr indent="0" marL="0">
              <a:buNone/>
            </a:pPr>
            <a:r>
              <a:rPr lang="en-US" sz="1500" b="1" dirty="0">
                <a:solidFill>
                  <a:schemeClr val="tx1"/>
                </a:solidFill>
              </a:rPr>
              <a:t>exact-string cases pass</a:t>
            </a:r>
            <a:endParaRPr lang="en-US" sz="1500" dirty="0"/>
          </a:p>
        </p:txBody>
      </p:sp>
      <p:sp>
        <p:nvSpPr>
          <p:cNvPr id="15" name="Text 13"/>
          <p:cNvSpPr txBox="1"/>
          <p:nvPr/>
        </p:nvSpPr>
        <p:spPr>
          <a:xfrm>
            <a:off x="8595360" y="2834640"/>
            <a:ext cx="2651760" cy="457200"/>
          </a:xfrm>
          <a:prstGeom prst="rect">
            <a:avLst/>
          </a:prstGeom>
          <a:noFill/>
          <a:ln/>
        </p:spPr>
        <p:txBody>
          <a:bodyPr wrap="square" lIns="0" tIns="0" rIns="0" bIns="0" rtlCol="0" anchor="ctr"/>
          <a:lstStyle/>
          <a:p>
            <a:pPr indent="0" marL="0">
              <a:buNone/>
            </a:pPr>
            <a:r>
              <a:rPr lang="en-US" sz="1300" dirty="0">
                <a:solidFill>
                  <a:schemeClr val="accent4"/>
                </a:solidFill>
              </a:rPr>
              <a:t>must stay 7/7 after the fix</a:t>
            </a:r>
            <a:endParaRPr lang="en-US" sz="1300" dirty="0"/>
          </a:p>
        </p:txBody>
      </p:sp>
      <p:sp>
        <p:nvSpPr>
          <p:cNvPr id="16" name="stat multi-hop cases pass"/>
          <p:cNvSpPr/>
          <p:nvPr/>
        </p:nvSpPr>
        <p:spPr>
          <a:xfrm>
            <a:off x="5074920" y="3657600"/>
            <a:ext cx="3108960" cy="2057400"/>
          </a:xfrm>
          <a:prstGeom prst="roundRect">
            <a:avLst>
              <a:gd name="adj" fmla="val 5333"/>
            </a:avLst>
          </a:prstGeom>
          <a:solidFill>
            <a:srgbClr val="EEF2F5"/>
          </a:solidFill>
          <a:ln/>
          <a:effectLst>
            <a:outerShdw sx="100000" sy="100000" kx="0" ky="0" algn="bl" rotWithShape="0" blurRad="76200" dist="25400" dir="5400000">
              <a:srgbClr val="000000">
                <a:alpha val="12000"/>
              </a:srgbClr>
            </a:outerShdw>
          </a:effectLst>
        </p:spPr>
      </p:sp>
      <p:sp>
        <p:nvSpPr>
          <p:cNvPr id="17" name="Text 15"/>
          <p:cNvSpPr txBox="1"/>
          <p:nvPr/>
        </p:nvSpPr>
        <p:spPr>
          <a:xfrm>
            <a:off x="5303520" y="3840480"/>
            <a:ext cx="2651760" cy="822960"/>
          </a:xfrm>
          <a:prstGeom prst="rect">
            <a:avLst/>
          </a:prstGeom>
          <a:noFill/>
          <a:ln/>
        </p:spPr>
        <p:txBody>
          <a:bodyPr wrap="square" lIns="0" tIns="0" rIns="0" bIns="0" rtlCol="0" anchor="ctr"/>
          <a:lstStyle/>
          <a:p>
            <a:pPr indent="0" marL="0">
              <a:buNone/>
            </a:pPr>
            <a:r>
              <a:rPr lang="en-US" sz="4000" b="1" dirty="0">
                <a:solidFill>
                  <a:srgbClr val="E8833A"/>
                </a:solidFill>
                <a:latin typeface="Cambria" pitchFamily="34" charset="0"/>
                <a:ea typeface="Cambria" pitchFamily="34" charset="-122"/>
                <a:cs typeface="Cambria" pitchFamily="34" charset="-120"/>
              </a:rPr>
              <a:t>0 / 3</a:t>
            </a:r>
            <a:endParaRPr lang="en-US" sz="4000" dirty="0"/>
          </a:p>
        </p:txBody>
      </p:sp>
      <p:sp>
        <p:nvSpPr>
          <p:cNvPr id="18" name="Text 16"/>
          <p:cNvSpPr txBox="1"/>
          <p:nvPr/>
        </p:nvSpPr>
        <p:spPr>
          <a:xfrm>
            <a:off x="5303520" y="4709160"/>
            <a:ext cx="2651760" cy="365760"/>
          </a:xfrm>
          <a:prstGeom prst="rect">
            <a:avLst/>
          </a:prstGeom>
          <a:noFill/>
          <a:ln/>
        </p:spPr>
        <p:txBody>
          <a:bodyPr wrap="square" lIns="0" tIns="0" rIns="0" bIns="0" rtlCol="0" anchor="ctr"/>
          <a:lstStyle/>
          <a:p>
            <a:pPr indent="0" marL="0">
              <a:buNone/>
            </a:pPr>
            <a:r>
              <a:rPr lang="en-US" sz="1500" b="1" dirty="0">
                <a:solidFill>
                  <a:schemeClr val="tx1"/>
                </a:solidFill>
              </a:rPr>
              <a:t>multi-hop cases pass</a:t>
            </a:r>
            <a:endParaRPr lang="en-US" sz="1500" dirty="0"/>
          </a:p>
        </p:txBody>
      </p:sp>
      <p:sp>
        <p:nvSpPr>
          <p:cNvPr id="19" name="Text 17"/>
          <p:cNvSpPr txBox="1"/>
          <p:nvPr/>
        </p:nvSpPr>
        <p:spPr>
          <a:xfrm>
            <a:off x="5303520" y="5074920"/>
            <a:ext cx="2651760" cy="457200"/>
          </a:xfrm>
          <a:prstGeom prst="rect">
            <a:avLst/>
          </a:prstGeom>
          <a:noFill/>
          <a:ln/>
        </p:spPr>
        <p:txBody>
          <a:bodyPr wrap="square" lIns="0" tIns="0" rIns="0" bIns="0" rtlCol="0" anchor="ctr"/>
          <a:lstStyle/>
          <a:p>
            <a:pPr indent="0" marL="0">
              <a:buNone/>
            </a:pPr>
            <a:r>
              <a:rPr lang="en-US" sz="1300" dirty="0">
                <a:solidFill>
                  <a:schemeClr val="accent4"/>
                </a:solidFill>
              </a:rPr>
              <a:t>old twins crowd out the 2nd doc</a:t>
            </a:r>
            <a:endParaRPr lang="en-US" sz="1300" dirty="0"/>
          </a:p>
        </p:txBody>
      </p:sp>
      <p:sp>
        <p:nvSpPr>
          <p:cNvPr id="20" name="stat median retrieval"/>
          <p:cNvSpPr/>
          <p:nvPr/>
        </p:nvSpPr>
        <p:spPr>
          <a:xfrm>
            <a:off x="8366760" y="3657600"/>
            <a:ext cx="3108960" cy="2057400"/>
          </a:xfrm>
          <a:prstGeom prst="roundRect">
            <a:avLst>
              <a:gd name="adj" fmla="val 5333"/>
            </a:avLst>
          </a:prstGeom>
          <a:solidFill>
            <a:srgbClr val="EEF2F5"/>
          </a:solidFill>
          <a:ln/>
          <a:effectLst>
            <a:outerShdw sx="100000" sy="100000" kx="0" ky="0" algn="bl" rotWithShape="0" blurRad="76200" dist="25400" dir="5400000">
              <a:srgbClr val="000000">
                <a:alpha val="12000"/>
              </a:srgbClr>
            </a:outerShdw>
          </a:effectLst>
        </p:spPr>
      </p:sp>
      <p:sp>
        <p:nvSpPr>
          <p:cNvPr id="21" name="Text 19"/>
          <p:cNvSpPr txBox="1"/>
          <p:nvPr/>
        </p:nvSpPr>
        <p:spPr>
          <a:xfrm>
            <a:off x="8595360" y="3840480"/>
            <a:ext cx="2651760" cy="822960"/>
          </a:xfrm>
          <a:prstGeom prst="rect">
            <a:avLst/>
          </a:prstGeom>
          <a:noFill/>
          <a:ln/>
        </p:spPr>
        <p:txBody>
          <a:bodyPr wrap="square" lIns="0" tIns="0" rIns="0" bIns="0" rtlCol="0" anchor="ctr"/>
          <a:lstStyle/>
          <a:p>
            <a:pPr indent="0" marL="0">
              <a:buNone/>
            </a:pPr>
            <a:r>
              <a:rPr lang="en-US" sz="4000" b="1" dirty="0">
                <a:solidFill>
                  <a:srgbClr val="1F2A37"/>
                </a:solidFill>
                <a:latin typeface="Cambria" pitchFamily="34" charset="0"/>
                <a:ea typeface="Cambria" pitchFamily="34" charset="-122"/>
                <a:cs typeface="Cambria" pitchFamily="34" charset="-120"/>
              </a:rPr>
              <a:t>144 ms</a:t>
            </a:r>
            <a:endParaRPr lang="en-US" sz="4000" dirty="0"/>
          </a:p>
        </p:txBody>
      </p:sp>
      <p:sp>
        <p:nvSpPr>
          <p:cNvPr id="22" name="Text 20"/>
          <p:cNvSpPr txBox="1"/>
          <p:nvPr/>
        </p:nvSpPr>
        <p:spPr>
          <a:xfrm>
            <a:off x="8595360" y="4709160"/>
            <a:ext cx="2651760" cy="365760"/>
          </a:xfrm>
          <a:prstGeom prst="rect">
            <a:avLst/>
          </a:prstGeom>
          <a:noFill/>
          <a:ln/>
        </p:spPr>
        <p:txBody>
          <a:bodyPr wrap="square" lIns="0" tIns="0" rIns="0" bIns="0" rtlCol="0" anchor="ctr"/>
          <a:lstStyle/>
          <a:p>
            <a:pPr indent="0" marL="0">
              <a:buNone/>
            </a:pPr>
            <a:r>
              <a:rPr lang="en-US" sz="1500" b="1" dirty="0">
                <a:solidFill>
                  <a:schemeClr val="tx1"/>
                </a:solidFill>
              </a:rPr>
              <a:t>median retrieval</a:t>
            </a:r>
            <a:endParaRPr lang="en-US" sz="1500" dirty="0"/>
          </a:p>
        </p:txBody>
      </p:sp>
      <p:sp>
        <p:nvSpPr>
          <p:cNvPr id="23" name="Text 21"/>
          <p:cNvSpPr txBox="1"/>
          <p:nvPr/>
        </p:nvSpPr>
        <p:spPr>
          <a:xfrm>
            <a:off x="8595360" y="5074920"/>
            <a:ext cx="2651760" cy="457200"/>
          </a:xfrm>
          <a:prstGeom prst="rect">
            <a:avLst/>
          </a:prstGeom>
          <a:noFill/>
          <a:ln/>
        </p:spPr>
        <p:txBody>
          <a:bodyPr wrap="square" lIns="0" tIns="0" rIns="0" bIns="0" rtlCol="0" anchor="ctr"/>
          <a:lstStyle/>
          <a:p>
            <a:pPr indent="0" marL="0">
              <a:buNone/>
            </a:pPr>
            <a:r>
              <a:rPr lang="en-US" sz="1300" dirty="0">
                <a:solidFill>
                  <a:schemeClr val="accent4"/>
                </a:solidFill>
              </a:rPr>
              <a:t>embed query + Chroma search</a:t>
            </a:r>
            <a:endParaRPr lang="en-US" sz="1300" dirty="0"/>
          </a:p>
        </p:txBody>
      </p:sp>
      <p:sp>
        <p:nvSpPr>
          <p:cNvPr id="24" name="Text 22"/>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Test: b1_eval.py --off → results/baseline_filter_off.json · commit 8c97952 · re-run gives identical cases and numbers</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 8: every chunk in Chroma now knows its version</a:t>
            </a:r>
            <a:endParaRPr lang="en-US" sz="3400" dirty="0"/>
          </a:p>
        </p:txBody>
      </p:sp>
      <p:sp>
        <p:nvSpPr>
          <p:cNvPr id="3" name="chroma rows"/>
          <p:cNvSpPr/>
          <p:nvPr/>
        </p:nvSpPr>
        <p:spPr>
          <a:xfrm>
            <a:off x="548640" y="1417320"/>
            <a:ext cx="5212080" cy="4343400"/>
          </a:xfrm>
          <a:prstGeom prst="roundRect">
            <a:avLst>
              <a:gd name="adj" fmla="val 2526"/>
            </a:avLst>
          </a:prstGeom>
          <a:solidFill>
            <a:srgbClr val="EEF2F5"/>
          </a:solidFill>
          <a:ln/>
          <a:effectLst>
            <a:outerShdw sx="100000" sy="100000" kx="0" ky="0" algn="bl" rotWithShape="0" blurRad="76200" dist="25400" dir="5400000">
              <a:srgbClr val="000000">
                <a:alpha val="12000"/>
              </a:srgbClr>
            </a:outerShdw>
          </a:effectLst>
        </p:spPr>
      </p:sp>
      <p:sp>
        <p:nvSpPr>
          <p:cNvPr id="4" name="Text 2"/>
          <p:cNvSpPr txBox="1"/>
          <p:nvPr/>
        </p:nvSpPr>
        <p:spPr>
          <a:xfrm>
            <a:off x="777240" y="1554480"/>
            <a:ext cx="4754880" cy="365760"/>
          </a:xfrm>
          <a:prstGeom prst="rect">
            <a:avLst/>
          </a:prstGeom>
          <a:noFill/>
          <a:ln/>
        </p:spPr>
        <p:txBody>
          <a:bodyPr wrap="square" lIns="0" tIns="0" rIns="0" bIns="0" rtlCol="0" anchor="ctr"/>
          <a:lstStyle/>
          <a:p>
            <a:pPr indent="0" marL="0">
              <a:buNone/>
            </a:pPr>
            <a:r>
              <a:rPr lang="en-US" sz="1500" b="1" dirty="0">
                <a:solidFill>
                  <a:schemeClr val="tx1"/>
                </a:solidFill>
              </a:rPr>
              <a:t>Inside Chroma (b1_check.py --chroma)</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2011680"/>
          <a:ext cx="4754880" cy="914400"/>
        </p:xfrm>
        <a:graphic>
          <a:graphicData uri="http://schemas.openxmlformats.org/drawingml/2006/table">
            <a:tbl>
              <a:tblPr/>
              <a:tblGrid>
                <a:gridCol w="2240280"/>
                <a:gridCol w="502920"/>
                <a:gridCol w="1051560"/>
                <a:gridCol w="960120"/>
              </a:tblGrid>
              <a:tr h="329184">
                <a:tc>
                  <a:txBody>
                    <a:bodyPr/>
                    <a:lstStyle/>
                    <a:p>
                      <a:pPr indent="0" marL="0">
                        <a:buNone/>
                      </a:pPr>
                      <a:r>
                        <a:rPr lang="en-US" sz="1300" b="1" dirty="0">
                          <a:solidFill>
                            <a:srgbClr val="FFFFFF"/>
                          </a:solidFill>
                        </a:rPr>
                        <a:t>chunk</a:t>
                      </a:r>
                      <a:endParaRPr lang="en-US" sz="1300" dirty="0"/>
                    </a:p>
                  </a:txBody>
                  <a:tcPr marL="54864" marR="54864" marT="27432" marB="27432">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ver</a:t>
                      </a:r>
                      <a:endParaRPr lang="en-US" sz="1300" dirty="0"/>
                    </a:p>
                  </a:txBody>
                  <a:tcPr marL="54864" marR="54864" marT="27432" marB="27432">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effective</a:t>
                      </a:r>
                      <a:endParaRPr lang="en-US" sz="1300" dirty="0"/>
                    </a:p>
                  </a:txBody>
                  <a:tcPr marL="54864" marR="54864" marT="27432" marB="27432">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superseded</a:t>
                      </a:r>
                      <a:endParaRPr lang="en-US" sz="1300" dirty="0"/>
                    </a:p>
                  </a:txBody>
                  <a:tcPr marL="54864" marR="54864" marT="27432" marB="27432">
                    <a:lnL w="0" cap="flat" cmpd="sng" algn="ctr">
                      <a:noFill/>
                    </a:lnL>
                    <a:lnR w="0" cap="flat" cmpd="sng" algn="ctr">
                      <a:noFill/>
                    </a:lnR>
                    <a:lnT w="0" cap="flat" cmpd="sng" algn="ctr">
                      <a:noFill/>
                    </a:lnT>
                    <a:lnB w="0" cap="flat" cmpd="sng" algn="ctr">
                      <a:noFill/>
                    </a:lnB>
                    <a:solidFill>
                      <a:srgbClr val="1F2A37"/>
                    </a:solidFill>
                  </a:tcPr>
                </a:tc>
              </a:tr>
              <a:tr h="329184">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disk-capacity#0</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3</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2026-05-01</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b="1" dirty="0">
                          <a:solidFill>
                            <a:srgbClr val="0B6E61"/>
                          </a:solidFill>
                          <a:latin typeface="Courier New" pitchFamily="34" charset="0"/>
                          <a:ea typeface="Courier New" pitchFamily="34" charset="-122"/>
                          <a:cs typeface="Courier New" pitchFamily="34" charset="-120"/>
                        </a:rPr>
                        <a:t>False</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r>
              <a:tr h="329184">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disk-capacity-2025#0</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2</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2025-02-01</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200" b="1" dirty="0">
                          <a:solidFill>
                            <a:srgbClr val="E8833A"/>
                          </a:solidFill>
                          <a:latin typeface="Courier New" pitchFamily="34" charset="0"/>
                          <a:ea typeface="Courier New" pitchFamily="34" charset="-122"/>
                          <a:cs typeface="Courier New" pitchFamily="34" charset="-120"/>
                        </a:rPr>
                        <a:t>True</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r>
              <a:tr h="329184">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schema-registry#0</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2</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2026-03-20</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b="1" dirty="0">
                          <a:solidFill>
                            <a:srgbClr val="0B6E61"/>
                          </a:solidFill>
                          <a:latin typeface="Courier New" pitchFamily="34" charset="0"/>
                          <a:ea typeface="Courier New" pitchFamily="34" charset="-122"/>
                          <a:cs typeface="Courier New" pitchFamily="34" charset="-120"/>
                        </a:rPr>
                        <a:t>False</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r>
              <a:tr h="329184">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schema-registry-2024#0</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2024-07-15</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200" b="1" dirty="0">
                          <a:solidFill>
                            <a:srgbClr val="E8833A"/>
                          </a:solidFill>
                          <a:latin typeface="Courier New" pitchFamily="34" charset="0"/>
                          <a:ea typeface="Courier New" pitchFamily="34" charset="-122"/>
                          <a:cs typeface="Courier New" pitchFamily="34" charset="-120"/>
                        </a:rPr>
                        <a:t>True</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EEF2F5"/>
                    </a:solidFill>
                  </a:tcPr>
                </a:tc>
              </a:tr>
              <a:tr h="329184">
                <a:tc>
                  <a:txBody>
                    <a:bodyPr/>
                    <a:lstStyle/>
                    <a:p>
                      <a:pPr indent="0" marL="0">
                        <a:buNone/>
                      </a:pPr>
                      <a:r>
                        <a:rPr lang="en-US" sz="1200" dirty="0">
                          <a:solidFill>
                            <a:srgbClr val="1F2A37"/>
                          </a:solidFill>
                          <a:latin typeface="Courier New" pitchFamily="34" charset="0"/>
                          <a:ea typeface="Courier New" pitchFamily="34" charset="-122"/>
                          <a:cs typeface="Courier New" pitchFamily="34" charset="-120"/>
                        </a:rPr>
                        <a:t>… 13 more</a:t>
                      </a: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endParaRPr lang="en-US" sz="1200" dirty="0">
                        <a:latin typeface="Courier New" charset="0"/>
                        <a:ea typeface="Courier New" charset="0"/>
                        <a:cs typeface="Courier New" charset="0"/>
                      </a:endParaRPr>
                    </a:p>
                  </a:txBody>
                  <a:tcPr marL="54864" marR="54864" marT="27432" marB="27432">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6" name="Text 3"/>
          <p:cNvSpPr txBox="1"/>
          <p:nvPr/>
        </p:nvSpPr>
        <p:spPr>
          <a:xfrm>
            <a:off x="777240" y="4160520"/>
            <a:ext cx="4754880" cy="1463040"/>
          </a:xfrm>
          <a:prstGeom prst="rect">
            <a:avLst/>
          </a:prstGeom>
          <a:noFill/>
          <a:ln/>
        </p:spPr>
        <p:txBody>
          <a:bodyPr wrap="square" lIns="0" tIns="0" rIns="0" bIns="0" rtlCol="0" anchor="t"/>
          <a:lstStyle/>
          <a:p>
            <a:pPr indent="0" marL="0">
              <a:spcAft>
                <a:spcPts val="400"/>
              </a:spcAft>
              <a:buNone/>
            </a:pPr>
            <a:r>
              <a:rPr lang="en-US" sz="1400" b="1" dirty="0">
                <a:solidFill>
                  <a:srgbClr val="0F9D8A"/>
                </a:solidFill>
              </a:rPr>
              <a:t>17 / 17 </a:t>
            </a:r>
            <a:pPr indent="0" marL="0">
              <a:spcAft>
                <a:spcPts val="400"/>
              </a:spcAft>
              <a:buNone/>
            </a:pPr>
            <a:r>
              <a:rPr lang="en-US" sz="1400" dirty="0">
                <a:solidFill>
                  <a:schemeClr val="tx1"/>
                </a:solidFill>
              </a:rPr>
              <a:t>chunks carry all 4 fields, values = manifest</a:t>
            </a:r>
            <a:endParaRPr lang="en-US" sz="1400" dirty="0"/>
          </a:p>
          <a:p>
            <a:pPr indent="0" marL="0">
              <a:spcAft>
                <a:spcPts val="400"/>
              </a:spcAft>
              <a:buNone/>
            </a:pPr>
            <a:r>
              <a:rPr lang="en-US" sz="1400" b="1" dirty="0">
                <a:solidFill>
                  <a:srgbClr val="0F9D8A"/>
                </a:solidFill>
              </a:rPr>
              <a:t>9 / 8 </a:t>
            </a:r>
            <a:pPr indent="0" marL="0">
              <a:spcAft>
                <a:spcPts val="400"/>
              </a:spcAft>
              <a:buNone/>
            </a:pPr>
            <a:r>
              <a:rPr lang="en-US" sz="1400" dirty="0">
                <a:solidFill>
                  <a:schemeClr val="tx1"/>
                </a:solidFill>
              </a:rPr>
              <a:t>chunks from 8 current / 8 old files via where=…</a:t>
            </a:r>
            <a:endParaRPr lang="en-US" sz="1400" dirty="0"/>
          </a:p>
          <a:p>
            <a:pPr indent="0" marL="0">
              <a:spcAft>
                <a:spcPts val="400"/>
              </a:spcAft>
              <a:buNone/>
            </a:pPr>
            <a:r>
              <a:rPr lang="en-US" sz="1400" b="1" dirty="0">
                <a:solidFill>
                  <a:srgbClr val="E8833A"/>
                </a:solidFill>
              </a:rPr>
              <a:t>48.8% </a:t>
            </a:r>
            <a:pPr indent="0" marL="0">
              <a:spcAft>
                <a:spcPts val="400"/>
              </a:spcAft>
              <a:buNone/>
            </a:pPr>
            <a:r>
              <a:rPr lang="en-US" sz="1400" dirty="0">
                <a:solidFill>
                  <a:schemeClr val="tx1"/>
                </a:solidFill>
              </a:rPr>
              <a:t>OFF run unchanged: metadata alone changes nothing</a:t>
            </a:r>
            <a:endParaRPr lang="en-US" sz="1400" dirty="0"/>
          </a:p>
        </p:txBody>
      </p:sp>
      <p:sp>
        <p:nvSpPr>
          <p:cNvPr id="7" name="filter demo"/>
          <p:cNvSpPr/>
          <p:nvPr/>
        </p:nvSpPr>
        <p:spPr>
          <a:xfrm>
            <a:off x="5989320" y="1417320"/>
            <a:ext cx="5623560" cy="4343400"/>
          </a:xfrm>
          <a:prstGeom prst="roundRect">
            <a:avLst>
              <a:gd name="adj" fmla="val 2526"/>
            </a:avLst>
          </a:prstGeom>
          <a:solidFill>
            <a:srgbClr val="1F2A37"/>
          </a:solidFill>
          <a:ln/>
          <a:effectLst>
            <a:outerShdw sx="100000" sy="100000" kx="0" ky="0" algn="bl" rotWithShape="0" blurRad="76200" dist="25400" dir="5400000">
              <a:srgbClr val="000000">
                <a:alpha val="12000"/>
              </a:srgbClr>
            </a:outerShdw>
          </a:effectLst>
        </p:spPr>
      </p:sp>
      <p:sp>
        <p:nvSpPr>
          <p:cNvPr id="8" name="Text 5"/>
          <p:cNvSpPr txBox="1"/>
          <p:nvPr/>
        </p:nvSpPr>
        <p:spPr>
          <a:xfrm>
            <a:off x="6217920" y="1554480"/>
            <a:ext cx="5212080" cy="365760"/>
          </a:xfrm>
          <a:prstGeom prst="rect">
            <a:avLst/>
          </a:prstGeom>
          <a:noFill/>
          <a:ln/>
        </p:spPr>
        <p:txBody>
          <a:bodyPr wrap="square" lIns="0" tIns="0" rIns="0" bIns="0" rtlCol="0" anchor="ctr"/>
          <a:lstStyle/>
          <a:p>
            <a:pPr indent="0" marL="0">
              <a:buNone/>
            </a:pPr>
            <a:r>
              <a:rPr lang="en-US" sz="1400" b="1" dirty="0">
                <a:solidFill>
                  <a:srgbClr val="FFFFFF"/>
                </a:solidFill>
              </a:rPr>
              <a:t>b1_inspect_chroma.py: "Broker 4 … hit 87% …"</a:t>
            </a:r>
            <a:endParaRPr lang="en-US" sz="1400" dirty="0"/>
          </a:p>
        </p:txBody>
      </p:sp>
      <p:sp>
        <p:nvSpPr>
          <p:cNvPr id="9" name="Text 6"/>
          <p:cNvSpPr txBox="1"/>
          <p:nvPr/>
        </p:nvSpPr>
        <p:spPr>
          <a:xfrm>
            <a:off x="6217920" y="2011680"/>
            <a:ext cx="5212080" cy="320040"/>
          </a:xfrm>
          <a:prstGeom prst="rect">
            <a:avLst/>
          </a:prstGeom>
          <a:noFill/>
          <a:ln/>
        </p:spPr>
        <p:txBody>
          <a:bodyPr wrap="square" lIns="0" tIns="0" rIns="0" bIns="0" rtlCol="0" anchor="ctr"/>
          <a:lstStyle/>
          <a:p>
            <a:pPr indent="0" marL="0">
              <a:buNone/>
            </a:pPr>
            <a:r>
              <a:rPr lang="en-US" sz="1300" b="1" dirty="0">
                <a:solidFill>
                  <a:srgbClr val="8FD8CC"/>
                </a:solidFill>
              </a:rPr>
              <a:t>Filter OFF (plain top-4)</a:t>
            </a:r>
            <a:endParaRPr lang="en-US" sz="1300" dirty="0"/>
          </a:p>
        </p:txBody>
      </p:sp>
      <p:sp>
        <p:nvSpPr>
          <p:cNvPr id="10" name="Text 7"/>
          <p:cNvSpPr txBox="1"/>
          <p:nvPr/>
        </p:nvSpPr>
        <p:spPr>
          <a:xfrm>
            <a:off x="6217920" y="2359152"/>
            <a:ext cx="5212080" cy="1325880"/>
          </a:xfrm>
          <a:prstGeom prst="rect">
            <a:avLst/>
          </a:prstGeom>
          <a:noFill/>
          <a:ln/>
        </p:spPr>
        <p:txBody>
          <a:bodyPr wrap="square" lIns="0" tIns="0" rIns="0" bIns="0" rtlCol="0" anchor="t"/>
          <a:lstStyle/>
          <a:p>
            <a:pPr indent="0" marL="0">
              <a:buNone/>
            </a:pPr>
            <a:r>
              <a:rPr lang="en-US" sz="1300" dirty="0">
                <a:solidFill>
                  <a:srgbClr val="FFFFFF"/>
                </a:solidFill>
                <a:latin typeface="Courier New" pitchFamily="34" charset="0"/>
                <a:ea typeface="Courier New" pitchFamily="34" charset="-122"/>
                <a:cs typeface="Courier New" pitchFamily="34" charset="-120"/>
              </a:rPr>
              <a:t>#1  disk-capacity.md</a:t>
            </a:r>
            <a:endParaRPr lang="en-US" sz="1300" dirty="0"/>
          </a:p>
          <a:p>
            <a:pPr indent="0" marL="0">
              <a:buNone/>
            </a:pPr>
            <a:r>
              <a:rPr lang="en-US" sz="1300" b="1" dirty="0">
                <a:solidFill>
                  <a:srgbClr val="F7B98A"/>
                </a:solidFill>
                <a:latin typeface="Courier New" pitchFamily="34" charset="0"/>
                <a:ea typeface="Courier New" pitchFamily="34" charset="-122"/>
                <a:cs typeface="Courier New" pitchFamily="34" charset="-120"/>
              </a:rPr>
              <a:t>#2  disk-capacity-2025.md   SUPERSEDED</a:t>
            </a:r>
            <a:endParaRPr lang="en-US" sz="1300" dirty="0"/>
          </a:p>
          <a:p>
            <a:pPr indent="0" marL="0">
              <a:buNone/>
            </a:pPr>
            <a:r>
              <a:rPr lang="en-US" sz="1300" b="1" dirty="0">
                <a:solidFill>
                  <a:srgbClr val="F7B98A"/>
                </a:solidFill>
                <a:latin typeface="Courier New" pitchFamily="34" charset="0"/>
                <a:ea typeface="Courier New" pitchFamily="34" charset="-122"/>
                <a:cs typeface="Courier New" pitchFamily="34" charset="-120"/>
              </a:rPr>
              <a:t>#3  broker-rolling-restart-2025.md   SUPERSEDED</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#4  broker-rolling-restart.md</a:t>
            </a:r>
            <a:endParaRPr lang="en-US" sz="1300" dirty="0"/>
          </a:p>
        </p:txBody>
      </p:sp>
      <p:sp>
        <p:nvSpPr>
          <p:cNvPr id="11" name="Text 8"/>
          <p:cNvSpPr txBox="1"/>
          <p:nvPr/>
        </p:nvSpPr>
        <p:spPr>
          <a:xfrm>
            <a:off x="6217920" y="3840480"/>
            <a:ext cx="5212080" cy="320040"/>
          </a:xfrm>
          <a:prstGeom prst="rect">
            <a:avLst/>
          </a:prstGeom>
          <a:noFill/>
          <a:ln/>
        </p:spPr>
        <p:txBody>
          <a:bodyPr wrap="square" lIns="0" tIns="0" rIns="0" bIns="0" rtlCol="0" anchor="ctr"/>
          <a:lstStyle/>
          <a:p>
            <a:pPr indent="0" marL="0">
              <a:buNone/>
            </a:pPr>
            <a:r>
              <a:rPr lang="en-US" sz="1300" b="1" dirty="0">
                <a:solidFill>
                  <a:srgbClr val="8FD8CC"/>
                </a:solidFill>
              </a:rPr>
              <a:t>Filter ON  where={"superseded": False}</a:t>
            </a:r>
            <a:endParaRPr lang="en-US" sz="1300" dirty="0"/>
          </a:p>
        </p:txBody>
      </p:sp>
      <p:sp>
        <p:nvSpPr>
          <p:cNvPr id="12" name="Text 9"/>
          <p:cNvSpPr txBox="1"/>
          <p:nvPr/>
        </p:nvSpPr>
        <p:spPr>
          <a:xfrm>
            <a:off x="6217920" y="4187952"/>
            <a:ext cx="5212080" cy="1325880"/>
          </a:xfrm>
          <a:prstGeom prst="rect">
            <a:avLst/>
          </a:prstGeom>
          <a:noFill/>
          <a:ln/>
        </p:spPr>
        <p:txBody>
          <a:bodyPr wrap="square" lIns="0" tIns="0" rIns="0" bIns="0" rtlCol="0" anchor="t"/>
          <a:lstStyle/>
          <a:p>
            <a:pPr indent="0" marL="0">
              <a:buNone/>
            </a:pPr>
            <a:r>
              <a:rPr lang="en-US" sz="1300" dirty="0">
                <a:solidFill>
                  <a:srgbClr val="FFFFFF"/>
                </a:solidFill>
                <a:latin typeface="Courier New" pitchFamily="34" charset="0"/>
                <a:ea typeface="Courier New" pitchFamily="34" charset="-122"/>
                <a:cs typeface="Courier New" pitchFamily="34" charset="-120"/>
              </a:rPr>
              <a:t>#1  disk-capacity.md</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#2  broker-rolling-restart.md</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#3  topic-retention.md</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#4  consumer-lag-alerting.md</a:t>
            </a:r>
            <a:endParaRPr lang="en-US" sz="1300" dirty="0"/>
          </a:p>
        </p:txBody>
      </p:sp>
      <p:sp>
        <p:nvSpPr>
          <p:cNvPr id="13" name="Text 10"/>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Test: b1_check.py --no-trap --chroma → PASS · on the pre-Step-8 collection → FAIL (18) · commit 65ee770</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Steps 9–10: one where-clause, behind a switch</a:t>
            </a:r>
            <a:endParaRPr lang="en-US" sz="3400" dirty="0"/>
          </a:p>
        </p:txBody>
      </p:sp>
      <p:sp>
        <p:nvSpPr>
          <p:cNvPr id="3" name="retrieve code"/>
          <p:cNvSpPr/>
          <p:nvPr/>
        </p:nvSpPr>
        <p:spPr>
          <a:xfrm>
            <a:off x="548640" y="1417320"/>
            <a:ext cx="5760720" cy="4343400"/>
          </a:xfrm>
          <a:prstGeom prst="roundRect">
            <a:avLst>
              <a:gd name="adj" fmla="val 2526"/>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22960" y="1600200"/>
            <a:ext cx="5303520" cy="397764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def retrieve(query, k=4, version_aware=False):</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8FD8CC"/>
                </a:solidFill>
                <a:latin typeface="Courier New" pitchFamily="34" charset="0"/>
                <a:ea typeface="Courier New" pitchFamily="34" charset="-122"/>
                <a:cs typeface="Courier New" pitchFamily="34" charset="-120"/>
              </a:rPr>
              <a:t>    if version_aware:      # ON</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res = collection().query(</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query_embeddings=[qv], n_results=k,</a:t>
            </a:r>
            <a:endParaRPr lang="en-US" sz="1400" dirty="0"/>
          </a:p>
          <a:p>
            <a:pPr indent="0" marL="0">
              <a:buNone/>
            </a:pPr>
            <a:r>
              <a:rPr lang="en-US" sz="1400" b="1" dirty="0">
                <a:solidFill>
                  <a:srgbClr val="F7B98A"/>
                </a:solidFill>
                <a:latin typeface="Courier New" pitchFamily="34" charset="0"/>
                <a:ea typeface="Courier New" pitchFamily="34" charset="-122"/>
                <a:cs typeface="Courier New" pitchFamily="34" charset="-120"/>
              </a:rPr>
              <a:t>            where={"superseded": False},</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include=[...])</a:t>
            </a:r>
            <a:endParaRPr lang="en-US" sz="1400" dirty="0"/>
          </a:p>
          <a:p>
            <a:pPr indent="0" marL="0">
              <a:buNone/>
            </a:pPr>
            <a:r>
              <a:rPr lang="en-US" sz="1400" dirty="0">
                <a:solidFill>
                  <a:srgbClr val="8FD8CC"/>
                </a:solidFill>
                <a:latin typeface="Courier New" pitchFamily="34" charset="0"/>
                <a:ea typeface="Courier New" pitchFamily="34" charset="-122"/>
                <a:cs typeface="Courier New" pitchFamily="34" charset="-120"/>
              </a:rPr>
              <a:t>    else:                  # OFF: original query</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res = collection().query(</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query_embeddings=[qv], n_results=k,</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include=[...])</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537960" y="1417320"/>
          <a:ext cx="5074920" cy="914400"/>
        </p:xfrm>
        <a:graphic>
          <a:graphicData uri="http://schemas.openxmlformats.org/drawingml/2006/table">
            <a:tbl>
              <a:tblPr/>
              <a:tblGrid>
                <a:gridCol w="2240280"/>
                <a:gridCol w="1280160"/>
                <a:gridCol w="1554480"/>
              </a:tblGrid>
              <a:tr h="384048">
                <a:tc>
                  <a:txBody>
                    <a:bodyPr/>
                    <a:lstStyle/>
                    <a:p>
                      <a:pPr indent="0" marL="0">
                        <a:buNone/>
                      </a:pPr>
                      <a:r>
                        <a:rPr lang="en-US" sz="1300" b="1" dirty="0">
                          <a:solidFill>
                            <a:srgbClr val="FFFFFF"/>
                          </a:solidFill>
                        </a:rPr>
                        <a:t>Metric</a:t>
                      </a:r>
                      <a:endParaRPr lang="en-US" sz="1300" dirty="0"/>
                    </a:p>
                  </a:txBody>
                  <a:tcPr marL="91440" marR="91440" marT="36576" marB="36576">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OFF</a:t>
                      </a:r>
                      <a:endParaRPr lang="en-US" sz="1300" dirty="0"/>
                    </a:p>
                  </a:txBody>
                  <a:tcPr marL="91440" marR="91440" marT="36576" marB="36576">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ON (preview)</a:t>
                      </a:r>
                      <a:endParaRPr lang="en-US" sz="1300" dirty="0"/>
                    </a:p>
                  </a:txBody>
                  <a:tcPr marL="91440" marR="91440" marT="36576" marB="36576">
                    <a:lnL w="0" cap="flat" cmpd="sng" algn="ctr">
                      <a:noFill/>
                    </a:lnL>
                    <a:lnR w="0" cap="flat" cmpd="sng" algn="ctr">
                      <a:noFill/>
                    </a:lnR>
                    <a:lnT w="0" cap="flat" cmpd="sng" algn="ctr">
                      <a:noFill/>
                    </a:lnT>
                    <a:lnB w="0" cap="flat" cmpd="sng" algn="ctr">
                      <a:noFill/>
                    </a:lnB>
                    <a:solidFill>
                      <a:srgbClr val="1F2A37"/>
                    </a:solidFill>
                  </a:tcPr>
                </a:tc>
              </a:tr>
              <a:tr h="384048">
                <a:tc>
                  <a:txBody>
                    <a:bodyPr/>
                    <a:lstStyle/>
                    <a:p>
                      <a:pPr indent="0" marL="0">
                        <a:buNone/>
                      </a:pPr>
                      <a:r>
                        <a:rPr lang="en-US" sz="1400" dirty="0">
                          <a:solidFill>
                            <a:srgbClr val="1F2A37"/>
                          </a:solidFill>
                        </a:rPr>
                        <a:t>Superseded chunks</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E8833A"/>
                          </a:solidFill>
                        </a:rPr>
                        <a:t>48.8%</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0B6E61"/>
                          </a:solidFill>
                        </a:rPr>
                        <a:t>0.0%</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r>
              <a:tr h="384048">
                <a:tc>
                  <a:txBody>
                    <a:bodyPr/>
                    <a:lstStyle/>
                    <a:p>
                      <a:pPr indent="0" marL="0">
                        <a:buNone/>
                      </a:pPr>
                      <a:r>
                        <a:rPr lang="en-US" sz="1400" dirty="0">
                          <a:solidFill>
                            <a:srgbClr val="1F2A37"/>
                          </a:solidFill>
                        </a:rPr>
                        <a:t>Superseded cases</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E8833A"/>
                          </a:solidFill>
                        </a:rPr>
                        <a:t>0 / 9</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0B6E61"/>
                          </a:solidFill>
                        </a:rPr>
                        <a:t>9 / 9</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400" dirty="0">
                          <a:solidFill>
                            <a:srgbClr val="1F2A37"/>
                          </a:solidFill>
                        </a:rPr>
                        <a:t>Exact-string cases</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1F2A37"/>
                          </a:solidFill>
                        </a:rPr>
                        <a:t>7 / 7</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0B6E61"/>
                          </a:solidFill>
                        </a:rPr>
                        <a:t>7 / 7</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r>
              <a:tr h="384048">
                <a:tc>
                  <a:txBody>
                    <a:bodyPr/>
                    <a:lstStyle/>
                    <a:p>
                      <a:pPr indent="0" marL="0">
                        <a:buNone/>
                      </a:pPr>
                      <a:r>
                        <a:rPr lang="en-US" sz="1400" dirty="0">
                          <a:solidFill>
                            <a:srgbClr val="1F2A37"/>
                          </a:solidFill>
                        </a:rPr>
                        <a:t>Multi-hop cases</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1F2A37"/>
                          </a:solidFill>
                        </a:rPr>
                        <a:t>0 / 3</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0B6E61"/>
                          </a:solidFill>
                        </a:rPr>
                        <a:t>3 / 3</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400" dirty="0">
                          <a:solidFill>
                            <a:srgbClr val="1F2A37"/>
                          </a:solidFill>
                        </a:rPr>
                        <a:t>Median latency</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1F2A37"/>
                          </a:solidFill>
                        </a:rPr>
                        <a:t>143.8 ms</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1F2A37"/>
                          </a:solidFill>
                        </a:rPr>
                        <a:t>146.9 ms</a:t>
                      </a:r>
                      <a:endParaRPr lang="en-US" sz="1400" dirty="0"/>
                    </a:p>
                  </a:txBody>
                  <a:tcPr marL="91440" marR="91440" marT="36576" marB="36576">
                    <a:lnL w="0" cap="flat" cmpd="sng" algn="ctr">
                      <a:noFill/>
                    </a:lnL>
                    <a:lnR w="0" cap="flat" cmpd="sng" algn="ctr">
                      <a:noFill/>
                    </a:lnR>
                    <a:lnT w="0" cap="flat" cmpd="sng" algn="ctr">
                      <a:noFill/>
                    </a:lnT>
                    <a:lnB w="0" cap="flat" cmpd="sng" algn="ctr">
                      <a:noFill/>
                    </a:lnB>
                    <a:solidFill>
                      <a:srgbClr val="EEF2F5"/>
                    </a:solidFill>
                  </a:tcPr>
                </a:tc>
              </a:tr>
            </a:tbl>
          </a:graphicData>
        </a:graphic>
      </p:graphicFrame>
      <p:sp>
        <p:nvSpPr>
          <p:cNvPr id="6" name="honest note"/>
          <p:cNvSpPr/>
          <p:nvPr/>
        </p:nvSpPr>
        <p:spPr>
          <a:xfrm>
            <a:off x="6537960" y="3931920"/>
            <a:ext cx="5074920" cy="1828800"/>
          </a:xfrm>
          <a:prstGeom prst="roundRect">
            <a:avLst>
              <a:gd name="adj" fmla="val 6000"/>
            </a:avLst>
          </a:prstGeom>
          <a:solidFill>
            <a:srgbClr val="FDEBDC"/>
          </a:solidFill>
          <a:ln w="19050">
            <a:solidFill>
              <a:srgbClr val="E8833A"/>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6720840" y="4023360"/>
            <a:ext cx="4709160" cy="1645920"/>
          </a:xfrm>
          <a:prstGeom prst="rect">
            <a:avLst/>
          </a:prstGeom>
          <a:noFill/>
          <a:ln/>
        </p:spPr>
        <p:txBody>
          <a:bodyPr wrap="square" lIns="0" tIns="0" rIns="0" bIns="0" rtlCol="0" anchor="ctr"/>
          <a:lstStyle/>
          <a:p>
            <a:pPr indent="0" marL="0">
              <a:buNone/>
            </a:pPr>
            <a:r>
              <a:rPr lang="en-US" sz="1400" b="1" dirty="0">
                <a:solidFill>
                  <a:srgbClr val="E8833A"/>
                </a:solidFill>
              </a:rPr>
              <a:t>Live LLM test ("87% disk?"): </a:t>
            </a:r>
            <a:pPr indent="0" marL="0">
              <a:buNone/>
            </a:pPr>
            <a:r>
              <a:rPr lang="en-US" sz="1400" dirty="0">
                <a:solidFill>
                  <a:schemeClr val="tx1"/>
                </a:solidFill>
              </a:rPr>
              <a:t>correct in both modes, but with the filter OFF the stale 90% runbook was #2 in the context. A right answer on stale context is luck; B1 removes the luck.</a:t>
            </a:r>
            <a:endParaRPr lang="en-US" sz="1400" dirty="0"/>
          </a:p>
        </p:txBody>
      </p:sp>
      <p:sp>
        <p:nvSpPr>
          <p:cNvPr id="8" name="Text 5"/>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Tests: OFF identical to the Step 7 baseline (21 cases, same files) · ON preview 0/84 · commit 3e269fd</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Every step has a test, and every test is tested</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822960"/>
                <a:gridCol w="1463040"/>
                <a:gridCol w="4937760"/>
                <a:gridCol w="1280160"/>
                <a:gridCol w="2560320"/>
              </a:tblGrid>
              <a:tr h="411480">
                <a:tc>
                  <a:txBody>
                    <a:bodyPr/>
                    <a:lstStyle/>
                    <a:p>
                      <a:pPr indent="0" marL="0">
                        <a:buNone/>
                      </a:pPr>
                      <a:r>
                        <a:rPr lang="en-US" sz="1300" b="1" dirty="0">
                          <a:solidFill>
                            <a:srgbClr val="FFFFFF"/>
                          </a:solidFill>
                        </a:rPr>
                        <a:t>Step</a:t>
                      </a:r>
                      <a:endParaRPr lang="en-US" sz="1300" dirty="0"/>
                    </a:p>
                  </a:txBody>
                  <a:tcPr marL="109728" marR="109728" marT="45720" marB="45720">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Checks</a:t>
                      </a:r>
                      <a:endParaRPr lang="en-US" sz="1300" dirty="0"/>
                    </a:p>
                  </a:txBody>
                  <a:tcPr marL="109728" marR="109728" marT="45720" marB="45720">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What is verified</a:t>
                      </a:r>
                      <a:endParaRPr lang="en-US" sz="1300" dirty="0"/>
                    </a:p>
                  </a:txBody>
                  <a:tcPr marL="109728" marR="109728" marT="45720" marB="45720">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Real data</a:t>
                      </a:r>
                      <a:endParaRPr lang="en-US" sz="1300" dirty="0"/>
                    </a:p>
                  </a:txBody>
                  <a:tcPr marL="109728" marR="109728" marT="45720" marB="45720">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Negative test</a:t>
                      </a:r>
                      <a:endParaRPr lang="en-US" sz="1300" dirty="0"/>
                    </a:p>
                  </a:txBody>
                  <a:tcPr marL="109728" marR="109728" marT="45720" marB="45720">
                    <a:lnL w="0" cap="flat" cmpd="sng" algn="ctr">
                      <a:noFill/>
                    </a:lnL>
                    <a:lnR w="0" cap="flat" cmpd="sng" algn="ctr">
                      <a:noFill/>
                    </a:lnR>
                    <a:lnT w="0" cap="flat" cmpd="sng" algn="ctr">
                      <a:noFill/>
                    </a:lnT>
                    <a:lnB w="0" cap="flat" cmpd="sng" algn="ctr">
                      <a:noFill/>
                    </a:lnB>
                    <a:solidFill>
                      <a:srgbClr val="1F2A37"/>
                    </a:solidFill>
                  </a:tcPr>
                </a:tc>
              </a:tr>
              <a:tr h="411480">
                <a:tc>
                  <a:txBody>
                    <a:bodyPr/>
                    <a:lstStyle/>
                    <a:p>
                      <a:pPr indent="0" marL="0">
                        <a:buNone/>
                      </a:pPr>
                      <a:r>
                        <a:rPr lang="en-US" sz="1300" dirty="0">
                          <a:solidFill>
                            <a:srgbClr val="1F2A37"/>
                          </a:solidFill>
                        </a:rPr>
                        <a:t>3</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1F2A37"/>
                          </a:solidFill>
                        </a:rPr>
                        <a:t>Corpus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1F2A37"/>
                          </a:solidFill>
                        </a:rPr>
                        <a:t>16 files, 8 pairs, no banners; similarity trap measured</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F9D8A"/>
                          </a:solidFill>
                        </a:rPr>
                        <a:t>PASS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1F2A37"/>
                          </a:solidFill>
                        </a:rPr>
                        <a: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r>
              <a:tr h="411480">
                <a:tc>
                  <a:txBody>
                    <a:bodyPr/>
                    <a:lstStyle/>
                    <a:p>
                      <a:pPr indent="0" marL="0">
                        <a:buNone/>
                      </a:pPr>
                      <a:r>
                        <a:rPr lang="en-US" sz="1300" dirty="0">
                          <a:solidFill>
                            <a:srgbClr val="1F2A37"/>
                          </a:solidFill>
                        </a:rPr>
                        <a:t>4</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1F2A37"/>
                          </a:solidFill>
                        </a:rPr>
                        <a:t>Manifest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A37"/>
                          </a:solidFill>
                        </a:rPr>
                        <a:t>4 typed fields, 1 current per doc, 64 conflicts in their files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0F9D8A"/>
                          </a:solidFill>
                        </a:rPr>
                        <a:t>PASS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E8833A"/>
                          </a:solidFill>
                        </a:rPr>
                        <a:t>FAIL (5) on 3 injected errors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indent="0" marL="0">
                        <a:buNone/>
                      </a:pPr>
                      <a:r>
                        <a:rPr lang="en-US" sz="1300" dirty="0">
                          <a:solidFill>
                            <a:srgbClr val="1F2A37"/>
                          </a:solidFill>
                        </a:rPr>
                        <a:t>5</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1F2A37"/>
                          </a:solidFill>
                        </a:rPr>
                        <a:t>Golden set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1F2A37"/>
                          </a:solidFill>
                        </a:rPr>
                        <a:t>cites resolve, banned strings old-only, values verbatim, paraphrased</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F9D8A"/>
                          </a:solidFill>
                        </a:rPr>
                        <a:t>PASS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E8833A"/>
                          </a:solidFill>
                        </a:rPr>
                        <a:t>FAIL (4) on 2 injected errors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r>
              <a:tr h="411480">
                <a:tc>
                  <a:txBody>
                    <a:bodyPr/>
                    <a:lstStyle/>
                    <a:p>
                      <a:pPr indent="0" marL="0">
                        <a:buNone/>
                      </a:pPr>
                      <a:r>
                        <a:rPr lang="en-US" sz="1300" dirty="0">
                          <a:solidFill>
                            <a:srgbClr val="1F2A37"/>
                          </a:solidFill>
                        </a:rPr>
                        <a:t>7</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1F2A37"/>
                          </a:solidFill>
                        </a:rPr>
                        <a:t>BEFORE run</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A37"/>
                          </a:solidFill>
                        </a:rPr>
                        <a:t>48.8% superseded; rerun identical; --on refuses until built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0F9D8A"/>
                          </a:solidFill>
                        </a:rPr>
                        <a:t>DONE</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A37"/>
                          </a:solidFill>
                        </a:rPr>
                        <a: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indent="0" marL="0">
                        <a:buNone/>
                      </a:pPr>
                      <a:r>
                        <a:rPr lang="en-US" sz="1300" dirty="0">
                          <a:solidFill>
                            <a:srgbClr val="1F2A37"/>
                          </a:solidFill>
                        </a:rPr>
                        <a:t>8</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1F2A37"/>
                          </a:solidFill>
                        </a:rPr>
                        <a:t>Chroma</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1F2A37"/>
                          </a:solidFill>
                        </a:rPr>
                        <a:t>17/17 chunks tagged; where-filter splits 8/8 files; OFF unchanged</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F9D8A"/>
                          </a:solidFill>
                        </a:rPr>
                        <a:t>PASS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E8833A"/>
                          </a:solidFill>
                        </a:rPr>
                        <a:t>FAIL (18) before re-ingest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r>
              <a:tr h="411480">
                <a:tc>
                  <a:txBody>
                    <a:bodyPr/>
                    <a:lstStyle/>
                    <a:p>
                      <a:pPr indent="0" marL="0">
                        <a:buNone/>
                      </a:pPr>
                      <a:r>
                        <a:rPr lang="en-US" sz="1300" dirty="0">
                          <a:solidFill>
                            <a:srgbClr val="1F2A37"/>
                          </a:solidFill>
                        </a:rPr>
                        <a:t>9–10</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1F2A37"/>
                          </a:solidFill>
                        </a:rPr>
                        <a:t>Filter</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A37"/>
                          </a:solidFill>
                        </a:rPr>
                        <a:t>OFF identical to baseline; ON preview 0.0%, exact 7/7</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b="1" dirty="0">
                          <a:solidFill>
                            <a:srgbClr val="0F9D8A"/>
                          </a:solidFill>
                        </a:rPr>
                        <a:t>PASS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F2A37"/>
                          </a:solidFill>
                        </a:rPr>
                        <a: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indent="0" marL="0">
                        <a:buNone/>
                      </a:pPr>
                      <a:r>
                        <a:rPr lang="en-US" sz="1300" dirty="0">
                          <a:solidFill>
                            <a:srgbClr val="1F2A37"/>
                          </a:solidFill>
                        </a:rPr>
                        <a:t>11–12</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1F2A37"/>
                          </a:solidFill>
                        </a:rPr>
                        <a:t>AFTER + report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1F2A37"/>
                          </a:solidFill>
                        </a:rPr>
                        <a:t>0.0% · 9/9 · 7/7 · 3/3; fair latency +0.9 ms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b="1" dirty="0">
                          <a:solidFill>
                            <a:srgbClr val="0F9D8A"/>
                          </a:solidFill>
                        </a:rPr>
                        <a:t>PASS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300" dirty="0">
                          <a:solidFill>
                            <a:srgbClr val="1F2A37"/>
                          </a:solidFill>
                        </a:rPr>
                        <a:t>—</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rgbClr val="EEF2F5"/>
                    </a:solidFill>
                  </a:tcPr>
                </a:tc>
              </a:tr>
            </a:tbl>
          </a:graphicData>
        </a:graphic>
      </p:graphicFrame>
      <p:sp>
        <p:nvSpPr>
          <p:cNvPr id="4" name="negative test idea"/>
          <p:cNvSpPr/>
          <p:nvPr/>
        </p:nvSpPr>
        <p:spPr>
          <a:xfrm>
            <a:off x="548640" y="5074920"/>
            <a:ext cx="11064240" cy="868680"/>
          </a:xfrm>
          <a:prstGeom prst="roundRect">
            <a:avLst>
              <a:gd name="adj" fmla="val 12632"/>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822960" y="5093208"/>
            <a:ext cx="10515600" cy="822960"/>
          </a:xfrm>
          <a:prstGeom prst="rect">
            <a:avLst/>
          </a:prstGeom>
          <a:noFill/>
          <a:ln/>
        </p:spPr>
        <p:txBody>
          <a:bodyPr wrap="square" lIns="0" tIns="0" rIns="0" bIns="0" rtlCol="0" anchor="ctr"/>
          <a:lstStyle/>
          <a:p>
            <a:pPr indent="0" marL="0">
              <a:buNone/>
            </a:pPr>
            <a:r>
              <a:rPr lang="en-US" sz="1400" b="1" dirty="0">
                <a:solidFill>
                  <a:srgbClr val="0B6E61"/>
                </a:solidFill>
              </a:rPr>
              <a:t>Negative test: </a:t>
            </a:r>
            <a:pPr indent="0" marL="0">
              <a:buNone/>
            </a:pPr>
            <a:r>
              <a:rPr lang="en-US" sz="1400" dirty="0">
                <a:solidFill>
                  <a:schemeClr val="tx1"/>
                </a:solidFill>
              </a:rPr>
              <a:t>break the data on purpose (mark an old file current, ban the right answer), run the checks, confirm they FAIL, then restore. A check that never fails proves nothing.</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31 copy-paste test cases, all passing</a:t>
            </a:r>
            <a:endParaRPr lang="en-US" sz="3400" dirty="0"/>
          </a:p>
        </p:txBody>
      </p:sp>
      <p:sp>
        <p:nvSpPr>
          <p:cNvPr id="3" name="area A"/>
          <p:cNvSpPr/>
          <p:nvPr/>
        </p:nvSpPr>
        <p:spPr>
          <a:xfrm>
            <a:off x="548640" y="1417320"/>
            <a:ext cx="2606040" cy="1234440"/>
          </a:xfrm>
          <a:prstGeom prst="roundRect">
            <a:avLst>
              <a:gd name="adj" fmla="val 8889"/>
            </a:avLst>
          </a:prstGeom>
          <a:solidFill>
            <a:srgbClr val="EEF2F5"/>
          </a:solidFill>
          <a:ln/>
          <a:effectLst>
            <a:outerShdw sx="100000" sy="100000" kx="0" ky="0" algn="bl" rotWithShape="0" blurRad="76200" dist="25400" dir="5400000">
              <a:srgbClr val="000000">
                <a:alpha val="12000"/>
              </a:srgbClr>
            </a:outerShdw>
          </a:effectLst>
        </p:spPr>
      </p:sp>
      <p:sp>
        <p:nvSpPr>
          <p:cNvPr id="4" name="Text 2"/>
          <p:cNvSpPr txBox="1"/>
          <p:nvPr/>
        </p:nvSpPr>
        <p:spPr>
          <a:xfrm>
            <a:off x="731520" y="1527048"/>
            <a:ext cx="1737360" cy="365760"/>
          </a:xfrm>
          <a:prstGeom prst="rect">
            <a:avLst/>
          </a:prstGeom>
          <a:noFill/>
          <a:ln/>
        </p:spPr>
        <p:txBody>
          <a:bodyPr wrap="square" lIns="0" tIns="0" rIns="0" bIns="0" rtlCol="0" anchor="ctr"/>
          <a:lstStyle/>
          <a:p>
            <a:pPr indent="0" marL="0">
              <a:buNone/>
            </a:pPr>
            <a:r>
              <a:rPr lang="en-US" sz="1500" b="1" dirty="0">
                <a:solidFill>
                  <a:schemeClr val="tx1"/>
                </a:solidFill>
              </a:rPr>
              <a:t>A. Setup</a:t>
            </a:r>
            <a:endParaRPr lang="en-US" sz="1500" dirty="0"/>
          </a:p>
        </p:txBody>
      </p:sp>
      <p:sp>
        <p:nvSpPr>
          <p:cNvPr id="5" name="Text 3"/>
          <p:cNvSpPr txBox="1"/>
          <p:nvPr/>
        </p:nvSpPr>
        <p:spPr>
          <a:xfrm>
            <a:off x="2423160" y="1490472"/>
            <a:ext cx="548640" cy="457200"/>
          </a:xfrm>
          <a:prstGeom prst="rect">
            <a:avLst/>
          </a:prstGeom>
          <a:noFill/>
          <a:ln/>
        </p:spPr>
        <p:txBody>
          <a:bodyPr wrap="square" lIns="0" tIns="0" rIns="0" bIns="0" rtlCol="0" anchor="ctr"/>
          <a:lstStyle/>
          <a:p>
            <a:pPr algn="r" indent="0" marL="0">
              <a:buNone/>
            </a:pPr>
            <a:r>
              <a:rPr lang="en-US" sz="2400" b="1" dirty="0">
                <a:solidFill>
                  <a:schemeClr val="accent1"/>
                </a:solidFill>
                <a:latin typeface="Cambria" pitchFamily="34" charset="0"/>
                <a:ea typeface="Cambria" pitchFamily="34" charset="-122"/>
                <a:cs typeface="Cambria" pitchFamily="34" charset="-120"/>
              </a:rPr>
              <a:t>3</a:t>
            </a:r>
            <a:endParaRPr lang="en-US" sz="2400" dirty="0"/>
          </a:p>
        </p:txBody>
      </p:sp>
      <p:sp>
        <p:nvSpPr>
          <p:cNvPr id="6" name="Text 4"/>
          <p:cNvSpPr txBox="1"/>
          <p:nvPr/>
        </p:nvSpPr>
        <p:spPr>
          <a:xfrm>
            <a:off x="731520" y="1965960"/>
            <a:ext cx="2286000" cy="594360"/>
          </a:xfrm>
          <a:prstGeom prst="rect">
            <a:avLst/>
          </a:prstGeom>
          <a:noFill/>
          <a:ln/>
        </p:spPr>
        <p:txBody>
          <a:bodyPr wrap="square" lIns="0" tIns="0" rIns="0" bIns="0" rtlCol="0" anchor="t"/>
          <a:lstStyle/>
          <a:p>
            <a:pPr indent="0" marL="0">
              <a:buNone/>
            </a:pPr>
            <a:r>
              <a:rPr lang="en-US" sz="1200" dirty="0">
                <a:solidFill>
                  <a:schemeClr val="tx1"/>
                </a:solidFill>
              </a:rPr>
              <a:t>prereqs · clone · venv</a:t>
            </a:r>
            <a:endParaRPr lang="en-US" sz="1200" dirty="0"/>
          </a:p>
        </p:txBody>
      </p:sp>
      <p:sp>
        <p:nvSpPr>
          <p:cNvPr id="7" name="area B"/>
          <p:cNvSpPr/>
          <p:nvPr/>
        </p:nvSpPr>
        <p:spPr>
          <a:xfrm>
            <a:off x="3337560" y="1417320"/>
            <a:ext cx="2606040" cy="1234440"/>
          </a:xfrm>
          <a:prstGeom prst="roundRect">
            <a:avLst>
              <a:gd name="adj" fmla="val 8889"/>
            </a:avLst>
          </a:prstGeom>
          <a:solidFill>
            <a:srgbClr val="EEF2F5"/>
          </a:solidFill>
          <a:ln/>
          <a:effectLst>
            <a:outerShdw sx="100000" sy="100000" kx="0" ky="0" algn="bl" rotWithShape="0" blurRad="76200" dist="25400" dir="5400000">
              <a:srgbClr val="000000">
                <a:alpha val="12000"/>
              </a:srgbClr>
            </a:outerShdw>
          </a:effectLst>
        </p:spPr>
      </p:sp>
      <p:sp>
        <p:nvSpPr>
          <p:cNvPr id="8" name="Text 6"/>
          <p:cNvSpPr txBox="1"/>
          <p:nvPr/>
        </p:nvSpPr>
        <p:spPr>
          <a:xfrm>
            <a:off x="3520440" y="1527048"/>
            <a:ext cx="1737360" cy="365760"/>
          </a:xfrm>
          <a:prstGeom prst="rect">
            <a:avLst/>
          </a:prstGeom>
          <a:noFill/>
          <a:ln/>
        </p:spPr>
        <p:txBody>
          <a:bodyPr wrap="square" lIns="0" tIns="0" rIns="0" bIns="0" rtlCol="0" anchor="ctr"/>
          <a:lstStyle/>
          <a:p>
            <a:pPr indent="0" marL="0">
              <a:buNone/>
            </a:pPr>
            <a:r>
              <a:rPr lang="en-US" sz="1500" b="1" dirty="0">
                <a:solidFill>
                  <a:schemeClr val="tx1"/>
                </a:solidFill>
              </a:rPr>
              <a:t>B. Data</a:t>
            </a:r>
            <a:endParaRPr lang="en-US" sz="1500" dirty="0"/>
          </a:p>
        </p:txBody>
      </p:sp>
      <p:sp>
        <p:nvSpPr>
          <p:cNvPr id="9" name="Text 7"/>
          <p:cNvSpPr txBox="1"/>
          <p:nvPr/>
        </p:nvSpPr>
        <p:spPr>
          <a:xfrm>
            <a:off x="5212080" y="1490472"/>
            <a:ext cx="548640" cy="457200"/>
          </a:xfrm>
          <a:prstGeom prst="rect">
            <a:avLst/>
          </a:prstGeom>
          <a:noFill/>
          <a:ln/>
        </p:spPr>
        <p:txBody>
          <a:bodyPr wrap="square" lIns="0" tIns="0" rIns="0" bIns="0" rtlCol="0" anchor="ctr"/>
          <a:lstStyle/>
          <a:p>
            <a:pPr algn="r" indent="0" marL="0">
              <a:buNone/>
            </a:pPr>
            <a:r>
              <a:rPr lang="en-US" sz="2400" b="1" dirty="0">
                <a:solidFill>
                  <a:schemeClr val="accent1"/>
                </a:solidFill>
                <a:latin typeface="Cambria" pitchFamily="34" charset="0"/>
                <a:ea typeface="Cambria" pitchFamily="34" charset="-122"/>
                <a:cs typeface="Cambria" pitchFamily="34" charset="-120"/>
              </a:rPr>
              <a:t>3</a:t>
            </a:r>
            <a:endParaRPr lang="en-US" sz="2400" dirty="0"/>
          </a:p>
        </p:txBody>
      </p:sp>
      <p:sp>
        <p:nvSpPr>
          <p:cNvPr id="10" name="Text 8"/>
          <p:cNvSpPr txBox="1"/>
          <p:nvPr/>
        </p:nvSpPr>
        <p:spPr>
          <a:xfrm>
            <a:off x="3520440" y="1965960"/>
            <a:ext cx="2286000" cy="594360"/>
          </a:xfrm>
          <a:prstGeom prst="rect">
            <a:avLst/>
          </a:prstGeom>
          <a:noFill/>
          <a:ln/>
        </p:spPr>
        <p:txBody>
          <a:bodyPr wrap="square" lIns="0" tIns="0" rIns="0" bIns="0" rtlCol="0" anchor="t"/>
          <a:lstStyle/>
          <a:p>
            <a:pPr indent="0" marL="0">
              <a:buNone/>
            </a:pPr>
            <a:r>
              <a:rPr lang="en-US" sz="1200" dirty="0">
                <a:solidFill>
                  <a:schemeClr val="tx1"/>
                </a:solidFill>
              </a:rPr>
              <a:t>consistency · trap · fingerprints</a:t>
            </a:r>
            <a:endParaRPr lang="en-US" sz="1200" dirty="0"/>
          </a:p>
        </p:txBody>
      </p:sp>
      <p:sp>
        <p:nvSpPr>
          <p:cNvPr id="11" name="area C"/>
          <p:cNvSpPr/>
          <p:nvPr/>
        </p:nvSpPr>
        <p:spPr>
          <a:xfrm>
            <a:off x="6126480" y="1417320"/>
            <a:ext cx="2606040" cy="1234440"/>
          </a:xfrm>
          <a:prstGeom prst="roundRect">
            <a:avLst>
              <a:gd name="adj" fmla="val 8889"/>
            </a:avLst>
          </a:prstGeom>
          <a:solidFill>
            <a:srgbClr val="EEF2F5"/>
          </a:solidFill>
          <a:ln/>
          <a:effectLst>
            <a:outerShdw sx="100000" sy="100000" kx="0" ky="0" algn="bl" rotWithShape="0" blurRad="76200" dist="25400" dir="5400000">
              <a:srgbClr val="000000">
                <a:alpha val="12000"/>
              </a:srgbClr>
            </a:outerShdw>
          </a:effectLst>
        </p:spPr>
      </p:sp>
      <p:sp>
        <p:nvSpPr>
          <p:cNvPr id="12" name="Text 10"/>
          <p:cNvSpPr txBox="1"/>
          <p:nvPr/>
        </p:nvSpPr>
        <p:spPr>
          <a:xfrm>
            <a:off x="6309360" y="1527048"/>
            <a:ext cx="1737360" cy="365760"/>
          </a:xfrm>
          <a:prstGeom prst="rect">
            <a:avLst/>
          </a:prstGeom>
          <a:noFill/>
          <a:ln/>
        </p:spPr>
        <p:txBody>
          <a:bodyPr wrap="square" lIns="0" tIns="0" rIns="0" bIns="0" rtlCol="0" anchor="ctr"/>
          <a:lstStyle/>
          <a:p>
            <a:pPr indent="0" marL="0">
              <a:buNone/>
            </a:pPr>
            <a:r>
              <a:rPr lang="en-US" sz="1500" b="1" dirty="0">
                <a:solidFill>
                  <a:schemeClr val="tx1"/>
                </a:solidFill>
              </a:rPr>
              <a:t>C. Chroma</a:t>
            </a:r>
            <a:endParaRPr lang="en-US" sz="1500" dirty="0"/>
          </a:p>
        </p:txBody>
      </p:sp>
      <p:sp>
        <p:nvSpPr>
          <p:cNvPr id="13" name="Text 11"/>
          <p:cNvSpPr txBox="1"/>
          <p:nvPr/>
        </p:nvSpPr>
        <p:spPr>
          <a:xfrm>
            <a:off x="8001000" y="1490472"/>
            <a:ext cx="548640" cy="457200"/>
          </a:xfrm>
          <a:prstGeom prst="rect">
            <a:avLst/>
          </a:prstGeom>
          <a:noFill/>
          <a:ln/>
        </p:spPr>
        <p:txBody>
          <a:bodyPr wrap="square" lIns="0" tIns="0" rIns="0" bIns="0" rtlCol="0" anchor="ctr"/>
          <a:lstStyle/>
          <a:p>
            <a:pPr algn="r" indent="0" marL="0">
              <a:buNone/>
            </a:pPr>
            <a:r>
              <a:rPr lang="en-US" sz="2400" b="1" dirty="0">
                <a:solidFill>
                  <a:schemeClr val="accent1"/>
                </a:solidFill>
                <a:latin typeface="Cambria" pitchFamily="34" charset="0"/>
                <a:ea typeface="Cambria" pitchFamily="34" charset="-122"/>
                <a:cs typeface="Cambria" pitchFamily="34" charset="-120"/>
              </a:rPr>
              <a:t>4</a:t>
            </a:r>
            <a:endParaRPr lang="en-US" sz="2400" dirty="0"/>
          </a:p>
        </p:txBody>
      </p:sp>
      <p:sp>
        <p:nvSpPr>
          <p:cNvPr id="14" name="Text 12"/>
          <p:cNvSpPr txBox="1"/>
          <p:nvPr/>
        </p:nvSpPr>
        <p:spPr>
          <a:xfrm>
            <a:off x="6309360" y="1965960"/>
            <a:ext cx="2286000" cy="594360"/>
          </a:xfrm>
          <a:prstGeom prst="rect">
            <a:avLst/>
          </a:prstGeom>
          <a:noFill/>
          <a:ln/>
        </p:spPr>
        <p:txBody>
          <a:bodyPr wrap="square" lIns="0" tIns="0" rIns="0" bIns="0" rtlCol="0" anchor="t"/>
          <a:lstStyle/>
          <a:p>
            <a:pPr indent="0" marL="0">
              <a:buNone/>
            </a:pPr>
            <a:r>
              <a:rPr lang="en-US" sz="1200" dirty="0">
                <a:solidFill>
                  <a:schemeClr val="tx1"/>
                </a:solidFill>
              </a:rPr>
              <a:t>ingest · metadata · raw query · filter demo</a:t>
            </a:r>
            <a:endParaRPr lang="en-US" sz="1200" dirty="0"/>
          </a:p>
        </p:txBody>
      </p:sp>
      <p:sp>
        <p:nvSpPr>
          <p:cNvPr id="15" name="area D"/>
          <p:cNvSpPr/>
          <p:nvPr/>
        </p:nvSpPr>
        <p:spPr>
          <a:xfrm>
            <a:off x="8915400" y="1417320"/>
            <a:ext cx="2606040" cy="1234440"/>
          </a:xfrm>
          <a:prstGeom prst="roundRect">
            <a:avLst>
              <a:gd name="adj" fmla="val 8889"/>
            </a:avLst>
          </a:prstGeom>
          <a:solidFill>
            <a:srgbClr val="EEF2F5"/>
          </a:solidFill>
          <a:ln/>
          <a:effectLst>
            <a:outerShdw sx="100000" sy="100000" kx="0" ky="0" algn="bl" rotWithShape="0" blurRad="76200" dist="25400" dir="5400000">
              <a:srgbClr val="000000">
                <a:alpha val="12000"/>
              </a:srgbClr>
            </a:outerShdw>
          </a:effectLst>
        </p:spPr>
      </p:sp>
      <p:sp>
        <p:nvSpPr>
          <p:cNvPr id="16" name="Text 14"/>
          <p:cNvSpPr txBox="1"/>
          <p:nvPr/>
        </p:nvSpPr>
        <p:spPr>
          <a:xfrm>
            <a:off x="9098280" y="1527048"/>
            <a:ext cx="1737360" cy="365760"/>
          </a:xfrm>
          <a:prstGeom prst="rect">
            <a:avLst/>
          </a:prstGeom>
          <a:noFill/>
          <a:ln/>
        </p:spPr>
        <p:txBody>
          <a:bodyPr wrap="square" lIns="0" tIns="0" rIns="0" bIns="0" rtlCol="0" anchor="ctr"/>
          <a:lstStyle/>
          <a:p>
            <a:pPr indent="0" marL="0">
              <a:buNone/>
            </a:pPr>
            <a:r>
              <a:rPr lang="en-US" sz="1500" b="1" dirty="0">
                <a:solidFill>
                  <a:schemeClr val="tx1"/>
                </a:solidFill>
              </a:rPr>
              <a:t>D. Ablation</a:t>
            </a:r>
            <a:endParaRPr lang="en-US" sz="1500" dirty="0"/>
          </a:p>
        </p:txBody>
      </p:sp>
      <p:sp>
        <p:nvSpPr>
          <p:cNvPr id="17" name="Text 15"/>
          <p:cNvSpPr txBox="1"/>
          <p:nvPr/>
        </p:nvSpPr>
        <p:spPr>
          <a:xfrm>
            <a:off x="10789920" y="1490472"/>
            <a:ext cx="548640" cy="457200"/>
          </a:xfrm>
          <a:prstGeom prst="rect">
            <a:avLst/>
          </a:prstGeom>
          <a:noFill/>
          <a:ln/>
        </p:spPr>
        <p:txBody>
          <a:bodyPr wrap="square" lIns="0" tIns="0" rIns="0" bIns="0" rtlCol="0" anchor="ctr"/>
          <a:lstStyle/>
          <a:p>
            <a:pPr algn="r" indent="0" marL="0">
              <a:buNone/>
            </a:pPr>
            <a:r>
              <a:rPr lang="en-US" sz="2400" b="1" dirty="0">
                <a:solidFill>
                  <a:schemeClr val="accent1"/>
                </a:solidFill>
                <a:latin typeface="Cambria" pitchFamily="34" charset="0"/>
                <a:ea typeface="Cambria" pitchFamily="34" charset="-122"/>
                <a:cs typeface="Cambria" pitchFamily="34" charset="-120"/>
              </a:rPr>
              <a:t>6</a:t>
            </a:r>
            <a:endParaRPr lang="en-US" sz="2400" dirty="0"/>
          </a:p>
        </p:txBody>
      </p:sp>
      <p:sp>
        <p:nvSpPr>
          <p:cNvPr id="18" name="Text 16"/>
          <p:cNvSpPr txBox="1"/>
          <p:nvPr/>
        </p:nvSpPr>
        <p:spPr>
          <a:xfrm>
            <a:off x="9098280" y="1965960"/>
            <a:ext cx="2286000" cy="594360"/>
          </a:xfrm>
          <a:prstGeom prst="rect">
            <a:avLst/>
          </a:prstGeom>
          <a:noFill/>
          <a:ln/>
        </p:spPr>
        <p:txBody>
          <a:bodyPr wrap="square" lIns="0" tIns="0" rIns="0" bIns="0" rtlCol="0" anchor="t"/>
          <a:lstStyle/>
          <a:p>
            <a:pPr indent="0" marL="0">
              <a:buNone/>
            </a:pPr>
            <a:r>
              <a:rPr lang="en-US" sz="1200" dirty="0">
                <a:solidFill>
                  <a:schemeClr val="tx1"/>
                </a:solidFill>
              </a:rPr>
              <a:t>OFF · ON · per case · determinism · latency</a:t>
            </a:r>
            <a:endParaRPr lang="en-US" sz="1200" dirty="0"/>
          </a:p>
        </p:txBody>
      </p:sp>
      <p:sp>
        <p:nvSpPr>
          <p:cNvPr id="19" name="area E"/>
          <p:cNvSpPr/>
          <p:nvPr/>
        </p:nvSpPr>
        <p:spPr>
          <a:xfrm>
            <a:off x="548640" y="2834640"/>
            <a:ext cx="2606040" cy="1234440"/>
          </a:xfrm>
          <a:prstGeom prst="roundRect">
            <a:avLst>
              <a:gd name="adj" fmla="val 8889"/>
            </a:avLst>
          </a:prstGeom>
          <a:solidFill>
            <a:srgbClr val="FDEBDC"/>
          </a:solidFill>
          <a:ln/>
          <a:effectLst>
            <a:outerShdw sx="100000" sy="100000" kx="0" ky="0" algn="bl" rotWithShape="0" blurRad="76200" dist="25400" dir="5400000">
              <a:srgbClr val="000000">
                <a:alpha val="12000"/>
              </a:srgbClr>
            </a:outerShdw>
          </a:effectLst>
        </p:spPr>
      </p:sp>
      <p:sp>
        <p:nvSpPr>
          <p:cNvPr id="20" name="Text 18"/>
          <p:cNvSpPr txBox="1"/>
          <p:nvPr/>
        </p:nvSpPr>
        <p:spPr>
          <a:xfrm>
            <a:off x="731520" y="2944368"/>
            <a:ext cx="1737360" cy="365760"/>
          </a:xfrm>
          <a:prstGeom prst="rect">
            <a:avLst/>
          </a:prstGeom>
          <a:noFill/>
          <a:ln/>
        </p:spPr>
        <p:txBody>
          <a:bodyPr wrap="square" lIns="0" tIns="0" rIns="0" bIns="0" rtlCol="0" anchor="ctr"/>
          <a:lstStyle/>
          <a:p>
            <a:pPr indent="0" marL="0">
              <a:buNone/>
            </a:pPr>
            <a:r>
              <a:rPr lang="en-US" sz="1500" b="1" dirty="0">
                <a:solidFill>
                  <a:schemeClr val="tx1"/>
                </a:solidFill>
              </a:rPr>
              <a:t>E. LLM answers</a:t>
            </a:r>
            <a:endParaRPr lang="en-US" sz="1500" dirty="0"/>
          </a:p>
        </p:txBody>
      </p:sp>
      <p:sp>
        <p:nvSpPr>
          <p:cNvPr id="21" name="Text 19"/>
          <p:cNvSpPr txBox="1"/>
          <p:nvPr/>
        </p:nvSpPr>
        <p:spPr>
          <a:xfrm>
            <a:off x="2423160" y="2907792"/>
            <a:ext cx="548640" cy="457200"/>
          </a:xfrm>
          <a:prstGeom prst="rect">
            <a:avLst/>
          </a:prstGeom>
          <a:noFill/>
          <a:ln/>
        </p:spPr>
        <p:txBody>
          <a:bodyPr wrap="square" lIns="0" tIns="0" rIns="0" bIns="0" rtlCol="0" anchor="ctr"/>
          <a:lstStyle/>
          <a:p>
            <a:pPr algn="r" indent="0" marL="0">
              <a:buNone/>
            </a:pPr>
            <a:r>
              <a:rPr lang="en-US" sz="2400" b="1" dirty="0">
                <a:solidFill>
                  <a:schemeClr val="accent1"/>
                </a:solidFill>
                <a:latin typeface="Cambria" pitchFamily="34" charset="0"/>
                <a:ea typeface="Cambria" pitchFamily="34" charset="-122"/>
                <a:cs typeface="Cambria" pitchFamily="34" charset="-120"/>
              </a:rPr>
              <a:t>6</a:t>
            </a:r>
            <a:endParaRPr lang="en-US" sz="2400" dirty="0"/>
          </a:p>
        </p:txBody>
      </p:sp>
      <p:sp>
        <p:nvSpPr>
          <p:cNvPr id="22" name="Text 20"/>
          <p:cNvSpPr txBox="1"/>
          <p:nvPr/>
        </p:nvSpPr>
        <p:spPr>
          <a:xfrm>
            <a:off x="731520" y="3383280"/>
            <a:ext cx="2286000" cy="594360"/>
          </a:xfrm>
          <a:prstGeom prst="rect">
            <a:avLst/>
          </a:prstGeom>
          <a:noFill/>
          <a:ln/>
        </p:spPr>
        <p:txBody>
          <a:bodyPr wrap="square" lIns="0" tIns="0" rIns="0" bIns="0" rtlCol="0" anchor="t"/>
          <a:lstStyle/>
          <a:p>
            <a:pPr indent="0" marL="0">
              <a:buNone/>
            </a:pPr>
            <a:r>
              <a:rPr lang="en-US" sz="1200" dirty="0">
                <a:solidFill>
                  <a:schemeClr val="tx1"/>
                </a:solidFill>
              </a:rPr>
              <a:t>stale threshold · exact value · unanswerable</a:t>
            </a:r>
            <a:endParaRPr lang="en-US" sz="1200" dirty="0"/>
          </a:p>
        </p:txBody>
      </p:sp>
      <p:sp>
        <p:nvSpPr>
          <p:cNvPr id="23" name="area F"/>
          <p:cNvSpPr/>
          <p:nvPr/>
        </p:nvSpPr>
        <p:spPr>
          <a:xfrm>
            <a:off x="3337560" y="2834640"/>
            <a:ext cx="2606040" cy="1234440"/>
          </a:xfrm>
          <a:prstGeom prst="roundRect">
            <a:avLst>
              <a:gd name="adj" fmla="val 8889"/>
            </a:avLst>
          </a:prstGeom>
          <a:solidFill>
            <a:srgbClr val="EEF2F5"/>
          </a:solidFill>
          <a:ln/>
          <a:effectLst>
            <a:outerShdw sx="100000" sy="100000" kx="0" ky="0" algn="bl" rotWithShape="0" blurRad="76200" dist="25400" dir="5400000">
              <a:srgbClr val="000000">
                <a:alpha val="12000"/>
              </a:srgbClr>
            </a:outerShdw>
          </a:effectLst>
        </p:spPr>
      </p:sp>
      <p:sp>
        <p:nvSpPr>
          <p:cNvPr id="24" name="Text 22"/>
          <p:cNvSpPr txBox="1"/>
          <p:nvPr/>
        </p:nvSpPr>
        <p:spPr>
          <a:xfrm>
            <a:off x="3520440" y="2944368"/>
            <a:ext cx="1737360" cy="365760"/>
          </a:xfrm>
          <a:prstGeom prst="rect">
            <a:avLst/>
          </a:prstGeom>
          <a:noFill/>
          <a:ln/>
        </p:spPr>
        <p:txBody>
          <a:bodyPr wrap="square" lIns="0" tIns="0" rIns="0" bIns="0" rtlCol="0" anchor="ctr"/>
          <a:lstStyle/>
          <a:p>
            <a:pPr indent="0" marL="0">
              <a:buNone/>
            </a:pPr>
            <a:r>
              <a:rPr lang="en-US" sz="1500" b="1" dirty="0">
                <a:solidFill>
                  <a:schemeClr val="tx1"/>
                </a:solidFill>
              </a:rPr>
              <a:t>F. Negative</a:t>
            </a:r>
            <a:endParaRPr lang="en-US" sz="1500" dirty="0"/>
          </a:p>
        </p:txBody>
      </p:sp>
      <p:sp>
        <p:nvSpPr>
          <p:cNvPr id="25" name="Text 23"/>
          <p:cNvSpPr txBox="1"/>
          <p:nvPr/>
        </p:nvSpPr>
        <p:spPr>
          <a:xfrm>
            <a:off x="5212080" y="2907792"/>
            <a:ext cx="548640" cy="457200"/>
          </a:xfrm>
          <a:prstGeom prst="rect">
            <a:avLst/>
          </a:prstGeom>
          <a:noFill/>
          <a:ln/>
        </p:spPr>
        <p:txBody>
          <a:bodyPr wrap="square" lIns="0" tIns="0" rIns="0" bIns="0" rtlCol="0" anchor="ctr"/>
          <a:lstStyle/>
          <a:p>
            <a:pPr algn="r" indent="0" marL="0">
              <a:buNone/>
            </a:pPr>
            <a:r>
              <a:rPr lang="en-US" sz="2400" b="1" dirty="0">
                <a:solidFill>
                  <a:schemeClr val="accent1"/>
                </a:solidFill>
                <a:latin typeface="Cambria" pitchFamily="34" charset="0"/>
                <a:ea typeface="Cambria" pitchFamily="34" charset="-122"/>
                <a:cs typeface="Cambria" pitchFamily="34" charset="-120"/>
              </a:rPr>
              <a:t>3</a:t>
            </a:r>
            <a:endParaRPr lang="en-US" sz="2400" dirty="0"/>
          </a:p>
        </p:txBody>
      </p:sp>
      <p:sp>
        <p:nvSpPr>
          <p:cNvPr id="26" name="Text 24"/>
          <p:cNvSpPr txBox="1"/>
          <p:nvPr/>
        </p:nvSpPr>
        <p:spPr>
          <a:xfrm>
            <a:off x="3520440" y="3383280"/>
            <a:ext cx="2286000" cy="594360"/>
          </a:xfrm>
          <a:prstGeom prst="rect">
            <a:avLst/>
          </a:prstGeom>
          <a:noFill/>
          <a:ln/>
        </p:spPr>
        <p:txBody>
          <a:bodyPr wrap="square" lIns="0" tIns="0" rIns="0" bIns="0" rtlCol="0" anchor="t"/>
          <a:lstStyle/>
          <a:p>
            <a:pPr indent="0" marL="0">
              <a:buNone/>
            </a:pPr>
            <a:r>
              <a:rPr lang="en-US" sz="1200" dirty="0">
                <a:solidFill>
                  <a:schemeClr val="tx1"/>
                </a:solidFill>
              </a:rPr>
              <a:t>broken manifest · golden · Chroma</a:t>
            </a:r>
            <a:endParaRPr lang="en-US" sz="1200" dirty="0"/>
          </a:p>
        </p:txBody>
      </p:sp>
      <p:sp>
        <p:nvSpPr>
          <p:cNvPr id="27" name="area G"/>
          <p:cNvSpPr/>
          <p:nvPr/>
        </p:nvSpPr>
        <p:spPr>
          <a:xfrm>
            <a:off x="6126480" y="2834640"/>
            <a:ext cx="2606040" cy="1234440"/>
          </a:xfrm>
          <a:prstGeom prst="roundRect">
            <a:avLst>
              <a:gd name="adj" fmla="val 8889"/>
            </a:avLst>
          </a:prstGeom>
          <a:solidFill>
            <a:srgbClr val="EEF2F5"/>
          </a:solidFill>
          <a:ln/>
          <a:effectLst>
            <a:outerShdw sx="100000" sy="100000" kx="0" ky="0" algn="bl" rotWithShape="0" blurRad="76200" dist="25400" dir="5400000">
              <a:srgbClr val="000000">
                <a:alpha val="12000"/>
              </a:srgbClr>
            </a:outerShdw>
          </a:effectLst>
        </p:spPr>
      </p:sp>
      <p:sp>
        <p:nvSpPr>
          <p:cNvPr id="28" name="Text 26"/>
          <p:cNvSpPr txBox="1"/>
          <p:nvPr/>
        </p:nvSpPr>
        <p:spPr>
          <a:xfrm>
            <a:off x="6309360" y="2944368"/>
            <a:ext cx="1737360" cy="365760"/>
          </a:xfrm>
          <a:prstGeom prst="rect">
            <a:avLst/>
          </a:prstGeom>
          <a:noFill/>
          <a:ln/>
        </p:spPr>
        <p:txBody>
          <a:bodyPr wrap="square" lIns="0" tIns="0" rIns="0" bIns="0" rtlCol="0" anchor="ctr"/>
          <a:lstStyle/>
          <a:p>
            <a:pPr indent="0" marL="0">
              <a:buNone/>
            </a:pPr>
            <a:r>
              <a:rPr lang="en-US" sz="1500" b="1" dirty="0">
                <a:solidFill>
                  <a:schemeClr val="tx1"/>
                </a:solidFill>
              </a:rPr>
              <a:t>G. Scenarios</a:t>
            </a:r>
            <a:endParaRPr lang="en-US" sz="1500" dirty="0"/>
          </a:p>
        </p:txBody>
      </p:sp>
      <p:sp>
        <p:nvSpPr>
          <p:cNvPr id="29" name="Text 27"/>
          <p:cNvSpPr txBox="1"/>
          <p:nvPr/>
        </p:nvSpPr>
        <p:spPr>
          <a:xfrm>
            <a:off x="8001000" y="2907792"/>
            <a:ext cx="548640" cy="457200"/>
          </a:xfrm>
          <a:prstGeom prst="rect">
            <a:avLst/>
          </a:prstGeom>
          <a:noFill/>
          <a:ln/>
        </p:spPr>
        <p:txBody>
          <a:bodyPr wrap="square" lIns="0" tIns="0" rIns="0" bIns="0" rtlCol="0" anchor="ctr"/>
          <a:lstStyle/>
          <a:p>
            <a:pPr algn="r" indent="0" marL="0">
              <a:buNone/>
            </a:pPr>
            <a:r>
              <a:rPr lang="en-US" sz="2400" b="1" dirty="0">
                <a:solidFill>
                  <a:schemeClr val="accent1"/>
                </a:solidFill>
                <a:latin typeface="Cambria" pitchFamily="34" charset="0"/>
                <a:ea typeface="Cambria" pitchFamily="34" charset="-122"/>
                <a:cs typeface="Cambria" pitchFamily="34" charset="-120"/>
              </a:rPr>
              <a:t>2</a:t>
            </a:r>
            <a:endParaRPr lang="en-US" sz="2400" dirty="0"/>
          </a:p>
        </p:txBody>
      </p:sp>
      <p:sp>
        <p:nvSpPr>
          <p:cNvPr id="30" name="Text 28"/>
          <p:cNvSpPr txBox="1"/>
          <p:nvPr/>
        </p:nvSpPr>
        <p:spPr>
          <a:xfrm>
            <a:off x="6309360" y="3383280"/>
            <a:ext cx="2286000" cy="594360"/>
          </a:xfrm>
          <a:prstGeom prst="rect">
            <a:avLst/>
          </a:prstGeom>
          <a:noFill/>
          <a:ln/>
        </p:spPr>
        <p:txBody>
          <a:bodyPr wrap="square" lIns="0" tIns="0" rIns="0" bIns="0" rtlCol="0" anchor="t"/>
          <a:lstStyle/>
          <a:p>
            <a:pPr indent="0" marL="0">
              <a:buNone/>
            </a:pPr>
            <a:r>
              <a:rPr lang="en-US" sz="1200" dirty="0">
                <a:solidFill>
                  <a:schemeClr val="tx1"/>
                </a:solidFill>
              </a:rPr>
              <a:t>wrong flag · publish new version</a:t>
            </a:r>
            <a:endParaRPr lang="en-US" sz="1200" dirty="0"/>
          </a:p>
        </p:txBody>
      </p:sp>
      <p:sp>
        <p:nvSpPr>
          <p:cNvPr id="31" name="area H"/>
          <p:cNvSpPr/>
          <p:nvPr/>
        </p:nvSpPr>
        <p:spPr>
          <a:xfrm>
            <a:off x="8915400" y="2834640"/>
            <a:ext cx="2606040" cy="1234440"/>
          </a:xfrm>
          <a:prstGeom prst="roundRect">
            <a:avLst>
              <a:gd name="adj" fmla="val 8889"/>
            </a:avLst>
          </a:prstGeom>
          <a:solidFill>
            <a:srgbClr val="EEF2F5"/>
          </a:solidFill>
          <a:ln/>
          <a:effectLst>
            <a:outerShdw sx="100000" sy="100000" kx="0" ky="0" algn="bl" rotWithShape="0" blurRad="76200" dist="25400" dir="5400000">
              <a:srgbClr val="000000">
                <a:alpha val="12000"/>
              </a:srgbClr>
            </a:outerShdw>
          </a:effectLst>
        </p:spPr>
      </p:sp>
      <p:sp>
        <p:nvSpPr>
          <p:cNvPr id="32" name="Text 30"/>
          <p:cNvSpPr txBox="1"/>
          <p:nvPr/>
        </p:nvSpPr>
        <p:spPr>
          <a:xfrm>
            <a:off x="9098280" y="2944368"/>
            <a:ext cx="1737360" cy="365760"/>
          </a:xfrm>
          <a:prstGeom prst="rect">
            <a:avLst/>
          </a:prstGeom>
          <a:noFill/>
          <a:ln/>
        </p:spPr>
        <p:txBody>
          <a:bodyPr wrap="square" lIns="0" tIns="0" rIns="0" bIns="0" rtlCol="0" anchor="ctr"/>
          <a:lstStyle/>
          <a:p>
            <a:pPr indent="0" marL="0">
              <a:buNone/>
            </a:pPr>
            <a:r>
              <a:rPr lang="en-US" sz="1500" b="1" dirty="0">
                <a:solidFill>
                  <a:schemeClr val="tx1"/>
                </a:solidFill>
              </a:rPr>
              <a:t>H. Project</a:t>
            </a:r>
            <a:endParaRPr lang="en-US" sz="1500" dirty="0"/>
          </a:p>
        </p:txBody>
      </p:sp>
      <p:sp>
        <p:nvSpPr>
          <p:cNvPr id="33" name="Text 31"/>
          <p:cNvSpPr txBox="1"/>
          <p:nvPr/>
        </p:nvSpPr>
        <p:spPr>
          <a:xfrm>
            <a:off x="10789920" y="2907792"/>
            <a:ext cx="548640" cy="457200"/>
          </a:xfrm>
          <a:prstGeom prst="rect">
            <a:avLst/>
          </a:prstGeom>
          <a:noFill/>
          <a:ln/>
        </p:spPr>
        <p:txBody>
          <a:bodyPr wrap="square" lIns="0" tIns="0" rIns="0" bIns="0" rtlCol="0" anchor="ctr"/>
          <a:lstStyle/>
          <a:p>
            <a:pPr algn="r" indent="0" marL="0">
              <a:buNone/>
            </a:pPr>
            <a:r>
              <a:rPr lang="en-US" sz="2400" b="1" dirty="0">
                <a:solidFill>
                  <a:schemeClr val="accent1"/>
                </a:solidFill>
                <a:latin typeface="Cambria" pitchFamily="34" charset="0"/>
                <a:ea typeface="Cambria" pitchFamily="34" charset="-122"/>
                <a:cs typeface="Cambria" pitchFamily="34" charset="-120"/>
              </a:rPr>
              <a:t>3</a:t>
            </a:r>
            <a:endParaRPr lang="en-US" sz="2400" dirty="0"/>
          </a:p>
        </p:txBody>
      </p:sp>
      <p:sp>
        <p:nvSpPr>
          <p:cNvPr id="34" name="Text 32"/>
          <p:cNvSpPr txBox="1"/>
          <p:nvPr/>
        </p:nvSpPr>
        <p:spPr>
          <a:xfrm>
            <a:off x="9098280" y="3383280"/>
            <a:ext cx="2286000" cy="594360"/>
          </a:xfrm>
          <a:prstGeom prst="rect">
            <a:avLst/>
          </a:prstGeom>
          <a:noFill/>
          <a:ln/>
        </p:spPr>
        <p:txBody>
          <a:bodyPr wrap="square" lIns="0" tIns="0" rIns="0" bIns="0" rtlCol="0" anchor="t"/>
          <a:lstStyle/>
          <a:p>
            <a:pPr indent="0" marL="0">
              <a:buNone/>
            </a:pPr>
            <a:r>
              <a:rPr lang="en-US" sz="1200" dirty="0">
                <a:solidFill>
                  <a:schemeClr val="tx1"/>
                </a:solidFill>
              </a:rPr>
              <a:t>freeze proof · no secrets · full rebuild</a:t>
            </a:r>
            <a:endParaRPr lang="en-US" sz="1200" dirty="0"/>
          </a:p>
        </p:txBody>
      </p:sp>
      <p:sp>
        <p:nvSpPr>
          <p:cNvPr id="35" name="code"/>
          <p:cNvSpPr/>
          <p:nvPr/>
        </p:nvSpPr>
        <p:spPr>
          <a:xfrm>
            <a:off x="548640" y="4343400"/>
            <a:ext cx="11064240" cy="914400"/>
          </a:xfrm>
          <a:prstGeom prst="roundRect">
            <a:avLst>
              <a:gd name="adj" fmla="val 12000"/>
            </a:avLst>
          </a:prstGeom>
          <a:solidFill>
            <a:srgbClr val="1F2A37"/>
          </a:solidFill>
          <a:ln/>
          <a:effectLst>
            <a:outerShdw sx="100000" sy="100000" kx="0" ky="0" algn="bl" rotWithShape="0" blurRad="76200" dist="25400" dir="5400000">
              <a:srgbClr val="000000">
                <a:alpha val="12000"/>
              </a:srgbClr>
            </a:outerShdw>
          </a:effectLst>
        </p:spPr>
      </p:sp>
      <p:sp>
        <p:nvSpPr>
          <p:cNvPr id="36" name="Text 34"/>
          <p:cNvSpPr txBox="1"/>
          <p:nvPr/>
        </p:nvSpPr>
        <p:spPr>
          <a:xfrm>
            <a:off x="868680" y="4480560"/>
            <a:ext cx="10424160" cy="640080"/>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python3 b1-track-b/tools/tests/run_tests.py --shell zsh     # → 31 PASS · 0 FAIL</a:t>
            </a:r>
            <a:endParaRPr lang="en-US" sz="1500" dirty="0"/>
          </a:p>
        </p:txBody>
      </p:sp>
      <p:sp>
        <p:nvSpPr>
          <p:cNvPr id="37" name="Text 35"/>
          <p:cNvSpPr txBox="1"/>
          <p:nvPr/>
        </p:nvSpPr>
        <p:spPr>
          <a:xfrm>
            <a:off x="548640" y="5440680"/>
            <a:ext cx="11064240" cy="685800"/>
          </a:xfrm>
          <a:prstGeom prst="rect">
            <a:avLst/>
          </a:prstGeom>
          <a:noFill/>
          <a:ln/>
        </p:spPr>
        <p:txBody>
          <a:bodyPr wrap="square" lIns="0" tIns="0" rIns="0" bIns="0" rtlCol="0" anchor="t"/>
          <a:lstStyle/>
          <a:p>
            <a:pPr indent="0" marL="0">
              <a:buNone/>
            </a:pPr>
            <a:r>
              <a:rPr lang="en-US" sz="1300" b="1" dirty="0">
                <a:solidFill>
                  <a:schemeClr val="tx1"/>
                </a:solidFill>
              </a:rPr>
              <a:t>Each case: </a:t>
            </a:r>
            <a:pPr indent="0" marL="0">
              <a:buNone/>
            </a:pPr>
            <a:r>
              <a:rPr lang="en-US" sz="1300" dirty="0">
                <a:solidFill>
                  <a:schemeClr val="tx1"/>
                </a:solidFill>
              </a:rPr>
              <a:t>purpose · commands to paste · expected message · pass rule. </a:t>
            </a:r>
            <a:pPr indent="0" marL="0">
              <a:buNone/>
            </a:pPr>
            <a:r>
              <a:rPr lang="en-US" sz="1300" b="1" dirty="0">
                <a:solidFill>
                  <a:srgbClr val="0B6E61"/>
                </a:solidFill>
              </a:rPr>
              <a:t>Verified 2026-10-18 from a fresh GitHub clone in zsh and bash. </a:t>
            </a:r>
            <a:pPr indent="0" marL="0">
              <a:buNone/>
            </a:pPr>
            <a:r>
              <a:rPr lang="en-US" sz="1300" dirty="0">
                <a:solidFill>
                  <a:schemeClr val="tx1"/>
                </a:solidFill>
              </a:rPr>
              <a:t>PDF: b1-track-b/docs/B1_TrackB_Kafka_Test-Scenarios_v2_2026-10-18.pdf</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Steps 11–12: the result</a:t>
            </a:r>
            <a:endParaRPr lang="en-US" sz="3400" dirty="0"/>
          </a:p>
        </p:txBody>
      </p:sp>
      <p:sp>
        <p:nvSpPr>
          <p:cNvPr id="3" name="next 7"/>
          <p:cNvSpPr/>
          <p:nvPr/>
        </p:nvSpPr>
        <p:spPr>
          <a:xfrm>
            <a:off x="1207008" y="1554480"/>
            <a:ext cx="777240" cy="777240"/>
          </a:xfrm>
          <a:prstGeom prst="ellipse">
            <a:avLst/>
          </a:prstGeom>
          <a:solidFill>
            <a:srgbClr val="0F9D8A"/>
          </a:solidFill>
          <a:ln/>
        </p:spPr>
      </p:sp>
      <p:sp>
        <p:nvSpPr>
          <p:cNvPr id="4" name="Text 2"/>
          <p:cNvSpPr txBox="1"/>
          <p:nvPr/>
        </p:nvSpPr>
        <p:spPr>
          <a:xfrm>
            <a:off x="1207008" y="15544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7</a:t>
            </a:r>
            <a:endParaRPr lang="en-US" sz="1800" dirty="0"/>
          </a:p>
        </p:txBody>
      </p:sp>
      <p:sp>
        <p:nvSpPr>
          <p:cNvPr id="5" name="Text 3"/>
          <p:cNvSpPr txBox="1"/>
          <p:nvPr/>
        </p:nvSpPr>
        <p:spPr>
          <a:xfrm>
            <a:off x="548640" y="2468880"/>
            <a:ext cx="2103120" cy="411480"/>
          </a:xfrm>
          <a:prstGeom prst="rect">
            <a:avLst/>
          </a:prstGeom>
          <a:noFill/>
          <a:ln/>
        </p:spPr>
        <p:txBody>
          <a:bodyPr wrap="square" lIns="0" tIns="0" rIns="0" bIns="0" rtlCol="0" anchor="ctr"/>
          <a:lstStyle/>
          <a:p>
            <a:pPr algn="ctr" indent="0" marL="0">
              <a:buNone/>
            </a:pPr>
            <a:r>
              <a:rPr lang="en-US" sz="1800" b="1" dirty="0">
                <a:solidFill>
                  <a:schemeClr val="tx1"/>
                </a:solidFill>
              </a:rPr>
              <a:t>BEFORE ✓</a:t>
            </a:r>
            <a:endParaRPr lang="en-US" sz="1800" dirty="0"/>
          </a:p>
        </p:txBody>
      </p:sp>
      <p:sp>
        <p:nvSpPr>
          <p:cNvPr id="6" name="Text 4"/>
          <p:cNvSpPr txBox="1"/>
          <p:nvPr/>
        </p:nvSpPr>
        <p:spPr>
          <a:xfrm>
            <a:off x="548640" y="2880360"/>
            <a:ext cx="2103120" cy="640080"/>
          </a:xfrm>
          <a:prstGeom prst="rect">
            <a:avLst/>
          </a:prstGeom>
          <a:noFill/>
          <a:ln/>
        </p:spPr>
        <p:txBody>
          <a:bodyPr wrap="square" lIns="0" tIns="0" rIns="0" bIns="0" rtlCol="0" anchor="ctr"/>
          <a:lstStyle/>
          <a:p>
            <a:pPr algn="ctr" indent="0" marL="0">
              <a:buNone/>
            </a:pPr>
            <a:r>
              <a:rPr lang="en-US" sz="1300" dirty="0">
                <a:solidFill>
                  <a:schemeClr val="tx1"/>
                </a:solidFill>
              </a:rPr>
              <a:t>48.8% superseded</a:t>
            </a:r>
            <a:endParaRPr lang="en-US" sz="1300" dirty="0"/>
          </a:p>
        </p:txBody>
      </p:sp>
      <p:sp>
        <p:nvSpPr>
          <p:cNvPr id="7" name="next arrow 0"/>
          <p:cNvSpPr/>
          <p:nvPr/>
        </p:nvSpPr>
        <p:spPr>
          <a:xfrm>
            <a:off x="2075688" y="1943100"/>
            <a:ext cx="1325880" cy="0"/>
          </a:xfrm>
          <a:prstGeom prst="line">
            <a:avLst/>
          </a:prstGeom>
          <a:noFill/>
          <a:ln w="22225">
            <a:solidFill>
              <a:srgbClr val="64748B"/>
            </a:solidFill>
            <a:prstDash val="solid"/>
            <a:tailEnd type="triangle"/>
          </a:ln>
        </p:spPr>
      </p:sp>
      <p:sp>
        <p:nvSpPr>
          <p:cNvPr id="8" name="next 8"/>
          <p:cNvSpPr/>
          <p:nvPr/>
        </p:nvSpPr>
        <p:spPr>
          <a:xfrm>
            <a:off x="3474720" y="1554480"/>
            <a:ext cx="777240" cy="777240"/>
          </a:xfrm>
          <a:prstGeom prst="ellipse">
            <a:avLst/>
          </a:prstGeom>
          <a:solidFill>
            <a:srgbClr val="0F9D8A"/>
          </a:solidFill>
          <a:ln/>
        </p:spPr>
      </p:sp>
      <p:sp>
        <p:nvSpPr>
          <p:cNvPr id="9" name="Text 7"/>
          <p:cNvSpPr txBox="1"/>
          <p:nvPr/>
        </p:nvSpPr>
        <p:spPr>
          <a:xfrm>
            <a:off x="3474720" y="15544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8</a:t>
            </a:r>
            <a:endParaRPr lang="en-US" sz="1800" dirty="0"/>
          </a:p>
        </p:txBody>
      </p:sp>
      <p:sp>
        <p:nvSpPr>
          <p:cNvPr id="10" name="Text 8"/>
          <p:cNvSpPr txBox="1"/>
          <p:nvPr/>
        </p:nvSpPr>
        <p:spPr>
          <a:xfrm>
            <a:off x="2816352" y="2468880"/>
            <a:ext cx="2103120" cy="411480"/>
          </a:xfrm>
          <a:prstGeom prst="rect">
            <a:avLst/>
          </a:prstGeom>
          <a:noFill/>
          <a:ln/>
        </p:spPr>
        <p:txBody>
          <a:bodyPr wrap="square" lIns="0" tIns="0" rIns="0" bIns="0" rtlCol="0" anchor="ctr"/>
          <a:lstStyle/>
          <a:p>
            <a:pPr algn="ctr" indent="0" marL="0">
              <a:buNone/>
            </a:pPr>
            <a:r>
              <a:rPr lang="en-US" sz="1800" b="1" dirty="0">
                <a:solidFill>
                  <a:schemeClr val="tx1"/>
                </a:solidFill>
              </a:rPr>
              <a:t>Metadata ✓</a:t>
            </a:r>
            <a:endParaRPr lang="en-US" sz="1800" dirty="0"/>
          </a:p>
        </p:txBody>
      </p:sp>
      <p:sp>
        <p:nvSpPr>
          <p:cNvPr id="11" name="Text 9"/>
          <p:cNvSpPr txBox="1"/>
          <p:nvPr/>
        </p:nvSpPr>
        <p:spPr>
          <a:xfrm>
            <a:off x="2816352" y="2880360"/>
            <a:ext cx="2103120" cy="640080"/>
          </a:xfrm>
          <a:prstGeom prst="rect">
            <a:avLst/>
          </a:prstGeom>
          <a:noFill/>
          <a:ln/>
        </p:spPr>
        <p:txBody>
          <a:bodyPr wrap="square" lIns="0" tIns="0" rIns="0" bIns="0" rtlCol="0" anchor="ctr"/>
          <a:lstStyle/>
          <a:p>
            <a:pPr algn="ctr" indent="0" marL="0">
              <a:buNone/>
            </a:pPr>
            <a:r>
              <a:rPr lang="en-US" sz="1300" dirty="0">
                <a:solidFill>
                  <a:schemeClr val="tx1"/>
                </a:solidFill>
              </a:rPr>
              <a:t>17/17 chunks tagged</a:t>
            </a:r>
            <a:endParaRPr lang="en-US" sz="1300" dirty="0"/>
          </a:p>
        </p:txBody>
      </p:sp>
      <p:sp>
        <p:nvSpPr>
          <p:cNvPr id="12" name="next arrow 1"/>
          <p:cNvSpPr/>
          <p:nvPr/>
        </p:nvSpPr>
        <p:spPr>
          <a:xfrm>
            <a:off x="4343400" y="1943100"/>
            <a:ext cx="1325880" cy="0"/>
          </a:xfrm>
          <a:prstGeom prst="line">
            <a:avLst/>
          </a:prstGeom>
          <a:noFill/>
          <a:ln w="22225">
            <a:solidFill>
              <a:srgbClr val="64748B"/>
            </a:solidFill>
            <a:prstDash val="solid"/>
            <a:tailEnd type="triangle"/>
          </a:ln>
        </p:spPr>
      </p:sp>
      <p:sp>
        <p:nvSpPr>
          <p:cNvPr id="13" name="next 9–10"/>
          <p:cNvSpPr/>
          <p:nvPr/>
        </p:nvSpPr>
        <p:spPr>
          <a:xfrm>
            <a:off x="5742432" y="1554480"/>
            <a:ext cx="777240" cy="777240"/>
          </a:xfrm>
          <a:prstGeom prst="ellipse">
            <a:avLst/>
          </a:prstGeom>
          <a:solidFill>
            <a:srgbClr val="0F9D8A"/>
          </a:solidFill>
          <a:ln/>
        </p:spPr>
      </p:sp>
      <p:sp>
        <p:nvSpPr>
          <p:cNvPr id="14" name="Text 12"/>
          <p:cNvSpPr txBox="1"/>
          <p:nvPr/>
        </p:nvSpPr>
        <p:spPr>
          <a:xfrm>
            <a:off x="5742432" y="15544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9–10</a:t>
            </a:r>
            <a:endParaRPr lang="en-US" sz="1800" dirty="0"/>
          </a:p>
        </p:txBody>
      </p:sp>
      <p:sp>
        <p:nvSpPr>
          <p:cNvPr id="15" name="Text 13"/>
          <p:cNvSpPr txBox="1"/>
          <p:nvPr/>
        </p:nvSpPr>
        <p:spPr>
          <a:xfrm>
            <a:off x="5084064" y="2468880"/>
            <a:ext cx="2103120" cy="411480"/>
          </a:xfrm>
          <a:prstGeom prst="rect">
            <a:avLst/>
          </a:prstGeom>
          <a:noFill/>
          <a:ln/>
        </p:spPr>
        <p:txBody>
          <a:bodyPr wrap="square" lIns="0" tIns="0" rIns="0" bIns="0" rtlCol="0" anchor="ctr"/>
          <a:lstStyle/>
          <a:p>
            <a:pPr algn="ctr" indent="0" marL="0">
              <a:buNone/>
            </a:pPr>
            <a:r>
              <a:rPr lang="en-US" sz="1800" b="1" dirty="0">
                <a:solidFill>
                  <a:schemeClr val="tx1"/>
                </a:solidFill>
              </a:rPr>
              <a:t>Filter ✓</a:t>
            </a:r>
            <a:endParaRPr lang="en-US" sz="1800" dirty="0"/>
          </a:p>
        </p:txBody>
      </p:sp>
      <p:sp>
        <p:nvSpPr>
          <p:cNvPr id="16" name="Text 14"/>
          <p:cNvSpPr txBox="1"/>
          <p:nvPr/>
        </p:nvSpPr>
        <p:spPr>
          <a:xfrm>
            <a:off x="5084064" y="2880360"/>
            <a:ext cx="2103120" cy="640080"/>
          </a:xfrm>
          <a:prstGeom prst="rect">
            <a:avLst/>
          </a:prstGeom>
          <a:noFill/>
          <a:ln/>
        </p:spPr>
        <p:txBody>
          <a:bodyPr wrap="square" lIns="0" tIns="0" rIns="0" bIns="0" rtlCol="0" anchor="ctr"/>
          <a:lstStyle/>
          <a:p>
            <a:pPr algn="ctr" indent="0" marL="0">
              <a:buNone/>
            </a:pPr>
            <a:r>
              <a:rPr lang="en-US" sz="1300" dirty="0">
                <a:solidFill>
                  <a:schemeClr val="tx1"/>
                </a:solidFill>
              </a:rPr>
              <a:t>OFF = baseline</a:t>
            </a:r>
            <a:endParaRPr lang="en-US" sz="1300" dirty="0"/>
          </a:p>
        </p:txBody>
      </p:sp>
      <p:sp>
        <p:nvSpPr>
          <p:cNvPr id="17" name="next arrow 2"/>
          <p:cNvSpPr/>
          <p:nvPr/>
        </p:nvSpPr>
        <p:spPr>
          <a:xfrm>
            <a:off x="6611112" y="1943100"/>
            <a:ext cx="1325880" cy="0"/>
          </a:xfrm>
          <a:prstGeom prst="line">
            <a:avLst/>
          </a:prstGeom>
          <a:noFill/>
          <a:ln w="22225">
            <a:solidFill>
              <a:srgbClr val="64748B"/>
            </a:solidFill>
            <a:prstDash val="solid"/>
            <a:tailEnd type="triangle"/>
          </a:ln>
        </p:spPr>
      </p:sp>
      <p:sp>
        <p:nvSpPr>
          <p:cNvPr id="18" name="next 11"/>
          <p:cNvSpPr/>
          <p:nvPr/>
        </p:nvSpPr>
        <p:spPr>
          <a:xfrm>
            <a:off x="8010144" y="1554480"/>
            <a:ext cx="777240" cy="777240"/>
          </a:xfrm>
          <a:prstGeom prst="ellipse">
            <a:avLst/>
          </a:prstGeom>
          <a:solidFill>
            <a:srgbClr val="0F9D8A"/>
          </a:solidFill>
          <a:ln/>
        </p:spPr>
      </p:sp>
      <p:sp>
        <p:nvSpPr>
          <p:cNvPr id="19" name="Text 17"/>
          <p:cNvSpPr txBox="1"/>
          <p:nvPr/>
        </p:nvSpPr>
        <p:spPr>
          <a:xfrm>
            <a:off x="8010144" y="15544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11</a:t>
            </a:r>
            <a:endParaRPr lang="en-US" sz="1800" dirty="0"/>
          </a:p>
        </p:txBody>
      </p:sp>
      <p:sp>
        <p:nvSpPr>
          <p:cNvPr id="20" name="Text 18"/>
          <p:cNvSpPr txBox="1"/>
          <p:nvPr/>
        </p:nvSpPr>
        <p:spPr>
          <a:xfrm>
            <a:off x="7351776" y="2468880"/>
            <a:ext cx="2103120" cy="411480"/>
          </a:xfrm>
          <a:prstGeom prst="rect">
            <a:avLst/>
          </a:prstGeom>
          <a:noFill/>
          <a:ln/>
        </p:spPr>
        <p:txBody>
          <a:bodyPr wrap="square" lIns="0" tIns="0" rIns="0" bIns="0" rtlCol="0" anchor="ctr"/>
          <a:lstStyle/>
          <a:p>
            <a:pPr algn="ctr" indent="0" marL="0">
              <a:buNone/>
            </a:pPr>
            <a:r>
              <a:rPr lang="en-US" sz="1800" b="1" dirty="0">
                <a:solidFill>
                  <a:schemeClr val="tx1"/>
                </a:solidFill>
              </a:rPr>
              <a:t>AFTER ✓</a:t>
            </a:r>
            <a:endParaRPr lang="en-US" sz="1800" dirty="0"/>
          </a:p>
        </p:txBody>
      </p:sp>
      <p:sp>
        <p:nvSpPr>
          <p:cNvPr id="21" name="Text 19"/>
          <p:cNvSpPr txBox="1"/>
          <p:nvPr/>
        </p:nvSpPr>
        <p:spPr>
          <a:xfrm>
            <a:off x="7351776" y="2880360"/>
            <a:ext cx="2103120" cy="640080"/>
          </a:xfrm>
          <a:prstGeom prst="rect">
            <a:avLst/>
          </a:prstGeom>
          <a:noFill/>
          <a:ln/>
        </p:spPr>
        <p:txBody>
          <a:bodyPr wrap="square" lIns="0" tIns="0" rIns="0" bIns="0" rtlCol="0" anchor="ctr"/>
          <a:lstStyle/>
          <a:p>
            <a:pPr algn="ctr" indent="0" marL="0">
              <a:buNone/>
            </a:pPr>
            <a:r>
              <a:rPr lang="en-US" sz="1300" dirty="0">
                <a:solidFill>
                  <a:schemeClr val="tx1"/>
                </a:solidFill>
              </a:rPr>
              <a:t>0.0% superseded</a:t>
            </a:r>
            <a:endParaRPr lang="en-US" sz="1300" dirty="0"/>
          </a:p>
        </p:txBody>
      </p:sp>
      <p:sp>
        <p:nvSpPr>
          <p:cNvPr id="22" name="next arrow 3"/>
          <p:cNvSpPr/>
          <p:nvPr/>
        </p:nvSpPr>
        <p:spPr>
          <a:xfrm>
            <a:off x="8878824" y="1943100"/>
            <a:ext cx="1325880" cy="0"/>
          </a:xfrm>
          <a:prstGeom prst="line">
            <a:avLst/>
          </a:prstGeom>
          <a:noFill/>
          <a:ln w="22225">
            <a:solidFill>
              <a:srgbClr val="64748B"/>
            </a:solidFill>
            <a:prstDash val="solid"/>
            <a:tailEnd type="triangle"/>
          </a:ln>
        </p:spPr>
      </p:sp>
      <p:sp>
        <p:nvSpPr>
          <p:cNvPr id="23" name="next 12"/>
          <p:cNvSpPr/>
          <p:nvPr/>
        </p:nvSpPr>
        <p:spPr>
          <a:xfrm>
            <a:off x="10277856" y="1554480"/>
            <a:ext cx="777240" cy="777240"/>
          </a:xfrm>
          <a:prstGeom prst="ellipse">
            <a:avLst/>
          </a:prstGeom>
          <a:solidFill>
            <a:srgbClr val="0F9D8A"/>
          </a:solidFill>
          <a:ln/>
        </p:spPr>
      </p:sp>
      <p:sp>
        <p:nvSpPr>
          <p:cNvPr id="24" name="Text 22"/>
          <p:cNvSpPr txBox="1"/>
          <p:nvPr/>
        </p:nvSpPr>
        <p:spPr>
          <a:xfrm>
            <a:off x="10277856" y="15544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rPr>
              <a:t>12</a:t>
            </a:r>
            <a:endParaRPr lang="en-US" sz="1800" dirty="0"/>
          </a:p>
        </p:txBody>
      </p:sp>
      <p:sp>
        <p:nvSpPr>
          <p:cNvPr id="25" name="Text 23"/>
          <p:cNvSpPr txBox="1"/>
          <p:nvPr/>
        </p:nvSpPr>
        <p:spPr>
          <a:xfrm>
            <a:off x="9619488" y="2468880"/>
            <a:ext cx="2103120" cy="411480"/>
          </a:xfrm>
          <a:prstGeom prst="rect">
            <a:avLst/>
          </a:prstGeom>
          <a:noFill/>
          <a:ln/>
        </p:spPr>
        <p:txBody>
          <a:bodyPr wrap="square" lIns="0" tIns="0" rIns="0" bIns="0" rtlCol="0" anchor="ctr"/>
          <a:lstStyle/>
          <a:p>
            <a:pPr algn="ctr" indent="0" marL="0">
              <a:buNone/>
            </a:pPr>
            <a:r>
              <a:rPr lang="en-US" sz="1800" b="1" dirty="0">
                <a:solidFill>
                  <a:schemeClr val="tx1"/>
                </a:solidFill>
              </a:rPr>
              <a:t>Report ✓</a:t>
            </a:r>
            <a:endParaRPr lang="en-US" sz="1800" dirty="0"/>
          </a:p>
        </p:txBody>
      </p:sp>
      <p:sp>
        <p:nvSpPr>
          <p:cNvPr id="26" name="Text 24"/>
          <p:cNvSpPr txBox="1"/>
          <p:nvPr/>
        </p:nvSpPr>
        <p:spPr>
          <a:xfrm>
            <a:off x="9619488" y="2880360"/>
            <a:ext cx="2103120" cy="640080"/>
          </a:xfrm>
          <a:prstGeom prst="rect">
            <a:avLst/>
          </a:prstGeom>
          <a:noFill/>
          <a:ln/>
        </p:spPr>
        <p:txBody>
          <a:bodyPr wrap="square" lIns="0" tIns="0" rIns="0" bIns="0" rtlCol="0" anchor="ctr"/>
          <a:lstStyle/>
          <a:p>
            <a:pPr algn="ctr" indent="0" marL="0">
              <a:buNone/>
            </a:pPr>
            <a:r>
              <a:rPr lang="en-US" sz="1300" dirty="0">
                <a:solidFill>
                  <a:schemeClr val="tx1"/>
                </a:solidFill>
              </a:rPr>
              <a:t>table + conclusion</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3840480"/>
          <a:ext cx="7772400" cy="914400"/>
        </p:xfrm>
        <a:graphic>
          <a:graphicData uri="http://schemas.openxmlformats.org/drawingml/2006/table">
            <a:tbl>
              <a:tblPr/>
              <a:tblGrid>
                <a:gridCol w="3566160"/>
                <a:gridCol w="2103120"/>
                <a:gridCol w="2103120"/>
              </a:tblGrid>
              <a:tr h="384048">
                <a:tc>
                  <a:txBody>
                    <a:bodyPr/>
                    <a:lstStyle/>
                    <a:p>
                      <a:pPr indent="0" marL="0">
                        <a:buNone/>
                      </a:pPr>
                      <a:r>
                        <a:rPr lang="en-US" sz="1300" b="1" dirty="0">
                          <a:solidFill>
                            <a:srgbClr val="FFFFFF"/>
                          </a:solidFill>
                        </a:rPr>
                        <a:t>Metric</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Filter OFF (before)</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1F2A37"/>
                    </a:solidFill>
                  </a:tcPr>
                </a:tc>
                <a:tc>
                  <a:txBody>
                    <a:bodyPr/>
                    <a:lstStyle/>
                    <a:p>
                      <a:pPr indent="0" marL="0">
                        <a:buNone/>
                      </a:pPr>
                      <a:r>
                        <a:rPr lang="en-US" sz="1300" b="1" dirty="0">
                          <a:solidFill>
                            <a:srgbClr val="FFFFFF"/>
                          </a:solidFill>
                        </a:rPr>
                        <a:t>Filter ON (after)</a:t>
                      </a:r>
                      <a:endParaRPr lang="en-US" sz="1300" dirty="0"/>
                    </a:p>
                  </a:txBody>
                  <a:tcPr marL="109728" marR="109728" marT="36576" marB="36576">
                    <a:lnL w="0" cap="flat" cmpd="sng" algn="ctr">
                      <a:noFill/>
                    </a:lnL>
                    <a:lnR w="0" cap="flat" cmpd="sng" algn="ctr">
                      <a:noFill/>
                    </a:lnR>
                    <a:lnT w="0" cap="flat" cmpd="sng" algn="ctr">
                      <a:noFill/>
                    </a:lnT>
                    <a:lnB w="0" cap="flat" cmpd="sng" algn="ctr">
                      <a:noFill/>
                    </a:lnB>
                    <a:solidFill>
                      <a:srgbClr val="1F2A37"/>
                    </a:solidFill>
                  </a:tcPr>
                </a:tc>
              </a:tr>
              <a:tr h="384048">
                <a:tc>
                  <a:txBody>
                    <a:bodyPr/>
                    <a:lstStyle/>
                    <a:p>
                      <a:pPr indent="0" marL="0">
                        <a:buNone/>
                      </a:pPr>
                      <a:r>
                        <a:rPr lang="en-US" sz="1400" dirty="0">
                          <a:solidFill>
                            <a:srgbClr val="1F2A37"/>
                          </a:solidFill>
                        </a:rPr>
                        <a:t>Superseded chunks retrieved</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1F2A37"/>
                          </a:solidFill>
                        </a:rPr>
                        <a:t>48.8% (41/84)</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0B6E61"/>
                          </a:solidFill>
                        </a:rPr>
                        <a:t>0.0% (0/84)</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r>
              <a:tr h="384048">
                <a:tc>
                  <a:txBody>
                    <a:bodyPr/>
                    <a:lstStyle/>
                    <a:p>
                      <a:pPr indent="0" marL="0">
                        <a:buNone/>
                      </a:pPr>
                      <a:r>
                        <a:rPr lang="en-US" sz="1400" dirty="0">
                          <a:solidFill>
                            <a:srgbClr val="1F2A37"/>
                          </a:solidFill>
                        </a:rPr>
                        <a:t>Superseded / multi-hop passed</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1F2A37"/>
                          </a:solidFill>
                        </a:rPr>
                        <a:t>0/9 · 0/3</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0B6E61"/>
                          </a:solidFill>
                        </a:rPr>
                        <a:t>9/9 · 3/3</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400" dirty="0">
                          <a:solidFill>
                            <a:srgbClr val="1F2A37"/>
                          </a:solidFill>
                        </a:rPr>
                        <a:t>Exact-string cases passed</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1F2A37"/>
                          </a:solidFill>
                        </a:rPr>
                        <a:t>7 / 7</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c>
                  <a:txBody>
                    <a:bodyPr/>
                    <a:lstStyle/>
                    <a:p>
                      <a:pPr indent="0" marL="0">
                        <a:buNone/>
                      </a:pPr>
                      <a:r>
                        <a:rPr lang="en-US" sz="1400" b="1" dirty="0">
                          <a:solidFill>
                            <a:srgbClr val="0B6E61"/>
                          </a:solidFill>
                        </a:rPr>
                        <a:t>7 / 7 (flat)</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EEF2F5"/>
                    </a:solidFill>
                  </a:tcPr>
                </a:tc>
              </a:tr>
              <a:tr h="384048">
                <a:tc>
                  <a:txBody>
                    <a:bodyPr/>
                    <a:lstStyle/>
                    <a:p>
                      <a:pPr indent="0" marL="0">
                        <a:buNone/>
                      </a:pPr>
                      <a:r>
                        <a:rPr lang="en-US" sz="1400" dirty="0">
                          <a:solidFill>
                            <a:srgbClr val="1F2A37"/>
                          </a:solidFill>
                        </a:rPr>
                        <a:t>Latency (105 calls each, fair)</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1F2A37"/>
                          </a:solidFill>
                        </a:rPr>
                        <a:t>50.2 ms</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b="1" dirty="0">
                          <a:solidFill>
                            <a:srgbClr val="0B6E61"/>
                          </a:solidFill>
                        </a:rPr>
                        <a:t>51.1 ms</a:t>
                      </a:r>
                      <a:endParaRPr lang="en-US" sz="1400" dirty="0"/>
                    </a:p>
                  </a:txBody>
                  <a:tcPr marL="109728" marR="109728" marT="36576" marB="36576">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8" name="rule card"/>
          <p:cNvSpPr/>
          <p:nvPr/>
        </p:nvSpPr>
        <p:spPr>
          <a:xfrm>
            <a:off x="8595360" y="3840480"/>
            <a:ext cx="3017520" cy="1920240"/>
          </a:xfrm>
          <a:prstGeom prst="roundRect">
            <a:avLst>
              <a:gd name="adj" fmla="val 5714"/>
            </a:avLst>
          </a:prstGeom>
          <a:solidFill>
            <a:srgbClr val="FDEBDC"/>
          </a:solidFill>
          <a:ln w="19050">
            <a:solidFill>
              <a:srgbClr val="E8833A"/>
            </a:solidFill>
            <a:prstDash val="solid"/>
          </a:ln>
          <a:effectLst>
            <a:outerShdw sx="100000" sy="100000" kx="0" ky="0" algn="bl" rotWithShape="0" blurRad="76200" dist="25400" dir="5400000">
              <a:srgbClr val="000000">
                <a:alpha val="12000"/>
              </a:srgbClr>
            </a:outerShdw>
          </a:effectLst>
        </p:spPr>
      </p:sp>
      <p:sp>
        <p:nvSpPr>
          <p:cNvPr id="29" name="Text 26"/>
          <p:cNvSpPr txBox="1"/>
          <p:nvPr/>
        </p:nvSpPr>
        <p:spPr>
          <a:xfrm>
            <a:off x="8778240" y="3931920"/>
            <a:ext cx="2651760" cy="1737360"/>
          </a:xfrm>
          <a:prstGeom prst="rect">
            <a:avLst/>
          </a:prstGeom>
          <a:noFill/>
          <a:ln/>
        </p:spPr>
        <p:txBody>
          <a:bodyPr wrap="square" lIns="0" tIns="0" rIns="0" bIns="0" rtlCol="0" anchor="ctr"/>
          <a:lstStyle/>
          <a:p>
            <a:pPr indent="0" marL="0">
              <a:spcAft>
                <a:spcPts val="600"/>
              </a:spcAft>
              <a:buNone/>
            </a:pPr>
            <a:r>
              <a:rPr lang="en-US" sz="1600" b="1" dirty="0">
                <a:solidFill>
                  <a:srgbClr val="E8833A"/>
                </a:solidFill>
              </a:rPr>
              <a:t>Conclusion</a:t>
            </a:r>
            <a:endParaRPr lang="en-US" sz="1600" dirty="0"/>
          </a:p>
          <a:p>
            <a:pPr indent="0" marL="0">
              <a:spcAft>
                <a:spcPts val="600"/>
              </a:spcAft>
              <a:buNone/>
            </a:pPr>
            <a:r>
              <a:rPr lang="en-US" sz="1600" dirty="0">
                <a:solidFill>
                  <a:schemeClr val="tx1"/>
                </a:solidFill>
              </a:rPr>
              <a:t>One where-clause on version metadata: stale context 48.8% → 0%, exact-string flat, &lt; 1 ms.</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How to run and test it yourself</a:t>
            </a:r>
            <a:endParaRPr lang="en-US" sz="3400" dirty="0"/>
          </a:p>
        </p:txBody>
      </p:sp>
      <p:sp>
        <p:nvSpPr>
          <p:cNvPr id="3" name="commands"/>
          <p:cNvSpPr/>
          <p:nvPr/>
        </p:nvSpPr>
        <p:spPr>
          <a:xfrm>
            <a:off x="548640" y="1417320"/>
            <a:ext cx="11064240" cy="3246120"/>
          </a:xfrm>
          <a:prstGeom prst="roundRect">
            <a:avLst>
              <a:gd name="adj" fmla="val 3380"/>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600200"/>
            <a:ext cx="10424160" cy="2926080"/>
          </a:xfrm>
          <a:prstGeom prst="rect">
            <a:avLst/>
          </a:prstGeom>
          <a:noFill/>
          <a:ln/>
        </p:spPr>
        <p:txBody>
          <a:bodyPr wrap="square" lIns="0" tIns="0" rIns="0" bIns="0" rtlCol="0" anchor="ctr"/>
          <a:lstStyle/>
          <a:p>
            <a:pPr indent="0" marL="0">
              <a:buNone/>
            </a:pPr>
            <a:r>
              <a:rPr lang="en-US" sz="1500" dirty="0">
                <a:solidFill>
                  <a:srgbClr val="8FD8CC"/>
                </a:solidFill>
                <a:latin typeface="Courier New" pitchFamily="34" charset="0"/>
                <a:ea typeface="Courier New" pitchFamily="34" charset="-122"/>
                <a:cs typeface="Courier New" pitchFamily="34" charset="-120"/>
              </a:rPr>
              <a:t># start every session</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B=~/Desktop/AI-Architect_L2_Aug_2026/project_10082026</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cd $B/track-b-kafka &amp;&amp; source $B/mai-practitioner-labs/.venv/bin/activate</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D8CC"/>
                </a:solidFill>
                <a:latin typeface="Courier New" pitchFamily="34" charset="0"/>
                <a:ea typeface="Courier New" pitchFamily="34" charset="-122"/>
                <a:cs typeface="Courier New" pitchFamily="34" charset="-120"/>
              </a:rPr>
              <a:t># data tests (Steps 3–5)</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python simple_rag/b1_check.py            # full, with similarity trap</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python simple_rag/b1_check.py --no-trap  # fast</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D8CC"/>
                </a:solidFill>
                <a:latin typeface="Courier New" pitchFamily="34" charset="0"/>
                <a:ea typeface="Courier New" pitchFamily="34" charset="-122"/>
                <a:cs typeface="Courier New" pitchFamily="34" charset="-120"/>
              </a:rPr>
              <a:t># recreate the corpus from scratch (byte-identical)</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python $B/b1-tracking/track-b/tools/make_corpus.py simple_rag/corpus/kafka</a:t>
            </a:r>
            <a:endParaRPr lang="en-US" sz="1500" dirty="0"/>
          </a:p>
        </p:txBody>
      </p:sp>
      <p:sp>
        <p:nvSpPr>
          <p:cNvPr id="5" name="expected output"/>
          <p:cNvSpPr/>
          <p:nvPr/>
        </p:nvSpPr>
        <p:spPr>
          <a:xfrm>
            <a:off x="548640" y="4846320"/>
            <a:ext cx="11064240" cy="868680"/>
          </a:xfrm>
          <a:prstGeom prst="roundRect">
            <a:avLst>
              <a:gd name="adj" fmla="val 12632"/>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4892040"/>
            <a:ext cx="10515600" cy="777240"/>
          </a:xfrm>
          <a:prstGeom prst="rect">
            <a:avLst/>
          </a:prstGeom>
          <a:noFill/>
          <a:ln/>
        </p:spPr>
        <p:txBody>
          <a:bodyPr wrap="square" lIns="0" tIns="0" rIns="0" bIns="0" rtlCol="0" anchor="ctr"/>
          <a:lstStyle/>
          <a:p>
            <a:pPr indent="0" marL="0">
              <a:buNone/>
            </a:pPr>
            <a:r>
              <a:rPr lang="en-US" sz="1500" b="1" dirty="0">
                <a:solidFill>
                  <a:srgbClr val="0B6E61"/>
                </a:solidFill>
              </a:rPr>
              <a:t>Expected: </a:t>
            </a:r>
            <a:pPr indent="0" marL="0">
              <a:buNone/>
            </a:pPr>
            <a:r>
              <a:rPr lang="en-US" sz="1500" dirty="0">
                <a:solidFill>
                  <a:schemeClr val="tx1"/>
                </a:solidFill>
              </a:rPr>
              <a:t>every line starts with OK and the last line is PASS (exit code 0). A FAIL line names the file and what is wrong.</a:t>
            </a:r>
            <a:endParaRPr lang="en-US" sz="1500" dirty="0"/>
          </a:p>
        </p:txBody>
      </p:sp>
      <p:sp>
        <p:nvSpPr>
          <p:cNvPr id="7" name="Text 5"/>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Every command: SOP v8 PDF, Appendix A  ·  Driving Claude Code: Claude-CLI Run Guide PDF (both in docs/)</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Where the code lives: one public repo, three branches</a:t>
            </a:r>
            <a:endParaRPr lang="en-US" sz="3400" dirty="0"/>
          </a:p>
        </p:txBody>
      </p:sp>
      <p:sp>
        <p:nvSpPr>
          <p:cNvPr id="3" name="repo url"/>
          <p:cNvSpPr/>
          <p:nvPr/>
        </p:nvSpPr>
        <p:spPr>
          <a:xfrm>
            <a:off x="548640" y="1371600"/>
            <a:ext cx="11064240" cy="731520"/>
          </a:xfrm>
          <a:prstGeom prst="roundRect">
            <a:avLst>
              <a:gd name="adj" fmla="val 15000"/>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22960" y="1371600"/>
            <a:ext cx="10515600" cy="731520"/>
          </a:xfrm>
          <a:prstGeom prst="rect">
            <a:avLst/>
          </a:prstGeom>
          <a:noFill/>
          <a:ln/>
        </p:spPr>
        <p:txBody>
          <a:bodyPr wrap="square" lIns="0" tIns="0" rIns="0" bIns="0" rtlCol="0" anchor="ctr"/>
          <a:lstStyle/>
          <a:p>
            <a:pPr indent="0" marL="0">
              <a:buNone/>
            </a:pPr>
            <a:r>
              <a:rPr lang="en-US" sz="1800" dirty="0">
                <a:solidFill>
                  <a:srgbClr val="8FD8CC"/>
                </a:solidFill>
                <a:latin typeface="Courier New" pitchFamily="34" charset="0"/>
                <a:ea typeface="Courier New" pitchFamily="34" charset="-122"/>
                <a:cs typeface="Courier New" pitchFamily="34" charset="-120"/>
              </a:rPr>
              <a:t>github.com/</a:t>
            </a:r>
            <a:pPr indent="0" marL="0">
              <a:buNone/>
            </a:pPr>
            <a:r>
              <a:rPr lang="en-US" sz="1800" b="1" dirty="0">
                <a:solidFill>
                  <a:srgbClr val="FFFFFF"/>
                </a:solidFill>
                <a:latin typeface="Courier New" pitchFamily="34" charset="0"/>
                <a:ea typeface="Courier New" pitchFamily="34" charset="-122"/>
                <a:cs typeface="Courier New" pitchFamily="34" charset="-120"/>
              </a:rPr>
              <a:t>shreenathacc22/L2-RAG-B1-track-b-kafka-version-aware</a:t>
            </a:r>
            <a:pPr indent="0" marL="0">
              <a:buNone/>
            </a:pPr>
            <a:r>
              <a:rPr lang="en-US" sz="1800" dirty="0">
                <a:solidFill>
                  <a:srgbClr val="8FD8CC"/>
                </a:solidFill>
                <a:latin typeface="Courier New" pitchFamily="34" charset="0"/>
                <a:ea typeface="Courier New" pitchFamily="34" charset="-122"/>
                <a:cs typeface="Courier New" pitchFamily="34" charset="-120"/>
              </a:rPr>
              <a:t>   · public</a:t>
            </a:r>
            <a:endParaRPr lang="en-US" sz="1800" dirty="0"/>
          </a:p>
        </p:txBody>
      </p:sp>
      <p:sp>
        <p:nvSpPr>
          <p:cNvPr id="5" name="branch main"/>
          <p:cNvSpPr/>
          <p:nvPr/>
        </p:nvSpPr>
        <p:spPr>
          <a:xfrm>
            <a:off x="548640" y="2331720"/>
            <a:ext cx="3520440" cy="1783080"/>
          </a:xfrm>
          <a:prstGeom prst="roundRect">
            <a:avLst>
              <a:gd name="adj" fmla="val 6154"/>
            </a:avLst>
          </a:prstGeom>
          <a:solidFill>
            <a:srgbClr val="EEF2F5"/>
          </a:solidFill>
          <a:ln/>
          <a:effectLst>
            <a:outerShdw sx="100000" sy="100000" kx="0" ky="0" algn="bl" rotWithShape="0" blurRad="76200" dist="25400" dir="5400000">
              <a:srgbClr val="000000">
                <a:alpha val="12000"/>
              </a:srgbClr>
            </a:outerShdw>
          </a:effectLst>
        </p:spPr>
      </p:sp>
      <p:sp>
        <p:nvSpPr>
          <p:cNvPr id="6" name="Text 4"/>
          <p:cNvSpPr txBox="1"/>
          <p:nvPr/>
        </p:nvSpPr>
        <p:spPr>
          <a:xfrm>
            <a:off x="731520" y="2468880"/>
            <a:ext cx="3154680" cy="4114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main</a:t>
            </a:r>
            <a:endParaRPr lang="en-US" sz="1300" dirty="0"/>
          </a:p>
        </p:txBody>
      </p:sp>
      <p:sp>
        <p:nvSpPr>
          <p:cNvPr id="7" name="Text 5"/>
          <p:cNvSpPr txBox="1"/>
          <p:nvPr/>
        </p:nvSpPr>
        <p:spPr>
          <a:xfrm>
            <a:off x="731520" y="2880360"/>
            <a:ext cx="3154680" cy="365760"/>
          </a:xfrm>
          <a:prstGeom prst="rect">
            <a:avLst/>
          </a:prstGeom>
          <a:noFill/>
          <a:ln/>
        </p:spPr>
        <p:txBody>
          <a:bodyPr wrap="square" lIns="0" tIns="0" rIns="0" bIns="0" rtlCol="0" anchor="ctr"/>
          <a:lstStyle/>
          <a:p>
            <a:pPr indent="0" marL="0">
              <a:buNone/>
            </a:pPr>
            <a:r>
              <a:rPr lang="en-US" sz="1600" b="1" dirty="0">
                <a:solidFill>
                  <a:schemeClr val="tx2"/>
                </a:solidFill>
              </a:rPr>
              <a:t>Overview README</a:t>
            </a:r>
            <a:endParaRPr lang="en-US" sz="1600" dirty="0"/>
          </a:p>
        </p:txBody>
      </p:sp>
      <p:sp>
        <p:nvSpPr>
          <p:cNvPr id="8" name="Text 6"/>
          <p:cNvSpPr txBox="1"/>
          <p:nvPr/>
        </p:nvSpPr>
        <p:spPr>
          <a:xfrm>
            <a:off x="731520" y="3291840"/>
            <a:ext cx="3154680" cy="777240"/>
          </a:xfrm>
          <a:prstGeom prst="rect">
            <a:avLst/>
          </a:prstGeom>
          <a:noFill/>
          <a:ln/>
        </p:spPr>
        <p:txBody>
          <a:bodyPr wrap="square" lIns="0" tIns="0" rIns="0" bIns="0" rtlCol="0" anchor="t"/>
          <a:lstStyle/>
          <a:p>
            <a:pPr indent="0" marL="0">
              <a:buNone/>
            </a:pPr>
            <a:r>
              <a:rPr lang="en-US" sz="1300" dirty="0">
                <a:solidFill>
                  <a:schemeClr val="tx1"/>
                </a:solidFill>
              </a:rPr>
              <a:t>Start here: what B1 is, the result, links to every branch and doc</a:t>
            </a:r>
            <a:endParaRPr lang="en-US" sz="1300" dirty="0"/>
          </a:p>
        </p:txBody>
      </p:sp>
      <p:sp>
        <p:nvSpPr>
          <p:cNvPr id="9" name="branch track-b-kafka-version-aware"/>
          <p:cNvSpPr/>
          <p:nvPr/>
        </p:nvSpPr>
        <p:spPr>
          <a:xfrm>
            <a:off x="4297680" y="2331720"/>
            <a:ext cx="3520440" cy="1783080"/>
          </a:xfrm>
          <a:prstGeom prst="roundRect">
            <a:avLst>
              <a:gd name="adj" fmla="val 6154"/>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4480560" y="2468880"/>
            <a:ext cx="3154680" cy="4114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track-b-kafka-version-aware</a:t>
            </a:r>
            <a:endParaRPr lang="en-US" sz="1300" dirty="0"/>
          </a:p>
        </p:txBody>
      </p:sp>
      <p:sp>
        <p:nvSpPr>
          <p:cNvPr id="11" name="Text 9"/>
          <p:cNvSpPr txBox="1"/>
          <p:nvPr/>
        </p:nvSpPr>
        <p:spPr>
          <a:xfrm>
            <a:off x="4480560" y="2880360"/>
            <a:ext cx="3154680" cy="365760"/>
          </a:xfrm>
          <a:prstGeom prst="rect">
            <a:avLst/>
          </a:prstGeom>
          <a:noFill/>
          <a:ln/>
        </p:spPr>
        <p:txBody>
          <a:bodyPr wrap="square" lIns="0" tIns="0" rIns="0" bIns="0" rtlCol="0" anchor="ctr"/>
          <a:lstStyle/>
          <a:p>
            <a:pPr indent="0" marL="0">
              <a:buNone/>
            </a:pPr>
            <a:r>
              <a:rPr lang="en-US" sz="1600" b="1" dirty="0">
                <a:solidFill>
                  <a:schemeClr val="tx2"/>
                </a:solidFill>
              </a:rPr>
              <a:t>The full project</a:t>
            </a:r>
            <a:endParaRPr lang="en-US" sz="1600" dirty="0"/>
          </a:p>
        </p:txBody>
      </p:sp>
      <p:sp>
        <p:nvSpPr>
          <p:cNvPr id="12" name="Text 10"/>
          <p:cNvSpPr txBox="1"/>
          <p:nvPr/>
        </p:nvSpPr>
        <p:spPr>
          <a:xfrm>
            <a:off x="4480560" y="3291840"/>
            <a:ext cx="3154680" cy="777240"/>
          </a:xfrm>
          <a:prstGeom prst="rect">
            <a:avLst/>
          </a:prstGeom>
          <a:noFill/>
          <a:ln/>
        </p:spPr>
        <p:txBody>
          <a:bodyPr wrap="square" lIns="0" tIns="0" rIns="0" bIns="0" rtlCol="0" anchor="t"/>
          <a:lstStyle/>
          <a:p>
            <a:pPr indent="0" marL="0">
              <a:buNone/>
            </a:pPr>
            <a:r>
              <a:rPr lang="en-US" sz="1300" dirty="0">
                <a:solidFill>
                  <a:schemeClr val="tx1"/>
                </a:solidFill>
              </a:rPr>
              <a:t>Class base 6b918c2 + one commit per step (3–12), results, b1-track-b/ docs and rebuild tools</a:t>
            </a:r>
            <a:endParaRPr lang="en-US" sz="1300" dirty="0"/>
          </a:p>
        </p:txBody>
      </p:sp>
      <p:sp>
        <p:nvSpPr>
          <p:cNvPr id="13" name="branch rag-deployment"/>
          <p:cNvSpPr/>
          <p:nvPr/>
        </p:nvSpPr>
        <p:spPr>
          <a:xfrm>
            <a:off x="8046720" y="2331720"/>
            <a:ext cx="3520440" cy="1783080"/>
          </a:xfrm>
          <a:prstGeom prst="roundRect">
            <a:avLst>
              <a:gd name="adj" fmla="val 6154"/>
            </a:avLst>
          </a:prstGeom>
          <a:solidFill>
            <a:srgbClr val="FDEBDC"/>
          </a:solidFill>
          <a:ln w="19050">
            <a:solidFill>
              <a:srgbClr val="E8833A"/>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8229600" y="2468880"/>
            <a:ext cx="3154680" cy="41148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rag-deployment</a:t>
            </a:r>
            <a:endParaRPr lang="en-US" sz="1300" dirty="0"/>
          </a:p>
        </p:txBody>
      </p:sp>
      <p:sp>
        <p:nvSpPr>
          <p:cNvPr id="15" name="Text 13"/>
          <p:cNvSpPr txBox="1"/>
          <p:nvPr/>
        </p:nvSpPr>
        <p:spPr>
          <a:xfrm>
            <a:off x="8229600" y="2880360"/>
            <a:ext cx="3154680" cy="365760"/>
          </a:xfrm>
          <a:prstGeom prst="rect">
            <a:avLst/>
          </a:prstGeom>
          <a:noFill/>
          <a:ln/>
        </p:spPr>
        <p:txBody>
          <a:bodyPr wrap="square" lIns="0" tIns="0" rIns="0" bIns="0" rtlCol="0" anchor="ctr"/>
          <a:lstStyle/>
          <a:p>
            <a:pPr indent="0" marL="0">
              <a:buNone/>
            </a:pPr>
            <a:r>
              <a:rPr lang="en-US" sz="1600" b="1" dirty="0">
                <a:solidFill>
                  <a:schemeClr val="tx2"/>
                </a:solidFill>
              </a:rPr>
              <a:t>Runnable package</a:t>
            </a:r>
            <a:endParaRPr lang="en-US" sz="1600" dirty="0"/>
          </a:p>
        </p:txBody>
      </p:sp>
      <p:sp>
        <p:nvSpPr>
          <p:cNvPr id="16" name="Text 14"/>
          <p:cNvSpPr txBox="1"/>
          <p:nvPr/>
        </p:nvSpPr>
        <p:spPr>
          <a:xfrm>
            <a:off x="8229600" y="3291840"/>
            <a:ext cx="3154680" cy="777240"/>
          </a:xfrm>
          <a:prstGeom prst="rect">
            <a:avLst/>
          </a:prstGeom>
          <a:noFill/>
          <a:ln/>
        </p:spPr>
        <p:txBody>
          <a:bodyPr wrap="square" lIns="0" tIns="0" rIns="0" bIns="0" rtlCol="0" anchor="t"/>
          <a:lstStyle/>
          <a:p>
            <a:pPr indent="0" marL="0">
              <a:buNone/>
            </a:pPr>
            <a:r>
              <a:rPr lang="en-US" sz="1300" dirty="0">
                <a:solidFill>
                  <a:schemeClr val="tx1"/>
                </a:solidFill>
              </a:rPr>
              <a:t>Only what the finished version-aware RAG needs, plus run.sh: setup · ingest · check · eval · ask</a:t>
            </a:r>
            <a:endParaRPr lang="en-US" sz="1300" dirty="0"/>
          </a:p>
        </p:txBody>
      </p:sp>
      <p:sp>
        <p:nvSpPr>
          <p:cNvPr id="17" name="Text 15"/>
          <p:cNvSpPr txBox="1"/>
          <p:nvPr/>
        </p:nvSpPr>
        <p:spPr>
          <a:xfrm>
            <a:off x="548640" y="4343400"/>
            <a:ext cx="11064240" cy="137160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Track A </a:t>
            </a:r>
            <a:pPr indent="0" marL="0">
              <a:spcAft>
                <a:spcPts val="400"/>
              </a:spcAft>
              <a:buNone/>
            </a:pPr>
            <a:r>
              <a:rPr lang="en-US" sz="1400" dirty="0">
                <a:solidFill>
                  <a:schemeClr val="tx1"/>
                </a:solidFill>
              </a:rPr>
              <a:t>(front-matter version) stays in github.com/shreenathacc22/L2-RAG-B1-version-aware-retrieval · main</a:t>
            </a:r>
            <a:endParaRPr lang="en-US" sz="1400" dirty="0"/>
          </a:p>
          <a:p>
            <a:pPr indent="0" marL="0">
              <a:spcAft>
                <a:spcPts val="400"/>
              </a:spcAft>
              <a:buNone/>
            </a:pPr>
            <a:r>
              <a:rPr lang="en-US" sz="1400" b="1" dirty="0">
                <a:solidFill>
                  <a:srgbClr val="0B6E61"/>
                </a:solidFill>
              </a:rPr>
              <a:t>Live demo: </a:t>
            </a:r>
            <a:pPr indent="0" marL="0">
              <a:spcAft>
                <a:spcPts val="400"/>
              </a:spcAft>
              <a:buNone/>
            </a:pPr>
            <a:r>
              <a:rPr lang="en-US" sz="1400" dirty="0">
                <a:solidFill>
                  <a:schemeClr val="tx1"/>
                </a:solidFill>
              </a:rPr>
              <a:t>https://l2-rag-b1-track-b-kafka-version-awa.vercel.app</a:t>
            </a:r>
            <a:endParaRPr lang="en-US" sz="1400" dirty="0"/>
          </a:p>
          <a:p>
            <a:pPr indent="0" marL="0">
              <a:spcAft>
                <a:spcPts val="400"/>
              </a:spcAft>
              <a:buNone/>
            </a:pPr>
            <a:r>
              <a:rPr lang="en-US" sz="1400" b="1" dirty="0">
                <a:solidFill>
                  <a:srgbClr val="E8833A"/>
                </a:solidFill>
              </a:rPr>
              <a:t>Never published: </a:t>
            </a:r>
            <a:pPr indent="0" marL="0">
              <a:spcAft>
                <a:spcPts val="400"/>
              </a:spcAft>
              <a:buNone/>
            </a:pPr>
            <a:r>
              <a:rPr lang="en-US" sz="1400" dirty="0">
                <a:solidFill>
                  <a:schemeClr val="tx1"/>
                </a:solidFill>
              </a:rPr>
              <a:t>.env and .env.* (API key), raw run logs (local paths), personal email (commits use the GitHub noreply address).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Live demo: try it in any browser</a:t>
            </a:r>
            <a:endParaRPr lang="en-US" sz="3400" dirty="0"/>
          </a:p>
        </p:txBody>
      </p:sp>
      <p:pic>
        <p:nvPicPr>
          <p:cNvPr id="3" name="live demo screenshot" descr="/Users/shreenath22/Desktop/AI-Architect_L2_Aug_2026/project_10082026/b1-tracking/track-b/tools/docs/live_demo.png">    </p:cNvPr>
          <p:cNvPicPr>
            <a:picLocks noChangeAspect="1"/>
          </p:cNvPicPr>
          <p:nvPr/>
        </p:nvPicPr>
        <p:blipFill>
          <a:blip r:embed="rId1"/>
          <a:stretch>
            <a:fillRect/>
          </a:stretch>
        </p:blipFill>
        <p:spPr>
          <a:xfrm>
            <a:off x="548640" y="1371600"/>
            <a:ext cx="6949440" cy="4882896"/>
          </a:xfrm>
          <a:prstGeom prst="rect">
            <a:avLst/>
          </a:prstGeom>
        </p:spPr>
      </p:pic>
      <p:sp>
        <p:nvSpPr>
          <p:cNvPr id="4" name="live link card"/>
          <p:cNvSpPr/>
          <p:nvPr/>
        </p:nvSpPr>
        <p:spPr>
          <a:xfrm>
            <a:off x="7726680" y="1371600"/>
            <a:ext cx="3886200" cy="4882896"/>
          </a:xfrm>
          <a:prstGeom prst="roundRect">
            <a:avLst>
              <a:gd name="adj" fmla="val 2824"/>
            </a:avLst>
          </a:prstGeom>
          <a:solidFill>
            <a:srgbClr val="1F2A37"/>
          </a:solidFill>
          <a:ln/>
          <a:effectLst>
            <a:outerShdw sx="100000" sy="100000" kx="0" ky="0" algn="bl" rotWithShape="0" blurRad="76200" dist="25400" dir="5400000">
              <a:srgbClr val="000000">
                <a:alpha val="12000"/>
              </a:srgbClr>
            </a:outerShdw>
          </a:effectLst>
        </p:spPr>
      </p:sp>
      <p:sp>
        <p:nvSpPr>
          <p:cNvPr id="5" name="Text 2"/>
          <p:cNvSpPr txBox="1"/>
          <p:nvPr/>
        </p:nvSpPr>
        <p:spPr>
          <a:xfrm>
            <a:off x="7909560" y="1508760"/>
            <a:ext cx="3566160" cy="914400"/>
          </a:xfrm>
          <a:prstGeom prst="rect">
            <a:avLst/>
          </a:prstGeom>
          <a:noFill/>
          <a:ln/>
        </p:spPr>
        <p:txBody>
          <a:bodyPr wrap="square" lIns="0" tIns="0" rIns="0" bIns="0" rtlCol="0" anchor="t"/>
          <a:lstStyle/>
          <a:p>
            <a:pPr indent="0" marL="0">
              <a:spcAft>
                <a:spcPts val="400"/>
              </a:spcAft>
              <a:buNone/>
            </a:pPr>
            <a:r>
              <a:rPr lang="en-US" sz="1400" dirty="0">
                <a:solidFill>
                  <a:srgbClr val="8FD8CC"/>
                </a:solidFill>
                <a:latin typeface="Courier New" pitchFamily="34" charset="0"/>
                <a:ea typeface="Courier New" pitchFamily="34" charset="-122"/>
                <a:cs typeface="Courier New" pitchFamily="34" charset="-120"/>
              </a:rPr>
              <a:t>Open</a:t>
            </a:r>
            <a:endParaRPr lang="en-US" sz="1400" dirty="0"/>
          </a:p>
          <a:p>
            <a:pPr indent="0" marL="0">
              <a:spcAft>
                <a:spcPts val="400"/>
              </a:spcAft>
              <a:buNone/>
            </a:pPr>
            <a:r>
              <a:rPr lang="en-US" sz="1400" b="1" dirty="0">
                <a:solidFill>
                  <a:srgbClr val="FFFFFF"/>
                </a:solidFill>
                <a:latin typeface="Courier New" pitchFamily="34" charset="0"/>
                <a:ea typeface="Courier New" pitchFamily="34" charset="-122"/>
                <a:cs typeface="Courier New" pitchFamily="34" charset="-120"/>
              </a:rPr>
              <a:t>l2-rag-b1-track-b-kafka-version-awa.vercel.app</a:t>
            </a:r>
            <a:endParaRPr lang="en-US" sz="1400" dirty="0"/>
          </a:p>
        </p:txBody>
      </p:sp>
      <p:sp>
        <p:nvSpPr>
          <p:cNvPr id="6" name="Text 3"/>
          <p:cNvSpPr txBox="1"/>
          <p:nvPr/>
        </p:nvSpPr>
        <p:spPr>
          <a:xfrm>
            <a:off x="7909560" y="2560320"/>
            <a:ext cx="356616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rPr>
              <a:t>Same retrieval, run in the browser (all-MiniLM-L6-v2, fp32 via transformers.js)</a:t>
            </a:r>
            <a:endParaRPr lang="en-US" sz="1300" dirty="0"/>
          </a:p>
          <a:p>
            <a:pPr marL="342900" indent="-342900">
              <a:spcAft>
                <a:spcPts val="600"/>
              </a:spcAft>
              <a:buSzPct val="100000"/>
              <a:buChar char="•"/>
            </a:pPr>
            <a:r>
              <a:rPr lang="en-US" sz="1300" dirty="0">
                <a:solidFill>
                  <a:srgbClr val="FFFFFF"/>
                </a:solidFill>
              </a:rPr>
              <a:t>Filter OFF vs ON side by side; all 21 test cases clickable</a:t>
            </a:r>
            <a:endParaRPr lang="en-US" sz="1300" dirty="0"/>
          </a:p>
          <a:p>
            <a:pPr marL="342900" indent="-342900">
              <a:spcAft>
                <a:spcPts val="600"/>
              </a:spcAft>
              <a:buSzPct val="100000"/>
              <a:buChar char="•"/>
            </a:pPr>
            <a:r>
              <a:rPr lang="en-US" sz="1300" b="1" dirty="0">
                <a:solidFill>
                  <a:srgbClr val="FFFFFF"/>
                </a:solidFill>
              </a:rPr>
              <a:t>42/42 top-4 identical to the Python system</a:t>
            </a:r>
            <a:endParaRPr lang="en-US" sz="1300" dirty="0"/>
          </a:p>
          <a:p>
            <a:pPr marL="342900" indent="-342900">
              <a:spcAft>
                <a:spcPts val="600"/>
              </a:spcAft>
              <a:buSzPct val="100000"/>
              <a:buChar char="•"/>
            </a:pPr>
            <a:r>
              <a:rPr lang="en-US" sz="1300" dirty="0">
                <a:solidFill>
                  <a:srgbClr val="FFFFFF"/>
                </a:solidFill>
              </a:rPr>
              <a:t>No server, no API key; Vercel auto-deploys branch main (web/)</a:t>
            </a:r>
            <a:endParaRPr lang="en-US" sz="1300" dirty="0"/>
          </a:p>
        </p:txBody>
      </p:sp>
      <p:sp>
        <p:nvSpPr>
          <p:cNvPr id="7" name="Text 4"/>
          <p:cNvSpPr txBox="1"/>
          <p:nvPr/>
        </p:nvSpPr>
        <p:spPr>
          <a:xfrm>
            <a:off x="7909560" y="5669280"/>
            <a:ext cx="3566160" cy="365760"/>
          </a:xfrm>
          <a:prstGeom prst="rect">
            <a:avLst/>
          </a:prstGeom>
          <a:noFill/>
          <a:ln/>
        </p:spPr>
        <p:txBody>
          <a:bodyPr wrap="square" lIns="0" tIns="0" rIns="0" bIns="0" rtlCol="0" anchor="ctr"/>
          <a:lstStyle/>
          <a:p>
            <a:pPr indent="0" marL="0">
              <a:buNone/>
            </a:pPr>
            <a:r>
              <a:rPr lang="en-US" sz="1200" dirty="0">
                <a:solidFill>
                  <a:srgbClr val="8FD8CC"/>
                </a:solidFill>
              </a:rPr>
              <a:t>Test: TC-31 in the test plan</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Get it and run it</a:t>
            </a:r>
            <a:endParaRPr lang="en-US" sz="3400" dirty="0"/>
          </a:p>
        </p:txBody>
      </p:sp>
      <p:sp>
        <p:nvSpPr>
          <p:cNvPr id="3" name="code"/>
          <p:cNvSpPr/>
          <p:nvPr/>
        </p:nvSpPr>
        <p:spPr>
          <a:xfrm>
            <a:off x="548640" y="1371600"/>
            <a:ext cx="11064240" cy="4434840"/>
          </a:xfrm>
          <a:prstGeom prst="roundRect">
            <a:avLst>
              <a:gd name="adj" fmla="val 2474"/>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4160520"/>
          </a:xfrm>
          <a:prstGeom prst="rect">
            <a:avLst/>
          </a:prstGeom>
          <a:noFill/>
          <a:ln/>
        </p:spPr>
        <p:txBody>
          <a:bodyPr wrap="square" lIns="0" tIns="0" rIns="0" bIns="0" rtlCol="0" anchor="ctr"/>
          <a:lstStyle/>
          <a:p>
            <a:pPr indent="0" marL="0">
              <a:buNone/>
            </a:pPr>
            <a:r>
              <a:rPr lang="en-US" sz="1350" dirty="0">
                <a:solidFill>
                  <a:srgbClr val="8FD8CC"/>
                </a:solidFill>
                <a:latin typeface="Courier New" pitchFamily="34" charset="0"/>
                <a:ea typeface="Courier New" pitchFamily="34" charset="-122"/>
                <a:cs typeface="Courier New" pitchFamily="34" charset="-120"/>
              </a:rPr>
              <a:t># the runnable RAG                                     expect:</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git clone -b rag-deployment \</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  https://github.com/shreenathacc22/L2-RAG-B1-track-b-kafka-version-aware.git b1-rag</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cd b1-rag</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./run.sh setup          # Python 3.12 venv + packages</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./run.sh ingest         # 17 chunks with version metadata</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./run.sh check          # data + Chroma checks: PASS</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./run.sh eval           # OFF 48.8% -&gt; ON 0.0%</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./run.sh ask "What port is the schema registry on?"   # needs .env (README)</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8FD8CC"/>
                </a:solidFill>
                <a:latin typeface="Courier New" pitchFamily="34" charset="0"/>
                <a:ea typeface="Courier New" pitchFamily="34" charset="-122"/>
                <a:cs typeface="Courier New" pitchFamily="34" charset="-120"/>
              </a:rPr>
              <a:t># the full project, then rebuild every step</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git clone -b track-b-kafka-version-aware &lt;repo-url&gt; b1-project &amp;&amp; cd b1-project</a:t>
            </a:r>
            <a:endParaRPr lang="en-US" sz="1350" dirty="0"/>
          </a:p>
          <a:p>
            <a:pPr indent="0" marL="0">
              <a:buNone/>
            </a:pPr>
            <a:r>
              <a:rPr lang="en-US" sz="1350" dirty="0">
                <a:solidFill>
                  <a:srgbClr val="FFFFFF"/>
                </a:solidFill>
                <a:latin typeface="Courier New" pitchFamily="34" charset="0"/>
                <a:ea typeface="Courier New" pitchFamily="34" charset="-122"/>
                <a:cs typeface="Courier New" pitchFamily="34" charset="-120"/>
              </a:rPr>
              <a:t>SKIP_STEP2=1 bash b1-track-b/tools/recreate_track_b.sh ../track-b-rebuild</a:t>
            </a:r>
            <a:endParaRPr lang="en-US" sz="1350" dirty="0"/>
          </a:p>
        </p:txBody>
      </p:sp>
      <p:sp>
        <p:nvSpPr>
          <p:cNvPr id="5" name="Text 3"/>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Docs on the project branch: b1-track-b/docs/ (SOP PDF, Claude-CLI Run Guide PDF, this deck).</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Rebuild Steps 0–12 with one command</a:t>
            </a:r>
            <a:endParaRPr lang="en-US" sz="3400" dirty="0"/>
          </a:p>
        </p:txBody>
      </p:sp>
      <p:sp>
        <p:nvSpPr>
          <p:cNvPr id="3" name="code"/>
          <p:cNvSpPr/>
          <p:nvPr/>
        </p:nvSpPr>
        <p:spPr>
          <a:xfrm>
            <a:off x="548640" y="1371600"/>
            <a:ext cx="11064240" cy="2011680"/>
          </a:xfrm>
          <a:prstGeom prst="roundRect">
            <a:avLst>
              <a:gd name="adj" fmla="val 5455"/>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1737360"/>
          </a:xfrm>
          <a:prstGeom prst="rect">
            <a:avLst/>
          </a:prstGeom>
          <a:noFill/>
          <a:ln/>
        </p:spPr>
        <p:txBody>
          <a:bodyPr wrap="square" lIns="0" tIns="0" rIns="0" bIns="0"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B=~/Desktop/AI-Architect_L2_Aug_2026/project_10082026</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T=$B/b1-tracking/track-b/tools</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bash $T/recreate_track_b.sh                   # builds $B/track-b-rebuild</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VENV=$B/mai-practitioner-labs/.venv bash $T/recreate_track_b.sh   # faster: reuse Python</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SKIP_STEP2=1 bash $T/recreate_track_b.sh      # skip lab run: no proxy key needed</a:t>
            </a:r>
            <a:endParaRPr lang="en-US" sz="1500" dirty="0"/>
          </a:p>
        </p:txBody>
      </p:sp>
      <p:sp>
        <p:nvSpPr>
          <p:cNvPr id="5" name="chip 0"/>
          <p:cNvSpPr/>
          <p:nvPr/>
        </p:nvSpPr>
        <p:spPr>
          <a:xfrm>
            <a:off x="548640" y="3703320"/>
            <a:ext cx="905256" cy="685800"/>
          </a:xfrm>
          <a:prstGeom prst="roundRect">
            <a:avLst>
              <a:gd name="adj" fmla="val 13333"/>
            </a:avLst>
          </a:prstGeom>
          <a:solidFill>
            <a:srgbClr val="EEF2F5"/>
          </a:solidFill>
          <a:ln/>
        </p:spPr>
      </p:sp>
      <p:sp>
        <p:nvSpPr>
          <p:cNvPr id="6" name="Text 4"/>
          <p:cNvSpPr txBox="1"/>
          <p:nvPr/>
        </p:nvSpPr>
        <p:spPr>
          <a:xfrm>
            <a:off x="566928"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Clone 6b918c2</a:t>
            </a:r>
            <a:endParaRPr lang="en-US" sz="1000" dirty="0"/>
          </a:p>
        </p:txBody>
      </p:sp>
      <p:sp>
        <p:nvSpPr>
          <p:cNvPr id="7" name="chip arrow 0"/>
          <p:cNvSpPr/>
          <p:nvPr/>
        </p:nvSpPr>
        <p:spPr>
          <a:xfrm>
            <a:off x="1463040" y="4046220"/>
            <a:ext cx="91440" cy="0"/>
          </a:xfrm>
          <a:prstGeom prst="line">
            <a:avLst/>
          </a:prstGeom>
          <a:noFill/>
          <a:ln w="22225">
            <a:solidFill>
              <a:srgbClr val="64748B"/>
            </a:solidFill>
            <a:prstDash val="solid"/>
            <a:tailEnd type="triangle"/>
          </a:ln>
        </p:spPr>
      </p:sp>
      <p:sp>
        <p:nvSpPr>
          <p:cNvPr id="8" name="chip 1"/>
          <p:cNvSpPr/>
          <p:nvPr/>
        </p:nvSpPr>
        <p:spPr>
          <a:xfrm>
            <a:off x="1563624" y="3703320"/>
            <a:ext cx="905256" cy="685800"/>
          </a:xfrm>
          <a:prstGeom prst="roundRect">
            <a:avLst>
              <a:gd name="adj" fmla="val 13333"/>
            </a:avLst>
          </a:prstGeom>
          <a:solidFill>
            <a:srgbClr val="EEF2F5"/>
          </a:solidFill>
          <a:ln/>
        </p:spPr>
      </p:sp>
      <p:sp>
        <p:nvSpPr>
          <p:cNvPr id="9" name="Text 7"/>
          <p:cNvSpPr txBox="1"/>
          <p:nvPr/>
        </p:nvSpPr>
        <p:spPr>
          <a:xfrm>
            <a:off x="1581912"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Python env</a:t>
            </a:r>
            <a:endParaRPr lang="en-US" sz="1000" dirty="0"/>
          </a:p>
        </p:txBody>
      </p:sp>
      <p:sp>
        <p:nvSpPr>
          <p:cNvPr id="10" name="chip arrow 1"/>
          <p:cNvSpPr/>
          <p:nvPr/>
        </p:nvSpPr>
        <p:spPr>
          <a:xfrm>
            <a:off x="2478024" y="4046220"/>
            <a:ext cx="91440" cy="0"/>
          </a:xfrm>
          <a:prstGeom prst="line">
            <a:avLst/>
          </a:prstGeom>
          <a:noFill/>
          <a:ln w="22225">
            <a:solidFill>
              <a:srgbClr val="64748B"/>
            </a:solidFill>
            <a:prstDash val="solid"/>
            <a:tailEnd type="triangle"/>
          </a:ln>
        </p:spPr>
      </p:sp>
      <p:sp>
        <p:nvSpPr>
          <p:cNvPr id="11" name="chip 2"/>
          <p:cNvSpPr/>
          <p:nvPr/>
        </p:nvSpPr>
        <p:spPr>
          <a:xfrm>
            <a:off x="2578608" y="3703320"/>
            <a:ext cx="905256" cy="685800"/>
          </a:xfrm>
          <a:prstGeom prst="roundRect">
            <a:avLst>
              <a:gd name="adj" fmla="val 13333"/>
            </a:avLst>
          </a:prstGeom>
          <a:solidFill>
            <a:srgbClr val="EEF2F5"/>
          </a:solidFill>
          <a:ln/>
        </p:spPr>
      </p:sp>
      <p:sp>
        <p:nvSpPr>
          <p:cNvPr id="12" name="Text 10"/>
          <p:cNvSpPr txBox="1"/>
          <p:nvPr/>
        </p:nvSpPr>
        <p:spPr>
          <a:xfrm>
            <a:off x="2596896"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 2 lab</a:t>
            </a:r>
            <a:endParaRPr lang="en-US" sz="1000" dirty="0"/>
          </a:p>
        </p:txBody>
      </p:sp>
      <p:sp>
        <p:nvSpPr>
          <p:cNvPr id="13" name="chip arrow 2"/>
          <p:cNvSpPr/>
          <p:nvPr/>
        </p:nvSpPr>
        <p:spPr>
          <a:xfrm>
            <a:off x="3493008" y="4046220"/>
            <a:ext cx="91440" cy="0"/>
          </a:xfrm>
          <a:prstGeom prst="line">
            <a:avLst/>
          </a:prstGeom>
          <a:noFill/>
          <a:ln w="22225">
            <a:solidFill>
              <a:srgbClr val="64748B"/>
            </a:solidFill>
            <a:prstDash val="solid"/>
            <a:tailEnd type="triangle"/>
          </a:ln>
        </p:spPr>
      </p:sp>
      <p:sp>
        <p:nvSpPr>
          <p:cNvPr id="14" name="chip 3"/>
          <p:cNvSpPr/>
          <p:nvPr/>
        </p:nvSpPr>
        <p:spPr>
          <a:xfrm>
            <a:off x="3593592" y="3703320"/>
            <a:ext cx="905256" cy="685800"/>
          </a:xfrm>
          <a:prstGeom prst="roundRect">
            <a:avLst>
              <a:gd name="adj" fmla="val 13333"/>
            </a:avLst>
          </a:prstGeom>
          <a:solidFill>
            <a:srgbClr val="EEF2F5"/>
          </a:solidFill>
          <a:ln/>
        </p:spPr>
      </p:sp>
      <p:sp>
        <p:nvSpPr>
          <p:cNvPr id="15" name="Text 13"/>
          <p:cNvSpPr txBox="1"/>
          <p:nvPr/>
        </p:nvSpPr>
        <p:spPr>
          <a:xfrm>
            <a:off x="3611880"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Steps 3–4 data</a:t>
            </a:r>
            <a:endParaRPr lang="en-US" sz="1000" dirty="0"/>
          </a:p>
        </p:txBody>
      </p:sp>
      <p:sp>
        <p:nvSpPr>
          <p:cNvPr id="16" name="chip arrow 3"/>
          <p:cNvSpPr/>
          <p:nvPr/>
        </p:nvSpPr>
        <p:spPr>
          <a:xfrm>
            <a:off x="4507992" y="4046220"/>
            <a:ext cx="91440" cy="0"/>
          </a:xfrm>
          <a:prstGeom prst="line">
            <a:avLst/>
          </a:prstGeom>
          <a:noFill/>
          <a:ln w="22225">
            <a:solidFill>
              <a:srgbClr val="64748B"/>
            </a:solidFill>
            <a:prstDash val="solid"/>
            <a:tailEnd type="triangle"/>
          </a:ln>
        </p:spPr>
      </p:sp>
      <p:sp>
        <p:nvSpPr>
          <p:cNvPr id="17" name="chip 4"/>
          <p:cNvSpPr/>
          <p:nvPr/>
        </p:nvSpPr>
        <p:spPr>
          <a:xfrm>
            <a:off x="4608576" y="3703320"/>
            <a:ext cx="905256" cy="685800"/>
          </a:xfrm>
          <a:prstGeom prst="roundRect">
            <a:avLst>
              <a:gd name="adj" fmla="val 13333"/>
            </a:avLst>
          </a:prstGeom>
          <a:solidFill>
            <a:srgbClr val="EEF2F5"/>
          </a:solidFill>
          <a:ln/>
        </p:spPr>
      </p:sp>
      <p:sp>
        <p:nvSpPr>
          <p:cNvPr id="18" name="Text 16"/>
          <p:cNvSpPr txBox="1"/>
          <p:nvPr/>
        </p:nvSpPr>
        <p:spPr>
          <a:xfrm>
            <a:off x="4626864"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 5 + neg. tests</a:t>
            </a:r>
            <a:endParaRPr lang="en-US" sz="1000" dirty="0"/>
          </a:p>
        </p:txBody>
      </p:sp>
      <p:sp>
        <p:nvSpPr>
          <p:cNvPr id="19" name="chip arrow 4"/>
          <p:cNvSpPr/>
          <p:nvPr/>
        </p:nvSpPr>
        <p:spPr>
          <a:xfrm>
            <a:off x="5522976" y="4046220"/>
            <a:ext cx="91440" cy="0"/>
          </a:xfrm>
          <a:prstGeom prst="line">
            <a:avLst/>
          </a:prstGeom>
          <a:noFill/>
          <a:ln w="22225">
            <a:solidFill>
              <a:srgbClr val="64748B"/>
            </a:solidFill>
            <a:prstDash val="solid"/>
            <a:tailEnd type="triangle"/>
          </a:ln>
        </p:spPr>
      </p:sp>
      <p:sp>
        <p:nvSpPr>
          <p:cNvPr id="20" name="chip 5"/>
          <p:cNvSpPr/>
          <p:nvPr/>
        </p:nvSpPr>
        <p:spPr>
          <a:xfrm>
            <a:off x="5623560" y="3703320"/>
            <a:ext cx="905256" cy="685800"/>
          </a:xfrm>
          <a:prstGeom prst="roundRect">
            <a:avLst>
              <a:gd name="adj" fmla="val 13333"/>
            </a:avLst>
          </a:prstGeom>
          <a:solidFill>
            <a:srgbClr val="EEF2F5"/>
          </a:solidFill>
          <a:ln/>
        </p:spPr>
      </p:sp>
      <p:sp>
        <p:nvSpPr>
          <p:cNvPr id="21" name="Text 19"/>
          <p:cNvSpPr txBox="1"/>
          <p:nvPr/>
        </p:nvSpPr>
        <p:spPr>
          <a:xfrm>
            <a:off x="5641848"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 6 freeze</a:t>
            </a:r>
            <a:endParaRPr lang="en-US" sz="1000" dirty="0"/>
          </a:p>
        </p:txBody>
      </p:sp>
      <p:sp>
        <p:nvSpPr>
          <p:cNvPr id="22" name="chip arrow 5"/>
          <p:cNvSpPr/>
          <p:nvPr/>
        </p:nvSpPr>
        <p:spPr>
          <a:xfrm>
            <a:off x="6537960" y="4046220"/>
            <a:ext cx="91440" cy="0"/>
          </a:xfrm>
          <a:prstGeom prst="line">
            <a:avLst/>
          </a:prstGeom>
          <a:noFill/>
          <a:ln w="22225">
            <a:solidFill>
              <a:srgbClr val="64748B"/>
            </a:solidFill>
            <a:prstDash val="solid"/>
            <a:tailEnd type="triangle"/>
          </a:ln>
        </p:spPr>
      </p:sp>
      <p:sp>
        <p:nvSpPr>
          <p:cNvPr id="23" name="chip 6"/>
          <p:cNvSpPr/>
          <p:nvPr/>
        </p:nvSpPr>
        <p:spPr>
          <a:xfrm>
            <a:off x="6638544" y="3703320"/>
            <a:ext cx="905256" cy="685800"/>
          </a:xfrm>
          <a:prstGeom prst="roundRect">
            <a:avLst>
              <a:gd name="adj" fmla="val 13333"/>
            </a:avLst>
          </a:prstGeom>
          <a:solidFill>
            <a:srgbClr val="EEF2F5"/>
          </a:solidFill>
          <a:ln/>
        </p:spPr>
      </p:sp>
      <p:sp>
        <p:nvSpPr>
          <p:cNvPr id="24" name="Text 22"/>
          <p:cNvSpPr txBox="1"/>
          <p:nvPr/>
        </p:nvSpPr>
        <p:spPr>
          <a:xfrm>
            <a:off x="6656832"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 7 BEFORE</a:t>
            </a:r>
            <a:endParaRPr lang="en-US" sz="1000" dirty="0"/>
          </a:p>
        </p:txBody>
      </p:sp>
      <p:sp>
        <p:nvSpPr>
          <p:cNvPr id="25" name="chip arrow 6"/>
          <p:cNvSpPr/>
          <p:nvPr/>
        </p:nvSpPr>
        <p:spPr>
          <a:xfrm>
            <a:off x="7552944" y="4046220"/>
            <a:ext cx="91440" cy="0"/>
          </a:xfrm>
          <a:prstGeom prst="line">
            <a:avLst/>
          </a:prstGeom>
          <a:noFill/>
          <a:ln w="22225">
            <a:solidFill>
              <a:srgbClr val="64748B"/>
            </a:solidFill>
            <a:prstDash val="solid"/>
            <a:tailEnd type="triangle"/>
          </a:ln>
        </p:spPr>
      </p:sp>
      <p:sp>
        <p:nvSpPr>
          <p:cNvPr id="26" name="chip 7"/>
          <p:cNvSpPr/>
          <p:nvPr/>
        </p:nvSpPr>
        <p:spPr>
          <a:xfrm>
            <a:off x="7653528" y="3703320"/>
            <a:ext cx="905256" cy="685800"/>
          </a:xfrm>
          <a:prstGeom prst="roundRect">
            <a:avLst>
              <a:gd name="adj" fmla="val 13333"/>
            </a:avLst>
          </a:prstGeom>
          <a:solidFill>
            <a:srgbClr val="EEF2F5"/>
          </a:solidFill>
          <a:ln/>
        </p:spPr>
      </p:sp>
      <p:sp>
        <p:nvSpPr>
          <p:cNvPr id="27" name="Text 25"/>
          <p:cNvSpPr txBox="1"/>
          <p:nvPr/>
        </p:nvSpPr>
        <p:spPr>
          <a:xfrm>
            <a:off x="7671816"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 8 Chroma</a:t>
            </a:r>
            <a:endParaRPr lang="en-US" sz="1000" dirty="0"/>
          </a:p>
        </p:txBody>
      </p:sp>
      <p:sp>
        <p:nvSpPr>
          <p:cNvPr id="28" name="chip arrow 7"/>
          <p:cNvSpPr/>
          <p:nvPr/>
        </p:nvSpPr>
        <p:spPr>
          <a:xfrm>
            <a:off x="8567928" y="4046220"/>
            <a:ext cx="91440" cy="0"/>
          </a:xfrm>
          <a:prstGeom prst="line">
            <a:avLst/>
          </a:prstGeom>
          <a:noFill/>
          <a:ln w="22225">
            <a:solidFill>
              <a:srgbClr val="64748B"/>
            </a:solidFill>
            <a:prstDash val="solid"/>
            <a:tailEnd type="triangle"/>
          </a:ln>
        </p:spPr>
      </p:sp>
      <p:sp>
        <p:nvSpPr>
          <p:cNvPr id="29" name="chip 8"/>
          <p:cNvSpPr/>
          <p:nvPr/>
        </p:nvSpPr>
        <p:spPr>
          <a:xfrm>
            <a:off x="8668512" y="3703320"/>
            <a:ext cx="905256" cy="685800"/>
          </a:xfrm>
          <a:prstGeom prst="roundRect">
            <a:avLst>
              <a:gd name="adj" fmla="val 13333"/>
            </a:avLst>
          </a:prstGeom>
          <a:solidFill>
            <a:srgbClr val="EEF2F5"/>
          </a:solidFill>
          <a:ln/>
        </p:spPr>
      </p:sp>
      <p:sp>
        <p:nvSpPr>
          <p:cNvPr id="30" name="Text 28"/>
          <p:cNvSpPr txBox="1"/>
          <p:nvPr/>
        </p:nvSpPr>
        <p:spPr>
          <a:xfrm>
            <a:off x="8686800"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Steps 9–10 filter</a:t>
            </a:r>
            <a:endParaRPr lang="en-US" sz="1000" dirty="0"/>
          </a:p>
        </p:txBody>
      </p:sp>
      <p:sp>
        <p:nvSpPr>
          <p:cNvPr id="31" name="chip arrow 8"/>
          <p:cNvSpPr/>
          <p:nvPr/>
        </p:nvSpPr>
        <p:spPr>
          <a:xfrm>
            <a:off x="9582912" y="4046220"/>
            <a:ext cx="91440" cy="0"/>
          </a:xfrm>
          <a:prstGeom prst="line">
            <a:avLst/>
          </a:prstGeom>
          <a:noFill/>
          <a:ln w="22225">
            <a:solidFill>
              <a:srgbClr val="64748B"/>
            </a:solidFill>
            <a:prstDash val="solid"/>
            <a:tailEnd type="triangle"/>
          </a:ln>
        </p:spPr>
      </p:sp>
      <p:sp>
        <p:nvSpPr>
          <p:cNvPr id="32" name="chip 9"/>
          <p:cNvSpPr/>
          <p:nvPr/>
        </p:nvSpPr>
        <p:spPr>
          <a:xfrm>
            <a:off x="9683496" y="3703320"/>
            <a:ext cx="905256" cy="685800"/>
          </a:xfrm>
          <a:prstGeom prst="roundRect">
            <a:avLst>
              <a:gd name="adj" fmla="val 13333"/>
            </a:avLst>
          </a:prstGeom>
          <a:solidFill>
            <a:srgbClr val="EEF2F5"/>
          </a:solidFill>
          <a:ln/>
        </p:spPr>
      </p:sp>
      <p:sp>
        <p:nvSpPr>
          <p:cNvPr id="33" name="Text 31"/>
          <p:cNvSpPr txBox="1"/>
          <p:nvPr/>
        </p:nvSpPr>
        <p:spPr>
          <a:xfrm>
            <a:off x="9701784"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Steps 11–12</a:t>
            </a:r>
            <a:endParaRPr lang="en-US" sz="1000" dirty="0"/>
          </a:p>
        </p:txBody>
      </p:sp>
      <p:sp>
        <p:nvSpPr>
          <p:cNvPr id="34" name="chip arrow 9"/>
          <p:cNvSpPr/>
          <p:nvPr/>
        </p:nvSpPr>
        <p:spPr>
          <a:xfrm>
            <a:off x="10597896" y="4046220"/>
            <a:ext cx="91440" cy="0"/>
          </a:xfrm>
          <a:prstGeom prst="line">
            <a:avLst/>
          </a:prstGeom>
          <a:noFill/>
          <a:ln w="22225">
            <a:solidFill>
              <a:srgbClr val="64748B"/>
            </a:solidFill>
            <a:prstDash val="solid"/>
            <a:tailEnd type="triangle"/>
          </a:ln>
        </p:spPr>
      </p:sp>
      <p:sp>
        <p:nvSpPr>
          <p:cNvPr id="35" name="chip 10"/>
          <p:cNvSpPr/>
          <p:nvPr/>
        </p:nvSpPr>
        <p:spPr>
          <a:xfrm>
            <a:off x="10698480" y="3703320"/>
            <a:ext cx="905256" cy="685800"/>
          </a:xfrm>
          <a:prstGeom prst="roundRect">
            <a:avLst>
              <a:gd name="adj" fmla="val 13333"/>
            </a:avLst>
          </a:prstGeom>
          <a:solidFill>
            <a:srgbClr val="CDEFEA"/>
          </a:solidFill>
          <a:ln w="19050">
            <a:solidFill>
              <a:srgbClr val="0F9D8A"/>
            </a:solidFill>
            <a:prstDash val="solid"/>
          </a:ln>
        </p:spPr>
      </p:sp>
      <p:sp>
        <p:nvSpPr>
          <p:cNvPr id="36" name="Text 34"/>
          <p:cNvSpPr txBox="1"/>
          <p:nvPr/>
        </p:nvSpPr>
        <p:spPr>
          <a:xfrm>
            <a:off x="10716768" y="3703320"/>
            <a:ext cx="868680" cy="685800"/>
          </a:xfrm>
          <a:prstGeom prst="rect">
            <a:avLst/>
          </a:prstGeom>
          <a:noFill/>
          <a:ln/>
        </p:spPr>
        <p:txBody>
          <a:bodyPr wrap="square" lIns="0" tIns="0" rIns="0" bIns="0" rtlCol="0" anchor="ctr"/>
          <a:lstStyle/>
          <a:p>
            <a:pPr algn="ctr" indent="0" marL="0">
              <a:buNone/>
            </a:pPr>
            <a:r>
              <a:rPr lang="en-US" sz="1000" b="1" dirty="0">
                <a:solidFill>
                  <a:schemeClr val="tx1"/>
                </a:solidFill>
              </a:rPr>
              <a:t>Verify</a:t>
            </a:r>
            <a:endParaRPr lang="en-US" sz="1000" dirty="0"/>
          </a:p>
        </p:txBody>
      </p:sp>
      <p:sp>
        <p:nvSpPr>
          <p:cNvPr id="37" name="tested"/>
          <p:cNvSpPr/>
          <p:nvPr/>
        </p:nvSpPr>
        <p:spPr>
          <a:xfrm>
            <a:off x="548640" y="4663440"/>
            <a:ext cx="11064240" cy="1097280"/>
          </a:xfrm>
          <a:prstGeom prst="roundRect">
            <a:avLst>
              <a:gd name="adj" fmla="val 10000"/>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38" name="Text 36"/>
          <p:cNvSpPr txBox="1"/>
          <p:nvPr/>
        </p:nvSpPr>
        <p:spPr>
          <a:xfrm>
            <a:off x="822960" y="4709160"/>
            <a:ext cx="10515600" cy="1005840"/>
          </a:xfrm>
          <a:prstGeom prst="rect">
            <a:avLst/>
          </a:prstGeom>
          <a:noFill/>
          <a:ln/>
        </p:spPr>
        <p:txBody>
          <a:bodyPr wrap="square" lIns="0" tIns="0" rIns="0" bIns="0" rtlCol="0" anchor="ctr"/>
          <a:lstStyle/>
          <a:p>
            <a:pPr indent="0" marL="0">
              <a:buNone/>
            </a:pPr>
            <a:r>
              <a:rPr lang="en-US" sz="1500" b="1" dirty="0">
                <a:solidFill>
                  <a:srgbClr val="0B6E61"/>
                </a:solidFill>
              </a:rPr>
              <a:t>Tested 2026-10-18:  </a:t>
            </a:r>
            <a:pPr indent="0" marL="0">
              <a:buNone/>
            </a:pPr>
            <a:r>
              <a:rPr lang="en-US" sz="1500" dirty="0">
                <a:solidFill>
                  <a:schemeClr val="tx1"/>
                </a:solidFill>
              </a:rPr>
              <a:t>210 s · every check OK · 3 negative tests FAIL as intended · BEFORE 48.8% · OFF unchanged after Steps 8 and 10 · AFTER 0.0% · 7 / 7 fingerprints MATCH. </a:t>
            </a:r>
            <a:pPr indent="0" marL="0">
              <a:buNone/>
            </a:pPr>
            <a:r>
              <a:rPr lang="en-US" sz="1500" i="1" dirty="0">
                <a:solidFill>
                  <a:schemeClr val="tx1"/>
                </a:solidFill>
              </a:rPr>
              <a:t>Stops at the first failure; never touches track-b-kafka/.</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Every command: Steps 0–2</a:t>
            </a:r>
            <a:endParaRPr lang="en-US" sz="3400" dirty="0"/>
          </a:p>
        </p:txBody>
      </p:sp>
      <p:sp>
        <p:nvSpPr>
          <p:cNvPr id="3" name="code"/>
          <p:cNvSpPr/>
          <p:nvPr/>
        </p:nvSpPr>
        <p:spPr>
          <a:xfrm>
            <a:off x="548640" y="1371600"/>
            <a:ext cx="11064240" cy="4434840"/>
          </a:xfrm>
          <a:prstGeom prst="roundRect">
            <a:avLst>
              <a:gd name="adj" fmla="val 2474"/>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4160520"/>
          </a:xfrm>
          <a:prstGeom prst="rect">
            <a:avLst/>
          </a:prstGeom>
          <a:noFill/>
          <a:ln/>
        </p:spPr>
        <p:txBody>
          <a:bodyPr wrap="square" lIns="0" tIns="0" rIns="0" bIns="0" rtlCol="0" anchor="ctr"/>
          <a:lstStyle/>
          <a:p>
            <a:pPr indent="0" marL="0">
              <a:buNone/>
            </a:pPr>
            <a:r>
              <a:rPr lang="en-US" sz="1450" dirty="0">
                <a:solidFill>
                  <a:srgbClr val="8FD8CC"/>
                </a:solidFill>
                <a:latin typeface="Courier New" pitchFamily="34" charset="0"/>
                <a:ea typeface="Courier New" pitchFamily="34" charset="-122"/>
                <a:cs typeface="Courier New" pitchFamily="34" charset="-120"/>
              </a:rPr>
              <a:t># Step 0 · get the code</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B=~/Desktop/AI-Architect_L2_Aug_2026/project_10082026; T=$B/b1-tracking/track-b/tools</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cd $B &amp;&amp; git clone https://github.com/balajivis/mai-practitioner-labs.git track-b-kafka</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cd track-b-kafka &amp;&amp; git checkout 6b918c2 &amp;&amp; git switch -c track-b</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cp $B/.env .env &amp;&amp; chmod 600 .env                 # proxy key, never committed</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D8CC"/>
                </a:solidFill>
                <a:latin typeface="Courier New" pitchFamily="34" charset="0"/>
                <a:ea typeface="Courier New" pitchFamily="34" charset="-122"/>
                <a:cs typeface="Courier New" pitchFamily="34" charset="-120"/>
              </a:rPr>
              <a:t># Python 3.12 environment (once)</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uv venv --python 3.12 .venv &amp;&amp; source .venv/bin/activate</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uv pip install -r requirements.txt \</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   "torch==2.2.2" "numpy&lt;2" "transformers&lt;5" "sentence-transformers&lt;6"</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D8CC"/>
                </a:solidFill>
                <a:latin typeface="Courier New" pitchFamily="34" charset="0"/>
                <a:ea typeface="Courier New" pitchFamily="34" charset="-122"/>
                <a:cs typeface="Courier New" pitchFamily="34" charset="-120"/>
              </a:rPr>
              <a:t># Step 2 · the unchanged lab                     expect:</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simple_rag/rag.py ingest                   # ~196 vectors stored</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simple_rag/rag.py ask "how do I tow my car?"   # answer with [1] [2] citations</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simple_rag/rag.py eval                     # retrieval 2/6 · answer 2/6</a:t>
            </a:r>
            <a:endParaRPr lang="en-US" sz="1450" dirty="0"/>
          </a:p>
        </p:txBody>
      </p:sp>
      <p:sp>
        <p:nvSpPr>
          <p:cNvPr id="5" name="Text 3"/>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Already set up? Skip to Step 3: source $B/mai-practitioner-labs/.venv/bin/activate also works.</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Every command: Steps 3–6</a:t>
            </a:r>
            <a:endParaRPr lang="en-US" sz="3400" dirty="0"/>
          </a:p>
        </p:txBody>
      </p:sp>
      <p:sp>
        <p:nvSpPr>
          <p:cNvPr id="3" name="code"/>
          <p:cNvSpPr/>
          <p:nvPr/>
        </p:nvSpPr>
        <p:spPr>
          <a:xfrm>
            <a:off x="548640" y="1371600"/>
            <a:ext cx="11064240" cy="4434840"/>
          </a:xfrm>
          <a:prstGeom prst="roundRect">
            <a:avLst>
              <a:gd name="adj" fmla="val 2474"/>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4160520"/>
          </a:xfrm>
          <a:prstGeom prst="rect">
            <a:avLst/>
          </a:prstGeom>
          <a:noFill/>
          <a:ln/>
        </p:spPr>
        <p:txBody>
          <a:bodyPr wrap="square" lIns="0" tIns="0" rIns="0" bIns="0" rtlCol="0" anchor="ctr"/>
          <a:lstStyle/>
          <a:p>
            <a:pPr indent="0" marL="0">
              <a:buNone/>
            </a:pPr>
            <a:r>
              <a:rPr lang="en-US" sz="1450" dirty="0">
                <a:solidFill>
                  <a:srgbClr val="8FD8CC"/>
                </a:solidFill>
                <a:latin typeface="Courier New" pitchFamily="34" charset="0"/>
                <a:ea typeface="Courier New" pitchFamily="34" charset="-122"/>
                <a:cs typeface="Courier New" pitchFamily="34" charset="-120"/>
              </a:rPr>
              <a:t># Steps 3–4 · corpus, manifest, data checks       expect:</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$T/make_corpus.py simple_rag/corpus/kafka   # wrote 16 runbooks + manifest.json</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cp $T/source/b1_check.py simple_rag/b1_check.py</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simple_rag/b1_check.py                      # old outranks current 4/8 ... PASS</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git add simple_rag/corpus/kafka simple_rag/b1_check.py &amp;&amp; git commit -m "Steps 3-4"</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D8CC"/>
                </a:solidFill>
                <a:latin typeface="Courier New" pitchFamily="34" charset="0"/>
                <a:ea typeface="Courier New" pitchFamily="34" charset="-122"/>
                <a:cs typeface="Courier New" pitchFamily="34" charset="-120"/>
              </a:rPr>
              <a:t># Step 5 · golden set</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$T/make_golden.py simple_rag/golden_kafka.jsonl   # wrote 21 cases</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simple_rag/b1_check.py --no-trap                 # [Step 5] ... PASS</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D8CC"/>
                </a:solidFill>
                <a:latin typeface="Courier New" pitchFamily="34" charset="0"/>
                <a:ea typeface="Courier New" pitchFamily="34" charset="-122"/>
                <a:cs typeface="Courier New" pitchFamily="34" charset="-120"/>
              </a:rPr>
              <a:t># Step 6 · freeze, then prove it</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git add simple_rag/golden_kafka.jsonl</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git commit -m "Freeze B1 golden set before version-aware retrieval"</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shasum simple_rag/golden_kafka.jsonl               # 850c67f2eab21aa1a6afabd481e5c3efccb7e0ba</a:t>
            </a:r>
            <a:endParaRPr lang="en-US" sz="1450" dirty="0"/>
          </a:p>
        </p:txBody>
      </p:sp>
      <p:sp>
        <p:nvSpPr>
          <p:cNvPr id="5" name="Text 3"/>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Negative tests and all four fingerprints: SOP Appendix A.2–A.3.</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Every command: Step 7</a:t>
            </a:r>
            <a:endParaRPr lang="en-US" sz="3400" dirty="0"/>
          </a:p>
        </p:txBody>
      </p:sp>
      <p:sp>
        <p:nvSpPr>
          <p:cNvPr id="3" name="code"/>
          <p:cNvSpPr/>
          <p:nvPr/>
        </p:nvSpPr>
        <p:spPr>
          <a:xfrm>
            <a:off x="548640" y="1371600"/>
            <a:ext cx="11064240" cy="3383280"/>
          </a:xfrm>
          <a:prstGeom prst="roundRect">
            <a:avLst>
              <a:gd name="adj" fmla="val 3243"/>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3108960"/>
          </a:xfrm>
          <a:prstGeom prst="rect">
            <a:avLst/>
          </a:prstGeom>
          <a:noFill/>
          <a:ln/>
        </p:spPr>
        <p:txBody>
          <a:bodyPr wrap="square" lIns="0" tIns="0" rIns="0" bIns="0" rtlCol="0" anchor="ctr"/>
          <a:lstStyle/>
          <a:p>
            <a:pPr indent="0" marL="0">
              <a:buNone/>
            </a:pPr>
            <a:r>
              <a:rPr lang="en-US" sz="1450" dirty="0">
                <a:solidFill>
                  <a:srgbClr val="8FD8CC"/>
                </a:solidFill>
                <a:latin typeface="Courier New" pitchFamily="34" charset="0"/>
                <a:ea typeface="Courier New" pitchFamily="34" charset="-122"/>
                <a:cs typeface="Courier New" pitchFamily="34" charset="-120"/>
              </a:rPr>
              <a:t># Step 7 · evaluator + BEFORE run (filter OFF)     expect:</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cp $T/source/rag.py simple_rag/rag.py             # corpus settings only; retrieval unchanged</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cp $T/source/b1_eval.py simple_rag/b1_eval.py</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export RAG_CORPUS=simple_rag/corpus/kafka RAG_COLLECTION=kafka</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simple_rag/rag.py ingest --formats md      # vectors stored 17</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python simple_rag/b1_eval.py --off                # superseded chunks 41/84 = 48.8%</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git add simple_rag/rag.py simple_rag/b1_eval.py simple_rag/results/</a:t>
            </a:r>
            <a:endParaRPr lang="en-US" sz="1450" dirty="0"/>
          </a:p>
          <a:p>
            <a:pPr indent="0" marL="0">
              <a:buNone/>
            </a:pPr>
            <a:r>
              <a:rPr lang="en-US" sz="1450" dirty="0">
                <a:solidFill>
                  <a:srgbClr val="FFFFFF"/>
                </a:solidFill>
                <a:latin typeface="Courier New" pitchFamily="34" charset="0"/>
                <a:ea typeface="Courier New" pitchFamily="34" charset="-122"/>
                <a:cs typeface="Courier New" pitchFamily="34" charset="-120"/>
              </a:rPr>
              <a:t>git commit -m "B1 Track B step 7: evaluator and BEFORE baseline (filter OFF)"</a:t>
            </a:r>
            <a:endParaRPr lang="en-US" sz="1450" dirty="0"/>
          </a:p>
        </p:txBody>
      </p:sp>
      <p:sp>
        <p:nvSpPr>
          <p:cNvPr id="5" name="step7 check"/>
          <p:cNvSpPr/>
          <p:nvPr/>
        </p:nvSpPr>
        <p:spPr>
          <a:xfrm>
            <a:off x="548640" y="4937760"/>
            <a:ext cx="11064240" cy="822960"/>
          </a:xfrm>
          <a:prstGeom prst="roundRect">
            <a:avLst>
              <a:gd name="adj" fmla="val 13333"/>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4983480"/>
            <a:ext cx="10515600" cy="731520"/>
          </a:xfrm>
          <a:prstGeom prst="rect">
            <a:avLst/>
          </a:prstGeom>
          <a:noFill/>
          <a:ln/>
        </p:spPr>
        <p:txBody>
          <a:bodyPr wrap="square" lIns="0" tIns="0" rIns="0" bIns="0" rtlCol="0" anchor="ctr"/>
          <a:lstStyle/>
          <a:p>
            <a:pPr indent="0" marL="0">
              <a:buNone/>
            </a:pPr>
            <a:r>
              <a:rPr lang="en-US" sz="1500" b="1" dirty="0">
                <a:solidFill>
                  <a:srgbClr val="0B6E61"/>
                </a:solidFill>
              </a:rPr>
              <a:t>Check: </a:t>
            </a:r>
            <a:pPr indent="0" marL="0">
              <a:buNone/>
            </a:pPr>
            <a:r>
              <a:rPr lang="en-US" sz="1500" dirty="0">
                <a:solidFill>
                  <a:schemeClr val="tx1"/>
                </a:solidFill>
              </a:rPr>
              <a:t>re-run b1_eval.py --off: every case and number except latency must be identical. --on must say "not built yet".</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Every command: Step 8 and the Chroma tests</a:t>
            </a:r>
            <a:endParaRPr lang="en-US" sz="3400" dirty="0"/>
          </a:p>
        </p:txBody>
      </p:sp>
      <p:sp>
        <p:nvSpPr>
          <p:cNvPr id="3" name="code"/>
          <p:cNvSpPr/>
          <p:nvPr/>
        </p:nvSpPr>
        <p:spPr>
          <a:xfrm>
            <a:off x="548640" y="1371600"/>
            <a:ext cx="11064240" cy="4434840"/>
          </a:xfrm>
          <a:prstGeom prst="roundRect">
            <a:avLst>
              <a:gd name="adj" fmla="val 2474"/>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4160520"/>
          </a:xfrm>
          <a:prstGeom prst="rect">
            <a:avLst/>
          </a:prstGeom>
          <a:noFill/>
          <a:ln/>
        </p:spPr>
        <p:txBody>
          <a:bodyPr wrap="square" lIns="0" tIns="0" rIns="0" bIns="0" rtlCol="0" anchor="ctr"/>
          <a:lstStyle/>
          <a:p>
            <a:pPr indent="0" marL="0">
              <a:buNone/>
            </a:pPr>
            <a:r>
              <a:rPr lang="en-US" sz="1400" dirty="0">
                <a:solidFill>
                  <a:srgbClr val="8FD8CC"/>
                </a:solidFill>
                <a:latin typeface="Courier New" pitchFamily="34" charset="0"/>
                <a:ea typeface="Courier New" pitchFamily="34" charset="-122"/>
                <a:cs typeface="Courier New" pitchFamily="34" charset="-120"/>
              </a:rPr>
              <a:t># Step 8 · metadata into Chroma                     expect:</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cp $T/source/step08/*.py simple_rag/</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simple_rag/b1_check.py --no-trap --chroma  # FAIL (18): old collection, the negative test</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simple_rag/rag.py ingest --formats md      # re-ingest: metadata goes in</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simple_rag/b1_check.py --no-trap --chroma  # 17 chunks · 8 vs 8 files · PASS</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simple_rag/b1_eval.py --off                # still 41/84 = 48.8%</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git add simple_rag/*.py &amp;&amp; git commit -m "B1 Track B step 8: metadata in Chroma"</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8FD8CC"/>
                </a:solidFill>
                <a:latin typeface="Courier New" pitchFamily="34" charset="0"/>
                <a:ea typeface="Courier New" pitchFamily="34" charset="-122"/>
                <a:cs typeface="Courier New" pitchFamily="34" charset="-120"/>
              </a:rPr>
              <a:t># Look inside Chroma yourself</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simple_rag/b1_inspect_chroma.py            # all chunks + filter OFF vs ON demo</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simple_rag/b1_inspect_chroma.py "What port is the schema registry on?"</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8FD8CC"/>
                </a:solidFill>
                <a:latin typeface="Courier New" pitchFamily="34" charset="0"/>
                <a:ea typeface="Courier New" pitchFamily="34" charset="-122"/>
                <a:cs typeface="Courier New" pitchFamily="34" charset="-120"/>
              </a:rPr>
              <a:t># Raw Chroma, no project scripts: SOP Step 8, Level 3</a:t>
            </a:r>
            <a:endParaRPr lang="en-US" sz="1400" dirty="0"/>
          </a:p>
        </p:txBody>
      </p:sp>
      <p:sp>
        <p:nvSpPr>
          <p:cNvPr id="5" name="Text 3"/>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200" dirty="0">
                <a:solidFill>
                  <a:schemeClr val="accent4"/>
                </a:solidFill>
              </a:rPr>
              <a:t>All three Chroma test levels, with expected output: SOP Step 8 "How to test inside Chroma".</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Every command: Steps 9–10, the filter</a:t>
            </a:r>
            <a:endParaRPr lang="en-US" sz="3400" dirty="0"/>
          </a:p>
        </p:txBody>
      </p:sp>
      <p:sp>
        <p:nvSpPr>
          <p:cNvPr id="3" name="code"/>
          <p:cNvSpPr/>
          <p:nvPr/>
        </p:nvSpPr>
        <p:spPr>
          <a:xfrm>
            <a:off x="548640" y="1371600"/>
            <a:ext cx="11064240" cy="3566160"/>
          </a:xfrm>
          <a:prstGeom prst="roundRect">
            <a:avLst>
              <a:gd name="adj" fmla="val 3077"/>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3291840"/>
          </a:xfrm>
          <a:prstGeom prst="rect">
            <a:avLst/>
          </a:prstGeom>
          <a:noFill/>
          <a:ln/>
        </p:spPr>
        <p:txBody>
          <a:bodyPr wrap="square" lIns="0" tIns="0" rIns="0" bIns="0" rtlCol="0" anchor="ctr"/>
          <a:lstStyle/>
          <a:p>
            <a:pPr indent="0" marL="0">
              <a:buNone/>
            </a:pPr>
            <a:r>
              <a:rPr lang="en-US" sz="1400" dirty="0">
                <a:solidFill>
                  <a:srgbClr val="8FD8CC"/>
                </a:solidFill>
                <a:latin typeface="Courier New" pitchFamily="34" charset="0"/>
                <a:ea typeface="Courier New" pitchFamily="34" charset="-122"/>
                <a:cs typeface="Courier New" pitchFamily="34" charset="-120"/>
              </a:rPr>
              <a:t># Steps 9–10 · filter + OFF/ON switch                expect:</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cp $T/source/step10/rag.py simple_rag/rag.py</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simple_rag/b1_eval.py --off --out /tmp/b1check   # 41/84 = 48.8% (unchanged)</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simple_rag/b1_eval.py --on  --out /tmp/b1check   # 0/84 = 0.0%, exact 7/7</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simple_rag/rag.py ask "Broker 4 hit 87% disk. Page?"                 # stale #2</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simple_rag/rag.py ask --version-aware "Broker 4 hit 87% disk. Page?" # current only</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git add simple_rag/rag.py</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git commit -m "B1 Track B steps 9-10: query-time version filter behind an OFF/ON switch"</a:t>
            </a:r>
            <a:endParaRPr lang="en-US" sz="1400" dirty="0"/>
          </a:p>
        </p:txBody>
      </p:sp>
      <p:sp>
        <p:nvSpPr>
          <p:cNvPr id="5" name="step10 check"/>
          <p:cNvSpPr/>
          <p:nvPr/>
        </p:nvSpPr>
        <p:spPr>
          <a:xfrm>
            <a:off x="548640" y="5120640"/>
            <a:ext cx="11064240" cy="685800"/>
          </a:xfrm>
          <a:prstGeom prst="roundRect">
            <a:avLst>
              <a:gd name="adj" fmla="val 16000"/>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5138928"/>
            <a:ext cx="10515600" cy="640080"/>
          </a:xfrm>
          <a:prstGeom prst="rect">
            <a:avLst/>
          </a:prstGeom>
          <a:noFill/>
          <a:ln/>
        </p:spPr>
        <p:txBody>
          <a:bodyPr wrap="square" lIns="0" tIns="0" rIns="0" bIns="0" rtlCol="0" anchor="ctr"/>
          <a:lstStyle/>
          <a:p>
            <a:pPr indent="0" marL="0">
              <a:buNone/>
            </a:pPr>
            <a:r>
              <a:rPr lang="en-US" sz="1500" b="1" dirty="0">
                <a:solidFill>
                  <a:srgbClr val="0B6E61"/>
                </a:solidFill>
              </a:rPr>
              <a:t>Pass rule: </a:t>
            </a:r>
            <a:pPr indent="0" marL="0">
              <a:buNone/>
            </a:pPr>
            <a:r>
              <a:rPr lang="en-US" sz="1500" dirty="0">
                <a:solidFill>
                  <a:schemeClr val="tx1"/>
                </a:solidFill>
              </a:rPr>
              <a:t>OFF must equal the Step 7 baseline exactly; ON must show 0% superseded with exact_string unchanged.</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Every command: Steps 11–12</a:t>
            </a:r>
            <a:endParaRPr lang="en-US" sz="3400" dirty="0"/>
          </a:p>
        </p:txBody>
      </p:sp>
      <p:sp>
        <p:nvSpPr>
          <p:cNvPr id="3" name="code"/>
          <p:cNvSpPr/>
          <p:nvPr/>
        </p:nvSpPr>
        <p:spPr>
          <a:xfrm>
            <a:off x="548640" y="1371600"/>
            <a:ext cx="11064240" cy="3657600"/>
          </a:xfrm>
          <a:prstGeom prst="roundRect">
            <a:avLst>
              <a:gd name="adj" fmla="val 3000"/>
            </a:avLst>
          </a:prstGeom>
          <a:solidFill>
            <a:srgbClr val="1F2A37"/>
          </a:solidFill>
          <a:ln/>
          <a:effectLst>
            <a:outerShdw sx="100000" sy="100000" kx="0" ky="0" algn="bl" rotWithShape="0" blurRad="76200" dist="25400" dir="5400000">
              <a:srgbClr val="000000">
                <a:alpha val="12000"/>
              </a:srgbClr>
            </a:outerShdw>
          </a:effectLst>
        </p:spPr>
      </p:sp>
      <p:sp>
        <p:nvSpPr>
          <p:cNvPr id="4" name="Text 2"/>
          <p:cNvSpPr txBox="1"/>
          <p:nvPr/>
        </p:nvSpPr>
        <p:spPr>
          <a:xfrm>
            <a:off x="868680" y="1508760"/>
            <a:ext cx="10424160" cy="3383280"/>
          </a:xfrm>
          <a:prstGeom prst="rect">
            <a:avLst/>
          </a:prstGeom>
          <a:noFill/>
          <a:ln/>
        </p:spPr>
        <p:txBody>
          <a:bodyPr wrap="square" lIns="0" tIns="0" rIns="0" bIns="0" rtlCol="0" anchor="ctr"/>
          <a:lstStyle/>
          <a:p>
            <a:pPr indent="0" marL="0">
              <a:buNone/>
            </a:pPr>
            <a:r>
              <a:rPr lang="en-US" sz="1400" dirty="0">
                <a:solidFill>
                  <a:srgbClr val="8FD8CC"/>
                </a:solidFill>
                <a:latin typeface="Courier New" pitchFamily="34" charset="0"/>
                <a:ea typeface="Courier New" pitchFamily="34" charset="-122"/>
                <a:cs typeface="Courier New" pitchFamily="34" charset="-120"/>
              </a:rPr>
              <a:t># Step 11 · AFTER run                                  expect:</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shasum simple_rag/golden_kafka.jsonl               # 850c67f2... (unchanged)</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simple_rag/b1_eval.py --on                  # 0/84 = 0.0% · 9/9 · 7/7 · 3/3</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git add simple_rag/results/ &amp;&amp; git commit -m "Step 11: AFTER run"</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8FD8CC"/>
                </a:solidFill>
                <a:latin typeface="Courier New" pitchFamily="34" charset="0"/>
                <a:ea typeface="Courier New" pitchFamily="34" charset="-122"/>
                <a:cs typeface="Courier New" pitchFamily="34" charset="-120"/>
              </a:rPr>
              <a:t># Step 12 · fair latency, table, report</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cp $T/source/step12/b1_eval.py simple_rag/</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simple_rag/b1_eval.py --latency 5           # OFF ~50 ms, ON ~51 ms</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simple_rag/b1_eval.py --table               # results/ablation_summary.md</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git add simple_rag/ &amp;&amp; git commit -m "Step 12: ablation table, fair latency and report"</a:t>
            </a:r>
            <a:endParaRPr lang="en-US" sz="1400" dirty="0"/>
          </a:p>
        </p:txBody>
      </p:sp>
      <p:sp>
        <p:nvSpPr>
          <p:cNvPr id="5" name="step12 check"/>
          <p:cNvSpPr/>
          <p:nvPr/>
        </p:nvSpPr>
        <p:spPr>
          <a:xfrm>
            <a:off x="548640" y="5212080"/>
            <a:ext cx="11064240" cy="594360"/>
          </a:xfrm>
          <a:prstGeom prst="roundRect">
            <a:avLst>
              <a:gd name="adj" fmla="val 18462"/>
            </a:avLst>
          </a:prstGeom>
          <a:solidFill>
            <a:srgbClr val="CDEFEA"/>
          </a:solidFill>
          <a:ln w="19050">
            <a:solidFill>
              <a:srgbClr val="0F9D8A"/>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5212080"/>
            <a:ext cx="10515600" cy="594360"/>
          </a:xfrm>
          <a:prstGeom prst="rect">
            <a:avLst/>
          </a:prstGeom>
          <a:noFill/>
          <a:ln/>
        </p:spPr>
        <p:txBody>
          <a:bodyPr wrap="square" lIns="0" tIns="0" rIns="0" bIns="0" rtlCol="0" anchor="ctr"/>
          <a:lstStyle/>
          <a:p>
            <a:pPr indent="0" marL="0">
              <a:buNone/>
            </a:pPr>
            <a:r>
              <a:rPr lang="en-US" sz="1500" b="1" dirty="0">
                <a:solidFill>
                  <a:srgbClr val="0B6E61"/>
                </a:solidFill>
              </a:rPr>
              <a:t>Result: </a:t>
            </a:r>
            <a:pPr indent="0" marL="0">
              <a:buNone/>
            </a:pPr>
            <a:r>
              <a:rPr lang="en-US" sz="1500" dirty="0">
                <a:solidFill>
                  <a:schemeClr val="tx1"/>
                </a:solidFill>
              </a:rPr>
              <a:t>superseded 48.8% → 0.0% · exact-string 7/7 → 7/7 · multi-hop 0/3 → 3/3 · latency +0.9 ms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1783080"/>
            <a:ext cx="11064240" cy="1783080"/>
          </a:xfrm>
          <a:prstGeom prst="rect">
            <a:avLst/>
          </a:prstGeom>
          <a:noFill/>
          <a:ln/>
        </p:spPr>
        <p:txBody>
          <a:bodyPr wrap="square" lIns="0" tIns="0" rIns="0" bIns="0" rtlCol="0" anchor="b"/>
          <a:lstStyle/>
          <a:p>
            <a:pPr algn="l" indent="0" marL="0">
              <a:buNone/>
            </a:pPr>
            <a:r>
              <a:rPr lang="en-US" sz="4400" b="1" dirty="0">
                <a:solidFill>
                  <a:schemeClr val="bg1"/>
                </a:solidFill>
              </a:rPr>
              <a:t>Done: stale retrieval 48.8% → 0%, exact-string flat</a:t>
            </a:r>
            <a:endParaRPr lang="en-US" sz="4400" dirty="0"/>
          </a:p>
        </p:txBody>
      </p:sp>
      <p:sp>
        <p:nvSpPr>
          <p:cNvPr id="3" name="Text 0"/>
          <p:cNvSpPr/>
          <p:nvPr>
            <p:ph idx="101" type="body" hasCustomPrompt="1"/>
          </p:nvPr>
        </p:nvSpPr>
        <p:spPr>
          <a:xfrm>
            <a:off x="548640" y="3749040"/>
            <a:ext cx="10515600" cy="1097280"/>
          </a:xfrm>
          <a:prstGeom prst="rect">
            <a:avLst/>
          </a:prstGeom>
          <a:noFill/>
          <a:ln/>
        </p:spPr>
        <p:txBody>
          <a:bodyPr wrap="square" lIns="0" tIns="0" rIns="0" bIns="0" rtlCol="0" anchor="t"/>
          <a:lstStyle/>
          <a:p>
            <a:pPr indent="0" marL="0">
              <a:buNone/>
            </a:pPr>
            <a:r>
              <a:rPr lang="en-US" sz="2000" dirty="0">
                <a:solidFill>
                  <a:schemeClr val="accent5"/>
                </a:solidFill>
              </a:rPr>
              <a:t>Live demo: l2-rag-b1-track-b-kafka-version-awa.vercel.app · Code: github.com/shreenathacc22/L2-RAG-B1-track-b-kafka-version-aware</a:t>
            </a:r>
            <a:endParaRPr lang="en-US" sz="2000" dirty="0"/>
          </a:p>
        </p:txBody>
      </p:sp>
      <p:sp>
        <p:nvSpPr>
          <p:cNvPr id="4" name="badge done"/>
          <p:cNvSpPr/>
          <p:nvPr/>
        </p:nvSpPr>
        <p:spPr>
          <a:xfrm>
            <a:off x="548640" y="914400"/>
            <a:ext cx="640080" cy="640080"/>
          </a:xfrm>
          <a:prstGeom prst="ellipse">
            <a:avLst/>
          </a:prstGeom>
          <a:solidFill>
            <a:srgbClr val="0F9D8A"/>
          </a:solidFill>
          <a:ln/>
        </p:spPr>
      </p:sp>
      <p:sp>
        <p:nvSpPr>
          <p:cNvPr id="5" name="Text 3"/>
          <p:cNvSpPr txBox="1"/>
          <p:nvPr/>
        </p:nvSpPr>
        <p:spPr>
          <a:xfrm>
            <a:off x="548640" y="9144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Tree>
  </p:cSld>
  <p:clrMapOvr>
    <a:masterClrMapping/>
  </p:clrMapOvr>
</p:sld>
</file>

<file path=ppt/theme/theme1.xml><?xml version="1.0" encoding="utf-8"?>
<a:theme xmlns:a="http://schemas.openxmlformats.org/drawingml/2006/main" name="B1 Kafka Versioning">
  <a:themeElements>
    <a:clrScheme name="B1 Kafka Versioning">
      <a:dk1>
        <a:srgbClr val="1F2A37"/>
      </a:dk1>
      <a:lt1>
        <a:srgbClr val="FFFFFF"/>
      </a:lt1>
      <a:dk2>
        <a:srgbClr val="0B6E61"/>
      </a:dk2>
      <a:lt2>
        <a:srgbClr val="EEF2F5"/>
      </a:lt2>
      <a:accent1>
        <a:srgbClr val="0F9D8A"/>
      </a:accent1>
      <a:accent2>
        <a:srgbClr val="E8833A"/>
      </a:accent2>
      <a:accent3>
        <a:srgbClr val="B42318"/>
      </a:accent3>
      <a:accent4>
        <a:srgbClr val="64748B"/>
      </a:accent4>
      <a:accent5>
        <a:srgbClr val="CDEFEA"/>
      </a:accent5>
      <a:accent6>
        <a:srgbClr val="FDEBDC"/>
      </a:accent6>
      <a:hlink>
        <a:srgbClr val="0F9D8A"/>
      </a:hlink>
      <a:folHlink>
        <a:srgbClr val="0B6E61"/>
      </a:folHlink>
    </a:clrScheme>
    <a:fontScheme name="B1 Kafka Version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Version-Aware Retrieval — Track B flow</dc:title>
  <dc:subject>Modern AI Pro Level 2, Track B, project B1</dc:subject>
  <dc:creator>Shreenath Shetty</dc:creator>
  <cp:lastModifiedBy>Shreenath Shetty</cp:lastModifiedBy>
  <cp:revision>1</cp:revision>
  <dcterms:created xsi:type="dcterms:W3CDTF">2026-10-18T19:49:42Z</dcterms:created>
  <dcterms:modified xsi:type="dcterms:W3CDTF">2026-10-18T19:49:42Z</dcterms:modified>
</cp:coreProperties>
</file>