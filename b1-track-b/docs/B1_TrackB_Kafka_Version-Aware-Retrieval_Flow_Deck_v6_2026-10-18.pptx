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87ed0e0-12fb-0eb8-2495-e07b4c03f9ac}">
          <p14:sldIdLst>
            <p14:sldId id="256"/>
            <p14:sldId id="257"/>
            <p14:sldId id="258"/>
          </p14:sldIdLst>
        </p14:section>
        <p14:section name="Progress" id="{7cc5926e-83d0-b2fe-324f-02ce408bfd4d}">
          <p14:sldIdLst>
            <p14:sldId id="259"/>
            <p14:sldId id="260"/>
          </p14:sldIdLst>
        </p14:section>
        <p14:section name="Steps 2–12" id="{70dde70f-9037-2b15-6329-9072435e670f}">
          <p14:sldIdLst>
            <p14:sldId id="261"/>
            <p14:sldId id="262"/>
            <p14:sldId id="263"/>
            <p14:sldId id="264"/>
            <p14:sldId id="265"/>
            <p14:sldId id="266"/>
            <p14:sldId id="267"/>
          </p14:sldIdLst>
        </p14:section>
        <p14:section name="Testing" id="{cb60d3e7-37b4-e940-57d6-13f1e0bfeed6}">
          <p14:sldIdLst>
            <p14:sldId id="268"/>
            <p14:sldId id="269"/>
            <p14:sldId id="270"/>
          </p14:sldIdLst>
        </p14:section>
        <p14:section name="GitHub" id="{ecac5357-9d7f-a302-31ea-e39ec65d47bc}">
          <p14:sldIdLst>
            <p14:sldId id="271"/>
            <p14:sldId id="272"/>
          </p14:sldIdLst>
        </p14:section>
        <p14:section name="Recreate without Claude" id="{f7658002-590f-24be-de97-705629e1e893}">
          <p14:sldIdLst>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Track B of project B1: making a RAG system stop answering from outdated runbooks. Steps 2 to 5 are done; Step 6, freezing the test set,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and new runbooks are near-duplicates. Embedding search measures meaning, not validity, so it cannot tell which one is current. Measured with the lab's own embedder: in 4 of 8 plain questions the old version ranks first, and in every case both are in the top 2. With top-4 retrieval, roughly half the context the LLM sees is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box except VERSION FILTER already exists in simple_rag/rag.py. At ingest, each chunk gets the manifest fields. At query time, Chroma's where clause drops superseded chunks before similarity ranking. This is structural, not a prompt instruction like 'prefer the newest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Teal is done, orange is next, outlined is still to do. Step 1 is not applicable because this is an individual project. Step 6 froze the 21 cases in commit 2cff45a. The order matters: the corpus and test cases are committed before rag.py changes, so the test can't be shaped by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holds what gets graded. The tracking folder holds how it was built and tested: logs from every run, the SOP, and the generator that recreates the corpus byte for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step 2: run the lab exactly as shipped before changing anything. All three commands worked. The 2 out of 6 eval score is the lab's built-in starting point, not a fault introduced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has 5 to 9 conflicting values. A few values are deliberately identical in both versions, such as replication factor 3 and /var/lib/kafka. Those feed the exact-string tests that must stay flat. The generator in tools/make_corpus.py recreates every file byte for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lives outside the documents so the embedded text is exactly what a reader sees. The manifest is written by the same generator as the runbooks, so they cannot drift. The conflicts block lists all 64 differing values and is used to write test cases, never given to the retriever.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Superseded cases test the fix. Exact-string cases must stay flat, which proves the filter didn't break normal retrieval. Multi-hop cases need two current documents. Unanswerable cases check the model doesn't start guessing. The set is written but not yet frozen: that is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rag.py only gained two settings to point at the Kafka corpus; retrieval is the original. b1_eval.py looks up each retrieved file in the manifest. Example: for 'Broker 4 hit 87%', the retriever returned disk-capacity.md AND disk-capacity-2025.md. This is the number the filter must take to 0% without moving exact-string off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rag.py copies the manifest fields onto every chunk at ingest. The check reads Chroma directly, not rag.py. The demo runs one question against Chroma with and without the where clause: the 2025 disk runbook disappears. Step 9 puts exactly this clause into rag.retrieve().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change to the query is the where clause, and only when version_aware is True. OFF is byte-for-byte the original query, which the identical OFF run proves. The formal AFTER run, committed to results/, is Step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b1_check.py grows with each step and runs in one command. Each layer was also proven to catch mistakes by injecting errors. The ablation checks arrive with b1_eval.py in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11 and 12: the same 21 frozen cases with the filter ON, committed; then a fair latency test (OFF and ON interleaved, 105 calls each) and the ablation table. No case fails with the filter ON; the 2 unanswerable cases are not scored on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commands work from any terminal on this Mac. Each command's expected output is in the SOP, in the Verify and Expect parts of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a branch with: git clone -b &lt;branch&gt; https://github.com/shreenathacc22/L2-RAG-B1-track-b-kafka-version-aware.git. The rag-deployment branch runs on its own; the project branch carries the full history and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needs an OpenAI-compatible key in .env (OPENAI_API_KEY, OPENAI_BASE_URL, MODEL); everything else runs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recreate_track_b.sh rebuilds everything up to the freeze in a separate folder and compares fingerprints of the corpus, manifest, golden set and check script with the original. If all four match, the rebuild is byte-identical. Logs go to the folder name plus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in a fresh terminal. The expected result of each command is in its comment. The full version with explanations is SOP Appendix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make_corpus.py and make_golden.py are deterministic: they reproduce the committed files byte for byte, which the shasum line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copied files and two commands. rag.py differs from upstream only by the RAG_CORPUS / RAG_COLLECTION settings and flat-folder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--chroma run is a deliberate negative test: before re-ingesting, the collection has no metadata, so the check must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OFF moves at all, something besides the filter changed and the ablation is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reuses the committed OFF and ON results instead of rerunning them, so the BEFORE evidence never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 steps are complete and published. One-minute version: similarity alone served outdated runbooks for half the context; one query-time metadata filter removed them without hurting exact lookups 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F2A3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B1 Version-Aware Retrieval · Track B · Kafka runbooks</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lIns="0" tIns="0" rIns="0" bIns="0" rtlCol="0" anchor="b"/>
          <a:lstStyle/>
          <a:p>
            <a:pPr algn="l" indent="0" marL="0">
              <a:buNone/>
            </a:pPr>
            <a:r>
              <a:rPr lang="en-US" sz="4400" b="1" dirty="0">
                <a:solidFill>
                  <a:schemeClr val="bg1"/>
                </a:solidFill>
              </a:rPr>
              <a:t>B1 Version-Aware Retrieval</a:t>
            </a: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lIns="0" tIns="0" rIns="0" bIns="0" rtlCol="0" anchor="t"/>
          <a:lstStyle/>
          <a:p>
            <a:pPr indent="0" marL="0">
              <a:buNone/>
            </a:pPr>
            <a:r>
              <a:rPr lang="en-US" sz="2000" dirty="0">
                <a:solidFill>
                  <a:schemeClr val="accent5"/>
                </a:solidFill>
              </a:rPr>
              <a:t>Track B · Kafka runbooks · how the flow works, step by step</a:t>
            </a:r>
            <a:endParaRPr lang="en-US" sz="2000" dirty="0"/>
          </a:p>
        </p:txBody>
      </p:sp>
      <p:sp>
        <p:nvSpPr>
          <p:cNvPr id="4" name="Text 2"/>
          <p:cNvSpPr txBox="1"/>
          <p:nvPr/>
        </p:nvSpPr>
        <p:spPr>
          <a:xfrm>
            <a:off x="548640" y="6035040"/>
            <a:ext cx="10972800" cy="320040"/>
          </a:xfrm>
          <a:prstGeom prst="rect">
            <a:avLst/>
          </a:prstGeom>
          <a:noFill/>
          <a:ln/>
        </p:spPr>
        <p:txBody>
          <a:bodyPr wrap="square" lIns="0" tIns="0" rIns="0" bIns="0" rtlCol="0" anchor="ctr"/>
          <a:lstStyle/>
          <a:p>
            <a:pPr indent="0" marL="0">
              <a:buNone/>
            </a:pPr>
            <a:r>
              <a:rPr lang="en-US" sz="1200" dirty="0">
                <a:solidFill>
                  <a:schemeClr val="accent4"/>
                </a:solidFill>
              </a:rPr>
              <a:t>Modern AI Pro · Level 2 · RAG Design   |   Shreenath Shetty   |   v6 · 2026-10-18</a:t>
            </a:r>
            <a:endParaRPr lang="en-US" sz="1200" dirty="0"/>
          </a:p>
        </p:txBody>
      </p:sp>
      <p:sp>
        <p:nvSpPr>
          <p:cNvPr id="5" name="badge"/>
          <p:cNvSpPr/>
          <p:nvPr/>
        </p:nvSpPr>
        <p:spPr>
          <a:xfrm>
            <a:off x="548640" y="914400"/>
            <a:ext cx="640080" cy="640080"/>
          </a:xfrm>
          <a:prstGeom prst="ellipse">
            <a:avLst/>
          </a:prstGeom>
          <a:solidFill>
            <a:srgbClr val="E8833A"/>
          </a:solidFill>
          <a:ln/>
        </p:spPr>
      </p:sp>
      <p:sp>
        <p:nvSpPr>
          <p:cNvPr id="6" name="Text 4"/>
          <p:cNvSpPr txBox="1"/>
          <p:nvPr/>
        </p:nvSpPr>
        <p:spPr>
          <a:xfrm>
            <a:off x="548640" y="914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B1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Old runbooks win on similarity alone</a:t>
            </a:r>
            <a:endParaRPr lang="en-US" sz="3400" dirty="0"/>
          </a:p>
        </p:txBody>
      </p:sp>
      <p:sp>
        <p:nvSpPr>
          <p:cNvPr id="3" name="old card"/>
          <p:cNvSpPr/>
          <p:nvPr/>
        </p:nvSpPr>
        <p:spPr>
          <a:xfrm>
            <a:off x="548640" y="1417320"/>
            <a:ext cx="3566160" cy="2331720"/>
          </a:xfrm>
          <a:prstGeom prst="roundRect">
            <a:avLst>
              <a:gd name="adj" fmla="val 4706"/>
            </a:avLst>
          </a:prstGeom>
          <a:solidFill>
            <a:srgbClr val="FDEBDC"/>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00200"/>
            <a:ext cx="3108960" cy="320040"/>
          </a:xfrm>
          <a:prstGeom prst="rect">
            <a:avLst/>
          </a:prstGeom>
          <a:noFill/>
          <a:ln/>
        </p:spPr>
        <p:txBody>
          <a:bodyPr wrap="square" lIns="0" tIns="0" rIns="0" bIns="0" rtlCol="0" anchor="ctr"/>
          <a:lstStyle/>
          <a:p>
            <a:pPr indent="0" marL="0">
              <a:buNone/>
            </a:pPr>
            <a:r>
              <a:rPr lang="en-US" sz="1400" b="1" dirty="0">
                <a:solidFill>
                  <a:schemeClr val="tx1"/>
                </a:solidFill>
              </a:rPr>
              <a:t>disk-capacity-2025.md</a:t>
            </a:r>
            <a:endParaRPr lang="en-US" sz="1400" dirty="0"/>
          </a:p>
        </p:txBody>
      </p:sp>
      <p:sp>
        <p:nvSpPr>
          <p:cNvPr id="5" name="Text 3"/>
          <p:cNvSpPr txBox="1"/>
          <p:nvPr/>
        </p:nvSpPr>
        <p:spPr>
          <a:xfrm>
            <a:off x="822960" y="1920240"/>
            <a:ext cx="3108960" cy="274320"/>
          </a:xfrm>
          <a:prstGeom prst="rect">
            <a:avLst/>
          </a:prstGeom>
          <a:noFill/>
          <a:ln/>
        </p:spPr>
        <p:txBody>
          <a:bodyPr wrap="square" lIns="0" tIns="0" rIns="0" bIns="0" rtlCol="0" anchor="ctr"/>
          <a:lstStyle/>
          <a:p>
            <a:pPr indent="0" marL="0">
              <a:buNone/>
            </a:pPr>
            <a:r>
              <a:rPr lang="en-US" sz="1200" dirty="0">
                <a:solidFill>
                  <a:schemeClr val="accent4"/>
                </a:solidFill>
              </a:rPr>
              <a:t>Version 2 · 2025-02-01</a:t>
            </a:r>
            <a:endParaRPr lang="en-US" sz="1200" dirty="0"/>
          </a:p>
        </p:txBody>
      </p:sp>
      <p:sp>
        <p:nvSpPr>
          <p:cNvPr id="6" name="Text 4"/>
          <p:cNvSpPr txBox="1"/>
          <p:nvPr/>
        </p:nvSpPr>
        <p:spPr>
          <a:xfrm>
            <a:off x="822960" y="2377440"/>
            <a:ext cx="3108960" cy="548640"/>
          </a:xfrm>
          <a:prstGeom prst="rect">
            <a:avLst/>
          </a:prstGeom>
          <a:noFill/>
          <a:ln/>
        </p:spPr>
        <p:txBody>
          <a:bodyPr wrap="square" lIns="0" tIns="0" rIns="0" bIns="0" rtlCol="0" anchor="ctr"/>
          <a:lstStyle/>
          <a:p>
            <a:pPr indent="0" marL="0">
              <a:buNone/>
            </a:pPr>
            <a:r>
              <a:rPr lang="en-US" sz="2600" b="1" dirty="0">
                <a:solidFill>
                  <a:schemeClr val="accent2"/>
                </a:solidFill>
              </a:rPr>
              <a:t>Page at 90% used</a:t>
            </a:r>
            <a:endParaRPr lang="en-US" sz="2600" dirty="0"/>
          </a:p>
        </p:txBody>
      </p:sp>
      <p:sp>
        <p:nvSpPr>
          <p:cNvPr id="7" name="Text 5"/>
          <p:cNvSpPr txBox="1"/>
          <p:nvPr/>
        </p:nvSpPr>
        <p:spPr>
          <a:xfrm>
            <a:off x="822960" y="2971800"/>
            <a:ext cx="3108960" cy="640080"/>
          </a:xfrm>
          <a:prstGeom prst="rect">
            <a:avLst/>
          </a:prstGeom>
          <a:noFill/>
          <a:ln/>
        </p:spPr>
        <p:txBody>
          <a:bodyPr wrap="square" lIns="0" tIns="0" rIns="0" bIns="0" rtlCol="0" anchor="ctr"/>
          <a:lstStyle/>
          <a:p>
            <a:pPr indent="0" marL="0">
              <a:buNone/>
            </a:pPr>
            <a:r>
              <a:rPr lang="en-US" sz="1300" dirty="0">
                <a:solidFill>
                  <a:schemeClr val="tx1"/>
                </a:solidFill>
              </a:rPr>
              <a:t>Reads like a live document. Nothing says it is outdated.</a:t>
            </a:r>
            <a:endParaRPr lang="en-US" sz="1300" dirty="0"/>
          </a:p>
        </p:txBody>
      </p:sp>
      <p:sp>
        <p:nvSpPr>
          <p:cNvPr id="8" name="current card"/>
          <p:cNvSpPr/>
          <p:nvPr/>
        </p:nvSpPr>
        <p:spPr>
          <a:xfrm>
            <a:off x="548640" y="3977640"/>
            <a:ext cx="3566160" cy="2194560"/>
          </a:xfrm>
          <a:prstGeom prst="roundRect">
            <a:avLst>
              <a:gd name="adj" fmla="val 5000"/>
            </a:avLst>
          </a:prstGeom>
          <a:solidFill>
            <a:srgbClr val="CDEFEA"/>
          </a:solidFill>
          <a:ln/>
          <a:effectLst>
            <a:outerShdw sx="100000" sy="100000" kx="0" ky="0" algn="bl" rotWithShape="0" blurRad="76200" dist="25400" dir="5400000">
              <a:srgbClr val="000000">
                <a:alpha val="12000"/>
              </a:srgbClr>
            </a:outerShdw>
          </a:effectLst>
        </p:spPr>
      </p:sp>
      <p:sp>
        <p:nvSpPr>
          <p:cNvPr id="9" name="Text 7"/>
          <p:cNvSpPr txBox="1"/>
          <p:nvPr/>
        </p:nvSpPr>
        <p:spPr>
          <a:xfrm>
            <a:off x="822960" y="4160520"/>
            <a:ext cx="3108960" cy="320040"/>
          </a:xfrm>
          <a:prstGeom prst="rect">
            <a:avLst/>
          </a:prstGeom>
          <a:noFill/>
          <a:ln/>
        </p:spPr>
        <p:txBody>
          <a:bodyPr wrap="square" lIns="0" tIns="0" rIns="0" bIns="0" rtlCol="0" anchor="ctr"/>
          <a:lstStyle/>
          <a:p>
            <a:pPr indent="0" marL="0">
              <a:buNone/>
            </a:pPr>
            <a:r>
              <a:rPr lang="en-US" sz="1400" b="1" dirty="0">
                <a:solidFill>
                  <a:schemeClr val="tx1"/>
                </a:solidFill>
              </a:rPr>
              <a:t>disk-capacity.md</a:t>
            </a:r>
            <a:endParaRPr lang="en-US" sz="1400" dirty="0"/>
          </a:p>
        </p:txBody>
      </p:sp>
      <p:sp>
        <p:nvSpPr>
          <p:cNvPr id="10" name="Text 8"/>
          <p:cNvSpPr txBox="1"/>
          <p:nvPr/>
        </p:nvSpPr>
        <p:spPr>
          <a:xfrm>
            <a:off x="822960" y="4480560"/>
            <a:ext cx="3108960" cy="274320"/>
          </a:xfrm>
          <a:prstGeom prst="rect">
            <a:avLst/>
          </a:prstGeom>
          <a:noFill/>
          <a:ln/>
        </p:spPr>
        <p:txBody>
          <a:bodyPr wrap="square" lIns="0" tIns="0" rIns="0" bIns="0" rtlCol="0" anchor="ctr"/>
          <a:lstStyle/>
          <a:p>
            <a:pPr indent="0" marL="0">
              <a:buNone/>
            </a:pPr>
            <a:r>
              <a:rPr lang="en-US" sz="1200" dirty="0">
                <a:solidFill>
                  <a:schemeClr val="accent4"/>
                </a:solidFill>
              </a:rPr>
              <a:t>Version 3 · 2026-05-01</a:t>
            </a:r>
            <a:endParaRPr lang="en-US" sz="1200" dirty="0"/>
          </a:p>
        </p:txBody>
      </p:sp>
      <p:sp>
        <p:nvSpPr>
          <p:cNvPr id="11" name="Text 9"/>
          <p:cNvSpPr txBox="1"/>
          <p:nvPr/>
        </p:nvSpPr>
        <p:spPr>
          <a:xfrm>
            <a:off x="822960" y="4937760"/>
            <a:ext cx="3108960" cy="548640"/>
          </a:xfrm>
          <a:prstGeom prst="rect">
            <a:avLst/>
          </a:prstGeom>
          <a:noFill/>
          <a:ln/>
        </p:spPr>
        <p:txBody>
          <a:bodyPr wrap="square" lIns="0" tIns="0" rIns="0" bIns="0" rtlCol="0" anchor="ctr"/>
          <a:lstStyle/>
          <a:p>
            <a:pPr indent="0" marL="0">
              <a:buNone/>
            </a:pPr>
            <a:r>
              <a:rPr lang="en-US" sz="2600" b="1" dirty="0">
                <a:solidFill>
                  <a:schemeClr val="accent1"/>
                </a:solidFill>
              </a:rPr>
              <a:t>Page at 85% used</a:t>
            </a:r>
            <a:endParaRPr lang="en-US" sz="2600" dirty="0"/>
          </a:p>
        </p:txBody>
      </p:sp>
      <p:sp>
        <p:nvSpPr>
          <p:cNvPr id="12" name="Text 10"/>
          <p:cNvSpPr txBox="1"/>
          <p:nvPr/>
        </p:nvSpPr>
        <p:spPr>
          <a:xfrm>
            <a:off x="822960" y="5532120"/>
            <a:ext cx="3108960" cy="365760"/>
          </a:xfrm>
          <a:prstGeom prst="rect">
            <a:avLst/>
          </a:prstGeom>
          <a:noFill/>
          <a:ln/>
        </p:spPr>
        <p:txBody>
          <a:bodyPr wrap="square" lIns="0" tIns="0" rIns="0" bIns="0" rtlCol="0" anchor="ctr"/>
          <a:lstStyle/>
          <a:p>
            <a:pPr indent="0" marL="0">
              <a:buNone/>
            </a:pPr>
            <a:r>
              <a:rPr lang="en-US" sz="1300" dirty="0">
                <a:solidFill>
                  <a:schemeClr val="tx1"/>
                </a:solidFill>
              </a:rPr>
              <a:t>Same wording, different facts.</a:t>
            </a:r>
            <a:endParaRPr lang="en-US" sz="1300" dirty="0"/>
          </a:p>
        </p:txBody>
      </p:sp>
      <p:sp>
        <p:nvSpPr>
          <p:cNvPr id="13" name="Text 11"/>
          <p:cNvSpPr txBox="1"/>
          <p:nvPr/>
        </p:nvSpPr>
        <p:spPr>
          <a:xfrm>
            <a:off x="4754880" y="1463040"/>
            <a:ext cx="3108960" cy="91440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0.87–0.97</a:t>
            </a:r>
            <a:endParaRPr lang="en-US" sz="4800" dirty="0"/>
          </a:p>
        </p:txBody>
      </p:sp>
      <p:sp>
        <p:nvSpPr>
          <p:cNvPr id="14" name="Text 12"/>
          <p:cNvSpPr txBox="1"/>
          <p:nvPr/>
        </p:nvSpPr>
        <p:spPr>
          <a:xfrm>
            <a:off x="8001000" y="1572768"/>
            <a:ext cx="3611880" cy="731520"/>
          </a:xfrm>
          <a:prstGeom prst="rect">
            <a:avLst/>
          </a:prstGeom>
          <a:noFill/>
          <a:ln/>
        </p:spPr>
        <p:txBody>
          <a:bodyPr wrap="square" lIns="0" tIns="0" rIns="0" bIns="0" rtlCol="0" anchor="ctr"/>
          <a:lstStyle/>
          <a:p>
            <a:pPr indent="0" marL="0">
              <a:buNone/>
            </a:pPr>
            <a:r>
              <a:rPr lang="en-US" sz="1500" dirty="0">
                <a:solidFill>
                  <a:schemeClr val="tx1"/>
                </a:solidFill>
              </a:rPr>
              <a:t>similarity between old and current versions of the same runbook</a:t>
            </a:r>
            <a:endParaRPr lang="en-US" sz="1500" dirty="0"/>
          </a:p>
        </p:txBody>
      </p:sp>
      <p:sp>
        <p:nvSpPr>
          <p:cNvPr id="15" name="Text 13"/>
          <p:cNvSpPr txBox="1"/>
          <p:nvPr/>
        </p:nvSpPr>
        <p:spPr>
          <a:xfrm>
            <a:off x="4754880" y="3063240"/>
            <a:ext cx="310896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4 / 8</a:t>
            </a:r>
            <a:endParaRPr lang="en-US" sz="4800" dirty="0"/>
          </a:p>
        </p:txBody>
      </p:sp>
      <p:sp>
        <p:nvSpPr>
          <p:cNvPr id="16" name="Text 14"/>
          <p:cNvSpPr txBox="1"/>
          <p:nvPr/>
        </p:nvSpPr>
        <p:spPr>
          <a:xfrm>
            <a:off x="8001000" y="3172968"/>
            <a:ext cx="3611880" cy="731520"/>
          </a:xfrm>
          <a:prstGeom prst="rect">
            <a:avLst/>
          </a:prstGeom>
          <a:noFill/>
          <a:ln/>
        </p:spPr>
        <p:txBody>
          <a:bodyPr wrap="square" lIns="0" tIns="0" rIns="0" bIns="0" rtlCol="0" anchor="ctr"/>
          <a:lstStyle/>
          <a:p>
            <a:pPr indent="0" marL="0">
              <a:buNone/>
            </a:pPr>
            <a:r>
              <a:rPr lang="en-US" sz="1500" dirty="0">
                <a:solidFill>
                  <a:schemeClr val="tx1"/>
                </a:solidFill>
              </a:rPr>
              <a:t>plain questions where the OLD version ranks first</a:t>
            </a:r>
            <a:endParaRPr lang="en-US" sz="1500" dirty="0"/>
          </a:p>
        </p:txBody>
      </p:sp>
      <p:sp>
        <p:nvSpPr>
          <p:cNvPr id="17" name="Text 15"/>
          <p:cNvSpPr txBox="1"/>
          <p:nvPr/>
        </p:nvSpPr>
        <p:spPr>
          <a:xfrm>
            <a:off x="4754880" y="4663440"/>
            <a:ext cx="3108960" cy="91440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8 / 8</a:t>
            </a:r>
            <a:endParaRPr lang="en-US" sz="4800" dirty="0"/>
          </a:p>
        </p:txBody>
      </p:sp>
      <p:sp>
        <p:nvSpPr>
          <p:cNvPr id="18" name="Text 16"/>
          <p:cNvSpPr txBox="1"/>
          <p:nvPr/>
        </p:nvSpPr>
        <p:spPr>
          <a:xfrm>
            <a:off x="8001000" y="4773168"/>
            <a:ext cx="3611880" cy="731520"/>
          </a:xfrm>
          <a:prstGeom prst="rect">
            <a:avLst/>
          </a:prstGeom>
          <a:noFill/>
          <a:ln/>
        </p:spPr>
        <p:txBody>
          <a:bodyPr wrap="square" lIns="0" tIns="0" rIns="0" bIns="0" rtlCol="0" anchor="ctr"/>
          <a:lstStyle/>
          <a:p>
            <a:pPr indent="0" marL="0">
              <a:buNone/>
            </a:pPr>
            <a:r>
              <a:rPr lang="en-US" sz="1500" dirty="0">
                <a:solidFill>
                  <a:schemeClr val="tx1"/>
                </a:solidFill>
              </a:rPr>
              <a:t>questions where both versions land in the top 2, so both reach the LLM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B1 adds one stage: a version filter</a:t>
            </a:r>
            <a:endParaRPr lang="en-US" sz="3400" dirty="0"/>
          </a:p>
        </p:txBody>
      </p:sp>
      <p:sp>
        <p:nvSpPr>
          <p:cNvPr id="3" name="Text 1"/>
          <p:cNvSpPr txBox="1"/>
          <p:nvPr/>
        </p:nvSpPr>
        <p:spPr>
          <a:xfrm>
            <a:off x="548640" y="1709928"/>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INGEST</a:t>
            </a:r>
            <a:endParaRPr lang="en-US" sz="1600" dirty="0"/>
          </a:p>
        </p:txBody>
      </p:sp>
      <p:sp>
        <p:nvSpPr>
          <p:cNvPr id="4" name="Text 2"/>
          <p:cNvSpPr txBox="1"/>
          <p:nvPr/>
        </p:nvSpPr>
        <p:spPr>
          <a:xfrm>
            <a:off x="548640" y="2057400"/>
            <a:ext cx="1188720" cy="320040"/>
          </a:xfrm>
          <a:prstGeom prst="rect">
            <a:avLst/>
          </a:prstGeom>
          <a:noFill/>
          <a:ln/>
        </p:spPr>
        <p:txBody>
          <a:bodyPr wrap="square" lIns="0" tIns="0" rIns="0" bIns="0" rtlCol="0" anchor="ctr"/>
          <a:lstStyle/>
          <a:p>
            <a:pPr indent="0" marL="0">
              <a:buNone/>
            </a:pPr>
            <a:r>
              <a:rPr lang="en-US" sz="1100" dirty="0">
                <a:solidFill>
                  <a:schemeClr val="accent4"/>
                </a:solidFill>
              </a:rPr>
              <a:t>rag.py ingest</a:t>
            </a:r>
            <a:endParaRPr lang="en-US" sz="1100" dirty="0"/>
          </a:p>
        </p:txBody>
      </p:sp>
      <p:sp>
        <p:nvSpPr>
          <p:cNvPr id="5" name="INGEST 16 runbooks"/>
          <p:cNvSpPr/>
          <p:nvPr/>
        </p:nvSpPr>
        <p:spPr>
          <a:xfrm>
            <a:off x="1874520" y="160020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1947672" y="170992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16 runbooks</a:t>
            </a:r>
            <a:endParaRPr lang="en-US" sz="1500" dirty="0"/>
          </a:p>
        </p:txBody>
      </p:sp>
      <p:sp>
        <p:nvSpPr>
          <p:cNvPr id="7" name="Text 5"/>
          <p:cNvSpPr txBox="1"/>
          <p:nvPr/>
        </p:nvSpPr>
        <p:spPr>
          <a:xfrm>
            <a:off x="1947672" y="210312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corpus/kafka/</a:t>
            </a:r>
            <a:endParaRPr lang="en-US" sz="1100" dirty="0"/>
          </a:p>
        </p:txBody>
      </p:sp>
      <p:sp>
        <p:nvSpPr>
          <p:cNvPr id="8" name="INGEST arrow 0"/>
          <p:cNvSpPr/>
          <p:nvPr/>
        </p:nvSpPr>
        <p:spPr>
          <a:xfrm>
            <a:off x="3319272" y="2075688"/>
            <a:ext cx="237744" cy="0"/>
          </a:xfrm>
          <a:prstGeom prst="line">
            <a:avLst/>
          </a:prstGeom>
          <a:noFill/>
          <a:ln w="22225">
            <a:solidFill>
              <a:srgbClr val="64748B"/>
            </a:solidFill>
            <a:prstDash val="solid"/>
            <a:tailEnd type="triangle"/>
          </a:ln>
        </p:spPr>
      </p:sp>
      <p:sp>
        <p:nvSpPr>
          <p:cNvPr id="9" name="INGEST load"/>
          <p:cNvSpPr/>
          <p:nvPr/>
        </p:nvSpPr>
        <p:spPr>
          <a:xfrm>
            <a:off x="3584448" y="160020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10" name="Text 8"/>
          <p:cNvSpPr txBox="1"/>
          <p:nvPr/>
        </p:nvSpPr>
        <p:spPr>
          <a:xfrm>
            <a:off x="3657600" y="170992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load</a:t>
            </a:r>
            <a:endParaRPr lang="en-US" sz="1500" dirty="0"/>
          </a:p>
        </p:txBody>
      </p:sp>
      <p:sp>
        <p:nvSpPr>
          <p:cNvPr id="11" name="Text 9"/>
          <p:cNvSpPr txBox="1"/>
          <p:nvPr/>
        </p:nvSpPr>
        <p:spPr>
          <a:xfrm>
            <a:off x="3657600" y="210312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read files</a:t>
            </a:r>
            <a:endParaRPr lang="en-US" sz="1100" dirty="0"/>
          </a:p>
        </p:txBody>
      </p:sp>
      <p:sp>
        <p:nvSpPr>
          <p:cNvPr id="12" name="INGEST arrow 1"/>
          <p:cNvSpPr/>
          <p:nvPr/>
        </p:nvSpPr>
        <p:spPr>
          <a:xfrm>
            <a:off x="4754880" y="2075688"/>
            <a:ext cx="237744" cy="0"/>
          </a:xfrm>
          <a:prstGeom prst="line">
            <a:avLst/>
          </a:prstGeom>
          <a:noFill/>
          <a:ln w="22225">
            <a:solidFill>
              <a:srgbClr val="64748B"/>
            </a:solidFill>
            <a:prstDash val="solid"/>
            <a:tailEnd type="triangle"/>
          </a:ln>
        </p:spPr>
      </p:sp>
      <p:sp>
        <p:nvSpPr>
          <p:cNvPr id="13" name="INGEST + metadata"/>
          <p:cNvSpPr/>
          <p:nvPr/>
        </p:nvSpPr>
        <p:spPr>
          <a:xfrm>
            <a:off x="5020056" y="1600200"/>
            <a:ext cx="1783080" cy="960120"/>
          </a:xfrm>
          <a:prstGeom prst="roundRect">
            <a:avLst>
              <a:gd name="adj" fmla="val 11429"/>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5093208" y="1709928"/>
            <a:ext cx="1636776" cy="411480"/>
          </a:xfrm>
          <a:prstGeom prst="rect">
            <a:avLst/>
          </a:prstGeom>
          <a:noFill/>
          <a:ln/>
        </p:spPr>
        <p:txBody>
          <a:bodyPr wrap="square" lIns="0" tIns="0" rIns="0" bIns="0" rtlCol="0" anchor="ctr"/>
          <a:lstStyle/>
          <a:p>
            <a:pPr algn="ctr" indent="0" marL="0">
              <a:buNone/>
            </a:pPr>
            <a:r>
              <a:rPr lang="en-US" sz="1500" b="1" dirty="0">
                <a:solidFill>
                  <a:schemeClr val="tx1"/>
                </a:solidFill>
              </a:rPr>
              <a:t>+ metadata</a:t>
            </a:r>
            <a:endParaRPr lang="en-US" sz="1500" dirty="0"/>
          </a:p>
        </p:txBody>
      </p:sp>
      <p:sp>
        <p:nvSpPr>
          <p:cNvPr id="15" name="Text 13"/>
          <p:cNvSpPr txBox="1"/>
          <p:nvPr/>
        </p:nvSpPr>
        <p:spPr>
          <a:xfrm>
            <a:off x="5093208" y="2103120"/>
            <a:ext cx="1636776" cy="365760"/>
          </a:xfrm>
          <a:prstGeom prst="rect">
            <a:avLst/>
          </a:prstGeom>
          <a:noFill/>
          <a:ln/>
        </p:spPr>
        <p:txBody>
          <a:bodyPr wrap="square" lIns="0" tIns="0" rIns="0" bIns="0" rtlCol="0" anchor="ctr"/>
          <a:lstStyle/>
          <a:p>
            <a:pPr algn="ctr" indent="0" marL="0">
              <a:buNone/>
            </a:pPr>
            <a:r>
              <a:rPr lang="en-US" sz="1100" dirty="0">
                <a:solidFill>
                  <a:schemeClr val="accent4"/>
                </a:solidFill>
              </a:rPr>
              <a:t>manifest.json · Step 8</a:t>
            </a:r>
            <a:endParaRPr lang="en-US" sz="1100" dirty="0"/>
          </a:p>
        </p:txBody>
      </p:sp>
      <p:sp>
        <p:nvSpPr>
          <p:cNvPr id="16" name="INGEST arrow 2"/>
          <p:cNvSpPr/>
          <p:nvPr/>
        </p:nvSpPr>
        <p:spPr>
          <a:xfrm>
            <a:off x="6830568" y="2075688"/>
            <a:ext cx="237744" cy="0"/>
          </a:xfrm>
          <a:prstGeom prst="line">
            <a:avLst/>
          </a:prstGeom>
          <a:noFill/>
          <a:ln w="22225">
            <a:solidFill>
              <a:srgbClr val="64748B"/>
            </a:solidFill>
            <a:prstDash val="solid"/>
            <a:tailEnd type="triangle"/>
          </a:ln>
        </p:spPr>
      </p:sp>
      <p:sp>
        <p:nvSpPr>
          <p:cNvPr id="17" name="INGEST chunk"/>
          <p:cNvSpPr/>
          <p:nvPr/>
        </p:nvSpPr>
        <p:spPr>
          <a:xfrm>
            <a:off x="7095744" y="160020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18" name="Text 16"/>
          <p:cNvSpPr txBox="1"/>
          <p:nvPr/>
        </p:nvSpPr>
        <p:spPr>
          <a:xfrm>
            <a:off x="7168896" y="170992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chunk</a:t>
            </a:r>
            <a:endParaRPr lang="en-US" sz="1500" dirty="0"/>
          </a:p>
        </p:txBody>
      </p:sp>
      <p:sp>
        <p:nvSpPr>
          <p:cNvPr id="19" name="Text 17"/>
          <p:cNvSpPr txBox="1"/>
          <p:nvPr/>
        </p:nvSpPr>
        <p:spPr>
          <a:xfrm>
            <a:off x="7168896" y="210312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split text</a:t>
            </a:r>
            <a:endParaRPr lang="en-US" sz="1100" dirty="0"/>
          </a:p>
        </p:txBody>
      </p:sp>
      <p:sp>
        <p:nvSpPr>
          <p:cNvPr id="20" name="INGEST arrow 3"/>
          <p:cNvSpPr/>
          <p:nvPr/>
        </p:nvSpPr>
        <p:spPr>
          <a:xfrm>
            <a:off x="8266176" y="2075688"/>
            <a:ext cx="237744" cy="0"/>
          </a:xfrm>
          <a:prstGeom prst="line">
            <a:avLst/>
          </a:prstGeom>
          <a:noFill/>
          <a:ln w="22225">
            <a:solidFill>
              <a:srgbClr val="64748B"/>
            </a:solidFill>
            <a:prstDash val="solid"/>
            <a:tailEnd type="triangle"/>
          </a:ln>
        </p:spPr>
      </p:sp>
      <p:sp>
        <p:nvSpPr>
          <p:cNvPr id="21" name="INGEST embed"/>
          <p:cNvSpPr/>
          <p:nvPr/>
        </p:nvSpPr>
        <p:spPr>
          <a:xfrm>
            <a:off x="8531352" y="160020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22" name="Text 20"/>
          <p:cNvSpPr txBox="1"/>
          <p:nvPr/>
        </p:nvSpPr>
        <p:spPr>
          <a:xfrm>
            <a:off x="8604504" y="170992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embed</a:t>
            </a:r>
            <a:endParaRPr lang="en-US" sz="1500" dirty="0"/>
          </a:p>
        </p:txBody>
      </p:sp>
      <p:sp>
        <p:nvSpPr>
          <p:cNvPr id="23" name="Text 21"/>
          <p:cNvSpPr txBox="1"/>
          <p:nvPr/>
        </p:nvSpPr>
        <p:spPr>
          <a:xfrm>
            <a:off x="8604504" y="210312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MiniLM-L6-v2</a:t>
            </a:r>
            <a:endParaRPr lang="en-US" sz="1100" dirty="0"/>
          </a:p>
        </p:txBody>
      </p:sp>
      <p:sp>
        <p:nvSpPr>
          <p:cNvPr id="24" name="INGEST arrow 4"/>
          <p:cNvSpPr/>
          <p:nvPr/>
        </p:nvSpPr>
        <p:spPr>
          <a:xfrm>
            <a:off x="9976104" y="2075688"/>
            <a:ext cx="237744" cy="0"/>
          </a:xfrm>
          <a:prstGeom prst="line">
            <a:avLst/>
          </a:prstGeom>
          <a:noFill/>
          <a:ln w="22225">
            <a:solidFill>
              <a:srgbClr val="64748B"/>
            </a:solidFill>
            <a:prstDash val="solid"/>
            <a:tailEnd type="triangle"/>
          </a:ln>
        </p:spPr>
      </p:sp>
      <p:sp>
        <p:nvSpPr>
          <p:cNvPr id="25" name="INGEST Chroma"/>
          <p:cNvSpPr/>
          <p:nvPr/>
        </p:nvSpPr>
        <p:spPr>
          <a:xfrm>
            <a:off x="10241280" y="1600200"/>
            <a:ext cx="146304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26" name="Text 24"/>
          <p:cNvSpPr txBox="1"/>
          <p:nvPr/>
        </p:nvSpPr>
        <p:spPr>
          <a:xfrm>
            <a:off x="10314432" y="1709928"/>
            <a:ext cx="1316736" cy="411480"/>
          </a:xfrm>
          <a:prstGeom prst="rect">
            <a:avLst/>
          </a:prstGeom>
          <a:noFill/>
          <a:ln/>
        </p:spPr>
        <p:txBody>
          <a:bodyPr wrap="square" lIns="0" tIns="0" rIns="0" bIns="0" rtlCol="0" anchor="ctr"/>
          <a:lstStyle/>
          <a:p>
            <a:pPr algn="ctr" indent="0" marL="0">
              <a:buNone/>
            </a:pPr>
            <a:r>
              <a:rPr lang="en-US" sz="1500" b="1" dirty="0">
                <a:solidFill>
                  <a:schemeClr val="tx1"/>
                </a:solidFill>
              </a:rPr>
              <a:t>Chroma</a:t>
            </a:r>
            <a:endParaRPr lang="en-US" sz="1500" dirty="0"/>
          </a:p>
        </p:txBody>
      </p:sp>
      <p:sp>
        <p:nvSpPr>
          <p:cNvPr id="27" name="Text 25"/>
          <p:cNvSpPr txBox="1"/>
          <p:nvPr/>
        </p:nvSpPr>
        <p:spPr>
          <a:xfrm>
            <a:off x="10314432" y="2103120"/>
            <a:ext cx="1316736" cy="365760"/>
          </a:xfrm>
          <a:prstGeom prst="rect">
            <a:avLst/>
          </a:prstGeom>
          <a:noFill/>
          <a:ln/>
        </p:spPr>
        <p:txBody>
          <a:bodyPr wrap="square" lIns="0" tIns="0" rIns="0" bIns="0" rtlCol="0" anchor="ctr"/>
          <a:lstStyle/>
          <a:p>
            <a:pPr algn="ctr" indent="0" marL="0">
              <a:buNone/>
            </a:pPr>
            <a:r>
              <a:rPr lang="en-US" sz="1100" dirty="0">
                <a:solidFill>
                  <a:schemeClr val="accent4"/>
                </a:solidFill>
              </a:rPr>
              <a:t>vectors + metadata</a:t>
            </a:r>
            <a:endParaRPr lang="en-US" sz="1100" dirty="0"/>
          </a:p>
        </p:txBody>
      </p:sp>
      <p:sp>
        <p:nvSpPr>
          <p:cNvPr id="28" name="Text 26"/>
          <p:cNvSpPr txBox="1"/>
          <p:nvPr/>
        </p:nvSpPr>
        <p:spPr>
          <a:xfrm>
            <a:off x="548640" y="3447288"/>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QUERY</a:t>
            </a:r>
            <a:endParaRPr lang="en-US" sz="1600" dirty="0"/>
          </a:p>
        </p:txBody>
      </p:sp>
      <p:sp>
        <p:nvSpPr>
          <p:cNvPr id="29" name="Text 27"/>
          <p:cNvSpPr txBox="1"/>
          <p:nvPr/>
        </p:nvSpPr>
        <p:spPr>
          <a:xfrm>
            <a:off x="548640" y="3794760"/>
            <a:ext cx="1188720" cy="320040"/>
          </a:xfrm>
          <a:prstGeom prst="rect">
            <a:avLst/>
          </a:prstGeom>
          <a:noFill/>
          <a:ln/>
        </p:spPr>
        <p:txBody>
          <a:bodyPr wrap="square" lIns="0" tIns="0" rIns="0" bIns="0" rtlCol="0" anchor="ctr"/>
          <a:lstStyle/>
          <a:p>
            <a:pPr indent="0" marL="0">
              <a:buNone/>
            </a:pPr>
            <a:r>
              <a:rPr lang="en-US" sz="1100" dirty="0">
                <a:solidFill>
                  <a:schemeClr val="accent4"/>
                </a:solidFill>
              </a:rPr>
              <a:t>ask / b1_eval</a:t>
            </a:r>
            <a:endParaRPr lang="en-US" sz="1100" dirty="0"/>
          </a:p>
        </p:txBody>
      </p:sp>
      <p:sp>
        <p:nvSpPr>
          <p:cNvPr id="30" name="QUERY question"/>
          <p:cNvSpPr/>
          <p:nvPr/>
        </p:nvSpPr>
        <p:spPr>
          <a:xfrm>
            <a:off x="1874520" y="333756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31" name="Text 29"/>
          <p:cNvSpPr txBox="1"/>
          <p:nvPr/>
        </p:nvSpPr>
        <p:spPr>
          <a:xfrm>
            <a:off x="1947672" y="344728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question</a:t>
            </a:r>
            <a:endParaRPr lang="en-US" sz="1500" dirty="0"/>
          </a:p>
        </p:txBody>
      </p:sp>
      <p:sp>
        <p:nvSpPr>
          <p:cNvPr id="32" name="Text 30"/>
          <p:cNvSpPr txBox="1"/>
          <p:nvPr/>
        </p:nvSpPr>
        <p:spPr>
          <a:xfrm>
            <a:off x="1947672" y="384048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from the user</a:t>
            </a:r>
            <a:endParaRPr lang="en-US" sz="1100" dirty="0"/>
          </a:p>
        </p:txBody>
      </p:sp>
      <p:sp>
        <p:nvSpPr>
          <p:cNvPr id="33" name="QUERY arrow 0"/>
          <p:cNvSpPr/>
          <p:nvPr/>
        </p:nvSpPr>
        <p:spPr>
          <a:xfrm>
            <a:off x="3319272" y="3813048"/>
            <a:ext cx="237744" cy="0"/>
          </a:xfrm>
          <a:prstGeom prst="line">
            <a:avLst/>
          </a:prstGeom>
          <a:noFill/>
          <a:ln w="22225">
            <a:solidFill>
              <a:srgbClr val="64748B"/>
            </a:solidFill>
            <a:prstDash val="solid"/>
            <a:tailEnd type="triangle"/>
          </a:ln>
        </p:spPr>
      </p:sp>
      <p:sp>
        <p:nvSpPr>
          <p:cNvPr id="34" name="QUERY embed"/>
          <p:cNvSpPr/>
          <p:nvPr/>
        </p:nvSpPr>
        <p:spPr>
          <a:xfrm>
            <a:off x="3584448" y="333756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35" name="Text 33"/>
          <p:cNvSpPr txBox="1"/>
          <p:nvPr/>
        </p:nvSpPr>
        <p:spPr>
          <a:xfrm>
            <a:off x="3657600" y="344728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embed</a:t>
            </a:r>
            <a:endParaRPr lang="en-US" sz="1500" dirty="0"/>
          </a:p>
        </p:txBody>
      </p:sp>
      <p:sp>
        <p:nvSpPr>
          <p:cNvPr id="36" name="Text 34"/>
          <p:cNvSpPr txBox="1"/>
          <p:nvPr/>
        </p:nvSpPr>
        <p:spPr>
          <a:xfrm>
            <a:off x="3657600" y="384048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same model</a:t>
            </a:r>
            <a:endParaRPr lang="en-US" sz="1100" dirty="0"/>
          </a:p>
        </p:txBody>
      </p:sp>
      <p:sp>
        <p:nvSpPr>
          <p:cNvPr id="37" name="QUERY arrow 1"/>
          <p:cNvSpPr/>
          <p:nvPr/>
        </p:nvSpPr>
        <p:spPr>
          <a:xfrm>
            <a:off x="4754880" y="3813048"/>
            <a:ext cx="237744" cy="0"/>
          </a:xfrm>
          <a:prstGeom prst="line">
            <a:avLst/>
          </a:prstGeom>
          <a:noFill/>
          <a:ln w="22225">
            <a:solidFill>
              <a:srgbClr val="64748B"/>
            </a:solidFill>
            <a:prstDash val="solid"/>
            <a:tailEnd type="triangle"/>
          </a:ln>
        </p:spPr>
      </p:sp>
      <p:sp>
        <p:nvSpPr>
          <p:cNvPr id="38" name="QUERY VERSION FILTER"/>
          <p:cNvSpPr/>
          <p:nvPr/>
        </p:nvSpPr>
        <p:spPr>
          <a:xfrm>
            <a:off x="5020056" y="3337560"/>
            <a:ext cx="2057400" cy="960120"/>
          </a:xfrm>
          <a:prstGeom prst="roundRect">
            <a:avLst>
              <a:gd name="adj" fmla="val 11429"/>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39" name="Text 37"/>
          <p:cNvSpPr txBox="1"/>
          <p:nvPr/>
        </p:nvSpPr>
        <p:spPr>
          <a:xfrm>
            <a:off x="5093208" y="3447288"/>
            <a:ext cx="1911096" cy="411480"/>
          </a:xfrm>
          <a:prstGeom prst="rect">
            <a:avLst/>
          </a:prstGeom>
          <a:noFill/>
          <a:ln/>
        </p:spPr>
        <p:txBody>
          <a:bodyPr wrap="square" lIns="0" tIns="0" rIns="0" bIns="0" rtlCol="0" anchor="ctr"/>
          <a:lstStyle/>
          <a:p>
            <a:pPr algn="ctr" indent="0" marL="0">
              <a:buNone/>
            </a:pPr>
            <a:r>
              <a:rPr lang="en-US" sz="1500" b="1" dirty="0">
                <a:solidFill>
                  <a:schemeClr val="accent2"/>
                </a:solidFill>
              </a:rPr>
              <a:t>VERSION FILTER</a:t>
            </a:r>
            <a:endParaRPr lang="en-US" sz="1500" dirty="0"/>
          </a:p>
        </p:txBody>
      </p:sp>
      <p:sp>
        <p:nvSpPr>
          <p:cNvPr id="40" name="Text 38"/>
          <p:cNvSpPr txBox="1"/>
          <p:nvPr/>
        </p:nvSpPr>
        <p:spPr>
          <a:xfrm>
            <a:off x="5093208" y="3840480"/>
            <a:ext cx="1911096" cy="365760"/>
          </a:xfrm>
          <a:prstGeom prst="rect">
            <a:avLst/>
          </a:prstGeom>
          <a:noFill/>
          <a:ln/>
        </p:spPr>
        <p:txBody>
          <a:bodyPr wrap="square" lIns="0" tIns="0" rIns="0" bIns="0" rtlCol="0" anchor="ctr"/>
          <a:lstStyle/>
          <a:p>
            <a:pPr algn="ctr" indent="0" marL="0">
              <a:buNone/>
            </a:pPr>
            <a:r>
              <a:rPr lang="en-US" sz="1100" dirty="0">
                <a:solidFill>
                  <a:schemeClr val="accent4"/>
                </a:solidFill>
              </a:rPr>
              <a:t>superseded = False</a:t>
            </a:r>
            <a:endParaRPr lang="en-US" sz="1100" dirty="0"/>
          </a:p>
        </p:txBody>
      </p:sp>
      <p:sp>
        <p:nvSpPr>
          <p:cNvPr id="41" name="QUERY arrow 2"/>
          <p:cNvSpPr/>
          <p:nvPr/>
        </p:nvSpPr>
        <p:spPr>
          <a:xfrm>
            <a:off x="7104888" y="3813048"/>
            <a:ext cx="237744" cy="0"/>
          </a:xfrm>
          <a:prstGeom prst="line">
            <a:avLst/>
          </a:prstGeom>
          <a:noFill/>
          <a:ln w="22225">
            <a:solidFill>
              <a:srgbClr val="64748B"/>
            </a:solidFill>
            <a:prstDash val="solid"/>
            <a:tailEnd type="triangle"/>
          </a:ln>
        </p:spPr>
      </p:sp>
      <p:sp>
        <p:nvSpPr>
          <p:cNvPr id="42" name="QUERY top-4"/>
          <p:cNvSpPr/>
          <p:nvPr/>
        </p:nvSpPr>
        <p:spPr>
          <a:xfrm>
            <a:off x="7370064" y="333756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43" name="Text 41"/>
          <p:cNvSpPr txBox="1"/>
          <p:nvPr/>
        </p:nvSpPr>
        <p:spPr>
          <a:xfrm>
            <a:off x="7443216" y="344728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top-4</a:t>
            </a:r>
            <a:endParaRPr lang="en-US" sz="1500" dirty="0"/>
          </a:p>
        </p:txBody>
      </p:sp>
      <p:sp>
        <p:nvSpPr>
          <p:cNvPr id="44" name="Text 42"/>
          <p:cNvSpPr txBox="1"/>
          <p:nvPr/>
        </p:nvSpPr>
        <p:spPr>
          <a:xfrm>
            <a:off x="7443216" y="384048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by similarity</a:t>
            </a:r>
            <a:endParaRPr lang="en-US" sz="1100" dirty="0"/>
          </a:p>
        </p:txBody>
      </p:sp>
      <p:sp>
        <p:nvSpPr>
          <p:cNvPr id="45" name="QUERY arrow 3"/>
          <p:cNvSpPr/>
          <p:nvPr/>
        </p:nvSpPr>
        <p:spPr>
          <a:xfrm>
            <a:off x="8814816" y="3813048"/>
            <a:ext cx="237744" cy="0"/>
          </a:xfrm>
          <a:prstGeom prst="line">
            <a:avLst/>
          </a:prstGeom>
          <a:noFill/>
          <a:ln w="22225">
            <a:solidFill>
              <a:srgbClr val="64748B"/>
            </a:solidFill>
            <a:prstDash val="solid"/>
            <a:tailEnd type="triangle"/>
          </a:ln>
        </p:spPr>
      </p:sp>
      <p:sp>
        <p:nvSpPr>
          <p:cNvPr id="46" name="QUERY LLM answer"/>
          <p:cNvSpPr/>
          <p:nvPr/>
        </p:nvSpPr>
        <p:spPr>
          <a:xfrm>
            <a:off x="9079992" y="3337560"/>
            <a:ext cx="196596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47" name="Text 45"/>
          <p:cNvSpPr txBox="1"/>
          <p:nvPr/>
        </p:nvSpPr>
        <p:spPr>
          <a:xfrm>
            <a:off x="9153144" y="3447288"/>
            <a:ext cx="1819656" cy="411480"/>
          </a:xfrm>
          <a:prstGeom prst="rect">
            <a:avLst/>
          </a:prstGeom>
          <a:noFill/>
          <a:ln/>
        </p:spPr>
        <p:txBody>
          <a:bodyPr wrap="square" lIns="0" tIns="0" rIns="0" bIns="0" rtlCol="0" anchor="ctr"/>
          <a:lstStyle/>
          <a:p>
            <a:pPr algn="ctr" indent="0" marL="0">
              <a:buNone/>
            </a:pPr>
            <a:r>
              <a:rPr lang="en-US" sz="1500" b="1" dirty="0">
                <a:solidFill>
                  <a:schemeClr val="tx1"/>
                </a:solidFill>
              </a:rPr>
              <a:t>LLM answer</a:t>
            </a:r>
            <a:endParaRPr lang="en-US" sz="1500" dirty="0"/>
          </a:p>
        </p:txBody>
      </p:sp>
      <p:sp>
        <p:nvSpPr>
          <p:cNvPr id="48" name="Text 46"/>
          <p:cNvSpPr txBox="1"/>
          <p:nvPr/>
        </p:nvSpPr>
        <p:spPr>
          <a:xfrm>
            <a:off x="9153144" y="3840480"/>
            <a:ext cx="1819656" cy="365760"/>
          </a:xfrm>
          <a:prstGeom prst="rect">
            <a:avLst/>
          </a:prstGeom>
          <a:noFill/>
          <a:ln/>
        </p:spPr>
        <p:txBody>
          <a:bodyPr wrap="square" lIns="0" tIns="0" rIns="0" bIns="0" rtlCol="0" anchor="ctr"/>
          <a:lstStyle/>
          <a:p>
            <a:pPr algn="ctr" indent="0" marL="0">
              <a:buNone/>
            </a:pPr>
            <a:r>
              <a:rPr lang="en-US" sz="1100" dirty="0">
                <a:solidFill>
                  <a:schemeClr val="accent4"/>
                </a:solidFill>
              </a:rPr>
              <a:t>with citations</a:t>
            </a:r>
            <a:endParaRPr lang="en-US" sz="1100" dirty="0"/>
          </a:p>
        </p:txBody>
      </p:sp>
      <p:sp>
        <p:nvSpPr>
          <p:cNvPr id="49" name="legend 0"/>
          <p:cNvSpPr/>
          <p:nvPr/>
        </p:nvSpPr>
        <p:spPr>
          <a:xfrm>
            <a:off x="1874520" y="4983480"/>
            <a:ext cx="320040" cy="274320"/>
          </a:xfrm>
          <a:prstGeom prst="roundRect">
            <a:avLst>
              <a:gd name="adj" fmla="val 16667"/>
            </a:avLst>
          </a:prstGeom>
          <a:solidFill>
            <a:srgbClr val="FDEBDC"/>
          </a:solidFill>
          <a:ln w="15875">
            <a:solidFill>
              <a:srgbClr val="E8833A"/>
            </a:solidFill>
            <a:prstDash val="solid"/>
          </a:ln>
        </p:spPr>
      </p:sp>
      <p:sp>
        <p:nvSpPr>
          <p:cNvPr id="50" name="Text 48"/>
          <p:cNvSpPr txBox="1"/>
          <p:nvPr/>
        </p:nvSpPr>
        <p:spPr>
          <a:xfrm>
            <a:off x="2286000" y="4937760"/>
            <a:ext cx="3108960" cy="365760"/>
          </a:xfrm>
          <a:prstGeom prst="rect">
            <a:avLst/>
          </a:prstGeom>
          <a:noFill/>
          <a:ln/>
        </p:spPr>
        <p:txBody>
          <a:bodyPr wrap="square" lIns="0" tIns="0" rIns="0" bIns="0" rtlCol="0" anchor="ctr"/>
          <a:lstStyle/>
          <a:p>
            <a:pPr indent="0" marL="0">
              <a:buNone/>
            </a:pPr>
            <a:r>
              <a:rPr lang="en-US" sz="1200" dirty="0">
                <a:solidFill>
                  <a:schemeClr val="tx1"/>
                </a:solidFill>
              </a:rPr>
              <a:t>New stage, switchable OFF / ON</a:t>
            </a:r>
            <a:endParaRPr lang="en-US" sz="1200" dirty="0"/>
          </a:p>
        </p:txBody>
      </p:sp>
      <p:sp>
        <p:nvSpPr>
          <p:cNvPr id="51" name="legend 1"/>
          <p:cNvSpPr/>
          <p:nvPr/>
        </p:nvSpPr>
        <p:spPr>
          <a:xfrm>
            <a:off x="5440680" y="4983480"/>
            <a:ext cx="320040" cy="274320"/>
          </a:xfrm>
          <a:prstGeom prst="roundRect">
            <a:avLst>
              <a:gd name="adj" fmla="val 16667"/>
            </a:avLst>
          </a:prstGeom>
          <a:solidFill>
            <a:srgbClr val="CDEFEA"/>
          </a:solidFill>
          <a:ln w="15875">
            <a:solidFill>
              <a:srgbClr val="0F9D8A"/>
            </a:solidFill>
            <a:prstDash val="solid"/>
          </a:ln>
        </p:spPr>
      </p:sp>
      <p:sp>
        <p:nvSpPr>
          <p:cNvPr id="52" name="Text 50"/>
          <p:cNvSpPr txBox="1"/>
          <p:nvPr/>
        </p:nvSpPr>
        <p:spPr>
          <a:xfrm>
            <a:off x="5852160" y="4937760"/>
            <a:ext cx="3017520" cy="365760"/>
          </a:xfrm>
          <a:prstGeom prst="rect">
            <a:avLst/>
          </a:prstGeom>
          <a:noFill/>
          <a:ln/>
        </p:spPr>
        <p:txBody>
          <a:bodyPr wrap="square" lIns="0" tIns="0" rIns="0" bIns="0" rtlCol="0" anchor="ctr"/>
          <a:lstStyle/>
          <a:p>
            <a:pPr indent="0" marL="0">
              <a:buNone/>
            </a:pPr>
            <a:r>
              <a:rPr lang="en-US" sz="1200" dirty="0">
                <a:solidFill>
                  <a:schemeClr val="tx1"/>
                </a:solidFill>
              </a:rPr>
              <a:t>The metadata it needs (Steps 4 and 8)</a:t>
            </a:r>
            <a:endParaRPr lang="en-US" sz="1200" dirty="0"/>
          </a:p>
        </p:txBody>
      </p:sp>
      <p:sp>
        <p:nvSpPr>
          <p:cNvPr id="53" name="legend 2"/>
          <p:cNvSpPr/>
          <p:nvPr/>
        </p:nvSpPr>
        <p:spPr>
          <a:xfrm>
            <a:off x="9006840" y="4983480"/>
            <a:ext cx="320040" cy="274320"/>
          </a:xfrm>
          <a:prstGeom prst="roundRect">
            <a:avLst>
              <a:gd name="adj" fmla="val 16667"/>
            </a:avLst>
          </a:prstGeom>
          <a:solidFill>
            <a:srgbClr val="EEF2F5"/>
          </a:solidFill>
          <a:ln/>
        </p:spPr>
      </p:sp>
      <p:sp>
        <p:nvSpPr>
          <p:cNvPr id="54" name="Text 52"/>
          <p:cNvSpPr txBox="1"/>
          <p:nvPr/>
        </p:nvSpPr>
        <p:spPr>
          <a:xfrm>
            <a:off x="9418320" y="4937760"/>
            <a:ext cx="3017520" cy="365760"/>
          </a:xfrm>
          <a:prstGeom prst="rect">
            <a:avLst/>
          </a:prstGeom>
          <a:noFill/>
          <a:ln/>
        </p:spPr>
        <p:txBody>
          <a:bodyPr wrap="square" lIns="0" tIns="0" rIns="0" bIns="0" rtlCol="0" anchor="ctr"/>
          <a:lstStyle/>
          <a:p>
            <a:pPr indent="0" marL="0">
              <a:buNone/>
            </a:pPr>
            <a:r>
              <a:rPr lang="en-US" sz="1200" dirty="0">
                <a:solidFill>
                  <a:schemeClr val="tx1"/>
                </a:solidFill>
              </a:rPr>
              <a:t>Unchanged lab code</a:t>
            </a:r>
            <a:endParaRPr lang="en-US" sz="1200" dirty="0"/>
          </a:p>
        </p:txBody>
      </p:sp>
      <p:sp>
        <p:nvSpPr>
          <p:cNvPr id="55" name="Text 53"/>
          <p:cNvSpPr txBox="1"/>
          <p:nvPr/>
        </p:nvSpPr>
        <p:spPr>
          <a:xfrm>
            <a:off x="1874520" y="5577840"/>
            <a:ext cx="9601200" cy="411480"/>
          </a:xfrm>
          <a:prstGeom prst="rect">
            <a:avLst/>
          </a:prstGeom>
          <a:noFill/>
          <a:ln/>
        </p:spPr>
        <p:txBody>
          <a:bodyPr wrap="square" lIns="0" tIns="0" rIns="0" bIns="0" rtlCol="0" anchor="ctr"/>
          <a:lstStyle/>
          <a:p>
            <a:pPr indent="0" marL="0">
              <a:buNone/>
            </a:pPr>
            <a:r>
              <a:rPr lang="en-US" sz="1600" i="1" dirty="0">
                <a:solidFill>
                  <a:schemeClr val="tx2"/>
                </a:solidFill>
              </a:rPr>
              <a:t>Old chunks are removed before ranking. They never compete, so they can't win.</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All twelve steps done</a:t>
            </a:r>
            <a:endParaRPr lang="en-US" sz="3400" dirty="0"/>
          </a:p>
        </p:txBody>
      </p:sp>
      <p:sp>
        <p:nvSpPr>
          <p:cNvPr id="3" name="step 1"/>
          <p:cNvSpPr/>
          <p:nvPr/>
        </p:nvSpPr>
        <p:spPr>
          <a:xfrm>
            <a:off x="777240" y="1600200"/>
            <a:ext cx="777240" cy="777240"/>
          </a:xfrm>
          <a:prstGeom prst="ellipse">
            <a:avLst/>
          </a:prstGeom>
          <a:solidFill>
            <a:srgbClr val="EEF2F5"/>
          </a:solidFill>
          <a:ln/>
        </p:spPr>
      </p:sp>
      <p:sp>
        <p:nvSpPr>
          <p:cNvPr id="4" name="Text 2"/>
          <p:cNvSpPr txBox="1"/>
          <p:nvPr/>
        </p:nvSpPr>
        <p:spPr>
          <a:xfrm>
            <a:off x="777240" y="1600200"/>
            <a:ext cx="777240" cy="7772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 3"/>
          <p:cNvSpPr txBox="1"/>
          <p:nvPr/>
        </p:nvSpPr>
        <p:spPr>
          <a:xfrm>
            <a:off x="41148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Team setup</a:t>
            </a:r>
            <a:endParaRPr lang="en-US" sz="1300" dirty="0"/>
          </a:p>
        </p:txBody>
      </p:sp>
      <p:sp>
        <p:nvSpPr>
          <p:cNvPr id="6" name="Text 4"/>
          <p:cNvSpPr txBox="1"/>
          <p:nvPr/>
        </p:nvSpPr>
        <p:spPr>
          <a:xfrm>
            <a:off x="41148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4"/>
                </a:solidFill>
              </a:rPr>
              <a:t>N/A</a:t>
            </a:r>
            <a:endParaRPr lang="en-US" sz="1100" dirty="0"/>
          </a:p>
        </p:txBody>
      </p:sp>
      <p:sp>
        <p:nvSpPr>
          <p:cNvPr id="7" name="road arrow 1"/>
          <p:cNvSpPr/>
          <p:nvPr/>
        </p:nvSpPr>
        <p:spPr>
          <a:xfrm>
            <a:off x="1645920" y="1988820"/>
            <a:ext cx="914400" cy="0"/>
          </a:xfrm>
          <a:prstGeom prst="line">
            <a:avLst/>
          </a:prstGeom>
          <a:noFill/>
          <a:ln w="22225">
            <a:solidFill>
              <a:srgbClr val="64748B"/>
            </a:solidFill>
            <a:prstDash val="solid"/>
            <a:tailEnd type="triangle"/>
          </a:ln>
        </p:spPr>
      </p:sp>
      <p:sp>
        <p:nvSpPr>
          <p:cNvPr id="8" name="step 2"/>
          <p:cNvSpPr/>
          <p:nvPr/>
        </p:nvSpPr>
        <p:spPr>
          <a:xfrm>
            <a:off x="2651760" y="1600200"/>
            <a:ext cx="777240" cy="777240"/>
          </a:xfrm>
          <a:prstGeom prst="ellipse">
            <a:avLst/>
          </a:prstGeom>
          <a:solidFill>
            <a:srgbClr val="0F9D8A"/>
          </a:solidFill>
          <a:ln/>
        </p:spPr>
      </p:sp>
      <p:sp>
        <p:nvSpPr>
          <p:cNvPr id="9" name="Text 7"/>
          <p:cNvSpPr txBox="1"/>
          <p:nvPr/>
        </p:nvSpPr>
        <p:spPr>
          <a:xfrm>
            <a:off x="265176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228600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Run lab unchanged</a:t>
            </a:r>
            <a:endParaRPr lang="en-US" sz="1300" dirty="0"/>
          </a:p>
        </p:txBody>
      </p:sp>
      <p:sp>
        <p:nvSpPr>
          <p:cNvPr id="11" name="Text 9"/>
          <p:cNvSpPr txBox="1"/>
          <p:nvPr/>
        </p:nvSpPr>
        <p:spPr>
          <a:xfrm>
            <a:off x="228600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12" name="road arrow 2"/>
          <p:cNvSpPr/>
          <p:nvPr/>
        </p:nvSpPr>
        <p:spPr>
          <a:xfrm>
            <a:off x="3520440" y="1988820"/>
            <a:ext cx="914400" cy="0"/>
          </a:xfrm>
          <a:prstGeom prst="line">
            <a:avLst/>
          </a:prstGeom>
          <a:noFill/>
          <a:ln w="22225">
            <a:solidFill>
              <a:srgbClr val="64748B"/>
            </a:solidFill>
            <a:prstDash val="solid"/>
            <a:tailEnd type="triangle"/>
          </a:ln>
        </p:spPr>
      </p:sp>
      <p:sp>
        <p:nvSpPr>
          <p:cNvPr id="13" name="step 3"/>
          <p:cNvSpPr/>
          <p:nvPr/>
        </p:nvSpPr>
        <p:spPr>
          <a:xfrm>
            <a:off x="4526280" y="1600200"/>
            <a:ext cx="777240" cy="777240"/>
          </a:xfrm>
          <a:prstGeom prst="ellipse">
            <a:avLst/>
          </a:prstGeom>
          <a:solidFill>
            <a:srgbClr val="0F9D8A"/>
          </a:solidFill>
          <a:ln/>
        </p:spPr>
      </p:sp>
      <p:sp>
        <p:nvSpPr>
          <p:cNvPr id="14" name="Text 12"/>
          <p:cNvSpPr txBox="1"/>
          <p:nvPr/>
        </p:nvSpPr>
        <p:spPr>
          <a:xfrm>
            <a:off x="452628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416052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Versioned corpus</a:t>
            </a:r>
            <a:endParaRPr lang="en-US" sz="1300" dirty="0"/>
          </a:p>
        </p:txBody>
      </p:sp>
      <p:sp>
        <p:nvSpPr>
          <p:cNvPr id="16" name="Text 14"/>
          <p:cNvSpPr txBox="1"/>
          <p:nvPr/>
        </p:nvSpPr>
        <p:spPr>
          <a:xfrm>
            <a:off x="416052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17" name="road arrow 3"/>
          <p:cNvSpPr/>
          <p:nvPr/>
        </p:nvSpPr>
        <p:spPr>
          <a:xfrm>
            <a:off x="5394960" y="1988820"/>
            <a:ext cx="914400" cy="0"/>
          </a:xfrm>
          <a:prstGeom prst="line">
            <a:avLst/>
          </a:prstGeom>
          <a:noFill/>
          <a:ln w="22225">
            <a:solidFill>
              <a:srgbClr val="64748B"/>
            </a:solidFill>
            <a:prstDash val="solid"/>
            <a:tailEnd type="triangle"/>
          </a:ln>
        </p:spPr>
      </p:sp>
      <p:sp>
        <p:nvSpPr>
          <p:cNvPr id="18" name="step 4"/>
          <p:cNvSpPr/>
          <p:nvPr/>
        </p:nvSpPr>
        <p:spPr>
          <a:xfrm>
            <a:off x="6400800" y="1600200"/>
            <a:ext cx="777240" cy="777240"/>
          </a:xfrm>
          <a:prstGeom prst="ellipse">
            <a:avLst/>
          </a:prstGeom>
          <a:solidFill>
            <a:srgbClr val="0F9D8A"/>
          </a:solidFill>
          <a:ln/>
        </p:spPr>
      </p:sp>
      <p:sp>
        <p:nvSpPr>
          <p:cNvPr id="19" name="Text 17"/>
          <p:cNvSpPr txBox="1"/>
          <p:nvPr/>
        </p:nvSpPr>
        <p:spPr>
          <a:xfrm>
            <a:off x="640080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0" name="Text 18"/>
          <p:cNvSpPr txBox="1"/>
          <p:nvPr/>
        </p:nvSpPr>
        <p:spPr>
          <a:xfrm>
            <a:off x="603504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Metadata manifest</a:t>
            </a:r>
            <a:endParaRPr lang="en-US" sz="1300" dirty="0"/>
          </a:p>
        </p:txBody>
      </p:sp>
      <p:sp>
        <p:nvSpPr>
          <p:cNvPr id="21" name="Text 19"/>
          <p:cNvSpPr txBox="1"/>
          <p:nvPr/>
        </p:nvSpPr>
        <p:spPr>
          <a:xfrm>
            <a:off x="603504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22" name="road arrow 4"/>
          <p:cNvSpPr/>
          <p:nvPr/>
        </p:nvSpPr>
        <p:spPr>
          <a:xfrm>
            <a:off x="7269480" y="1988820"/>
            <a:ext cx="914400" cy="0"/>
          </a:xfrm>
          <a:prstGeom prst="line">
            <a:avLst/>
          </a:prstGeom>
          <a:noFill/>
          <a:ln w="22225">
            <a:solidFill>
              <a:srgbClr val="64748B"/>
            </a:solidFill>
            <a:prstDash val="solid"/>
            <a:tailEnd type="triangle"/>
          </a:ln>
        </p:spPr>
      </p:sp>
      <p:sp>
        <p:nvSpPr>
          <p:cNvPr id="23" name="step 5"/>
          <p:cNvSpPr/>
          <p:nvPr/>
        </p:nvSpPr>
        <p:spPr>
          <a:xfrm>
            <a:off x="8275320" y="1600200"/>
            <a:ext cx="777240" cy="777240"/>
          </a:xfrm>
          <a:prstGeom prst="ellipse">
            <a:avLst/>
          </a:prstGeom>
          <a:solidFill>
            <a:srgbClr val="0F9D8A"/>
          </a:solidFill>
          <a:ln/>
        </p:spPr>
      </p:sp>
      <p:sp>
        <p:nvSpPr>
          <p:cNvPr id="24" name="Text 22"/>
          <p:cNvSpPr txBox="1"/>
          <p:nvPr/>
        </p:nvSpPr>
        <p:spPr>
          <a:xfrm>
            <a:off x="827532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5" name="Text 23"/>
          <p:cNvSpPr txBox="1"/>
          <p:nvPr/>
        </p:nvSpPr>
        <p:spPr>
          <a:xfrm>
            <a:off x="790956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Golden set</a:t>
            </a:r>
            <a:endParaRPr lang="en-US" sz="1300" dirty="0"/>
          </a:p>
        </p:txBody>
      </p:sp>
      <p:sp>
        <p:nvSpPr>
          <p:cNvPr id="26" name="Text 24"/>
          <p:cNvSpPr txBox="1"/>
          <p:nvPr/>
        </p:nvSpPr>
        <p:spPr>
          <a:xfrm>
            <a:off x="790956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27" name="road arrow 5"/>
          <p:cNvSpPr/>
          <p:nvPr/>
        </p:nvSpPr>
        <p:spPr>
          <a:xfrm>
            <a:off x="9144000" y="1988820"/>
            <a:ext cx="914400" cy="0"/>
          </a:xfrm>
          <a:prstGeom prst="line">
            <a:avLst/>
          </a:prstGeom>
          <a:noFill/>
          <a:ln w="22225">
            <a:solidFill>
              <a:srgbClr val="64748B"/>
            </a:solidFill>
            <a:prstDash val="solid"/>
            <a:tailEnd type="triangle"/>
          </a:ln>
        </p:spPr>
      </p:sp>
      <p:sp>
        <p:nvSpPr>
          <p:cNvPr id="28" name="step 6"/>
          <p:cNvSpPr/>
          <p:nvPr/>
        </p:nvSpPr>
        <p:spPr>
          <a:xfrm>
            <a:off x="10149840" y="1600200"/>
            <a:ext cx="777240" cy="777240"/>
          </a:xfrm>
          <a:prstGeom prst="ellipse">
            <a:avLst/>
          </a:prstGeom>
          <a:solidFill>
            <a:srgbClr val="0F9D8A"/>
          </a:solidFill>
          <a:ln/>
        </p:spPr>
      </p:sp>
      <p:sp>
        <p:nvSpPr>
          <p:cNvPr id="29" name="Text 27"/>
          <p:cNvSpPr txBox="1"/>
          <p:nvPr/>
        </p:nvSpPr>
        <p:spPr>
          <a:xfrm>
            <a:off x="1014984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0" name="Text 28"/>
          <p:cNvSpPr txBox="1"/>
          <p:nvPr/>
        </p:nvSpPr>
        <p:spPr>
          <a:xfrm>
            <a:off x="978408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Freeze in Git</a:t>
            </a:r>
            <a:endParaRPr lang="en-US" sz="1300" dirty="0"/>
          </a:p>
        </p:txBody>
      </p:sp>
      <p:sp>
        <p:nvSpPr>
          <p:cNvPr id="31" name="Text 29"/>
          <p:cNvSpPr txBox="1"/>
          <p:nvPr/>
        </p:nvSpPr>
        <p:spPr>
          <a:xfrm>
            <a:off x="978408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32" name="step 7"/>
          <p:cNvSpPr/>
          <p:nvPr/>
        </p:nvSpPr>
        <p:spPr>
          <a:xfrm>
            <a:off x="777240" y="3749040"/>
            <a:ext cx="777240" cy="777240"/>
          </a:xfrm>
          <a:prstGeom prst="ellipse">
            <a:avLst/>
          </a:prstGeom>
          <a:solidFill>
            <a:srgbClr val="0F9D8A"/>
          </a:solidFill>
          <a:ln/>
        </p:spPr>
      </p:sp>
      <p:sp>
        <p:nvSpPr>
          <p:cNvPr id="33" name="Text 31"/>
          <p:cNvSpPr txBox="1"/>
          <p:nvPr/>
        </p:nvSpPr>
        <p:spPr>
          <a:xfrm>
            <a:off x="77724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4" name="Text 32"/>
          <p:cNvSpPr txBox="1"/>
          <p:nvPr/>
        </p:nvSpPr>
        <p:spPr>
          <a:xfrm>
            <a:off x="41148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BEFORE run</a:t>
            </a:r>
            <a:endParaRPr lang="en-US" sz="1300" dirty="0"/>
          </a:p>
        </p:txBody>
      </p:sp>
      <p:sp>
        <p:nvSpPr>
          <p:cNvPr id="35" name="Text 33"/>
          <p:cNvSpPr txBox="1"/>
          <p:nvPr/>
        </p:nvSpPr>
        <p:spPr>
          <a:xfrm>
            <a:off x="41148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36" name="road arrow 7"/>
          <p:cNvSpPr/>
          <p:nvPr/>
        </p:nvSpPr>
        <p:spPr>
          <a:xfrm>
            <a:off x="1645920" y="4137660"/>
            <a:ext cx="914400" cy="0"/>
          </a:xfrm>
          <a:prstGeom prst="line">
            <a:avLst/>
          </a:prstGeom>
          <a:noFill/>
          <a:ln w="22225">
            <a:solidFill>
              <a:srgbClr val="64748B"/>
            </a:solidFill>
            <a:prstDash val="solid"/>
            <a:tailEnd type="triangle"/>
          </a:ln>
        </p:spPr>
      </p:sp>
      <p:sp>
        <p:nvSpPr>
          <p:cNvPr id="37" name="step 8"/>
          <p:cNvSpPr/>
          <p:nvPr/>
        </p:nvSpPr>
        <p:spPr>
          <a:xfrm>
            <a:off x="2651760" y="3749040"/>
            <a:ext cx="777240" cy="777240"/>
          </a:xfrm>
          <a:prstGeom prst="ellipse">
            <a:avLst/>
          </a:prstGeom>
          <a:solidFill>
            <a:srgbClr val="0F9D8A"/>
          </a:solidFill>
          <a:ln/>
        </p:spPr>
      </p:sp>
      <p:sp>
        <p:nvSpPr>
          <p:cNvPr id="38" name="Text 36"/>
          <p:cNvSpPr txBox="1"/>
          <p:nvPr/>
        </p:nvSpPr>
        <p:spPr>
          <a:xfrm>
            <a:off x="265176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39" name="Text 37"/>
          <p:cNvSpPr txBox="1"/>
          <p:nvPr/>
        </p:nvSpPr>
        <p:spPr>
          <a:xfrm>
            <a:off x="228600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Metadata to Chroma</a:t>
            </a:r>
            <a:endParaRPr lang="en-US" sz="1300" dirty="0"/>
          </a:p>
        </p:txBody>
      </p:sp>
      <p:sp>
        <p:nvSpPr>
          <p:cNvPr id="40" name="Text 38"/>
          <p:cNvSpPr txBox="1"/>
          <p:nvPr/>
        </p:nvSpPr>
        <p:spPr>
          <a:xfrm>
            <a:off x="228600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41" name="road arrow 8"/>
          <p:cNvSpPr/>
          <p:nvPr/>
        </p:nvSpPr>
        <p:spPr>
          <a:xfrm>
            <a:off x="3520440" y="4137660"/>
            <a:ext cx="914400" cy="0"/>
          </a:xfrm>
          <a:prstGeom prst="line">
            <a:avLst/>
          </a:prstGeom>
          <a:noFill/>
          <a:ln w="22225">
            <a:solidFill>
              <a:srgbClr val="64748B"/>
            </a:solidFill>
            <a:prstDash val="solid"/>
            <a:tailEnd type="triangle"/>
          </a:ln>
        </p:spPr>
      </p:sp>
      <p:sp>
        <p:nvSpPr>
          <p:cNvPr id="42" name="step 9"/>
          <p:cNvSpPr/>
          <p:nvPr/>
        </p:nvSpPr>
        <p:spPr>
          <a:xfrm>
            <a:off x="4526280" y="3749040"/>
            <a:ext cx="777240" cy="777240"/>
          </a:xfrm>
          <a:prstGeom prst="ellipse">
            <a:avLst/>
          </a:prstGeom>
          <a:solidFill>
            <a:srgbClr val="0F9D8A"/>
          </a:solidFill>
          <a:ln/>
        </p:spPr>
      </p:sp>
      <p:sp>
        <p:nvSpPr>
          <p:cNvPr id="43" name="Text 41"/>
          <p:cNvSpPr txBox="1"/>
          <p:nvPr/>
        </p:nvSpPr>
        <p:spPr>
          <a:xfrm>
            <a:off x="452628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9</a:t>
            </a:r>
            <a:endParaRPr lang="en-US" sz="2000" dirty="0"/>
          </a:p>
        </p:txBody>
      </p:sp>
      <p:sp>
        <p:nvSpPr>
          <p:cNvPr id="44" name="Text 42"/>
          <p:cNvSpPr txBox="1"/>
          <p:nvPr/>
        </p:nvSpPr>
        <p:spPr>
          <a:xfrm>
            <a:off x="416052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Query filter</a:t>
            </a:r>
            <a:endParaRPr lang="en-US" sz="1300" dirty="0"/>
          </a:p>
        </p:txBody>
      </p:sp>
      <p:sp>
        <p:nvSpPr>
          <p:cNvPr id="45" name="Text 43"/>
          <p:cNvSpPr txBox="1"/>
          <p:nvPr/>
        </p:nvSpPr>
        <p:spPr>
          <a:xfrm>
            <a:off x="416052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46" name="road arrow 9"/>
          <p:cNvSpPr/>
          <p:nvPr/>
        </p:nvSpPr>
        <p:spPr>
          <a:xfrm>
            <a:off x="5394960" y="4137660"/>
            <a:ext cx="914400" cy="0"/>
          </a:xfrm>
          <a:prstGeom prst="line">
            <a:avLst/>
          </a:prstGeom>
          <a:noFill/>
          <a:ln w="22225">
            <a:solidFill>
              <a:srgbClr val="64748B"/>
            </a:solidFill>
            <a:prstDash val="solid"/>
            <a:tailEnd type="triangle"/>
          </a:ln>
        </p:spPr>
      </p:sp>
      <p:sp>
        <p:nvSpPr>
          <p:cNvPr id="47" name="step 10"/>
          <p:cNvSpPr/>
          <p:nvPr/>
        </p:nvSpPr>
        <p:spPr>
          <a:xfrm>
            <a:off x="6400800" y="3749040"/>
            <a:ext cx="777240" cy="777240"/>
          </a:xfrm>
          <a:prstGeom prst="ellipse">
            <a:avLst/>
          </a:prstGeom>
          <a:solidFill>
            <a:srgbClr val="0F9D8A"/>
          </a:solidFill>
          <a:ln/>
        </p:spPr>
      </p:sp>
      <p:sp>
        <p:nvSpPr>
          <p:cNvPr id="48" name="Text 46"/>
          <p:cNvSpPr txBox="1"/>
          <p:nvPr/>
        </p:nvSpPr>
        <p:spPr>
          <a:xfrm>
            <a:off x="640080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10</a:t>
            </a:r>
            <a:endParaRPr lang="en-US" sz="2000" dirty="0"/>
          </a:p>
        </p:txBody>
      </p:sp>
      <p:sp>
        <p:nvSpPr>
          <p:cNvPr id="49" name="Text 47"/>
          <p:cNvSpPr txBox="1"/>
          <p:nvPr/>
        </p:nvSpPr>
        <p:spPr>
          <a:xfrm>
            <a:off x="603504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OFF / ON switch</a:t>
            </a:r>
            <a:endParaRPr lang="en-US" sz="1300" dirty="0"/>
          </a:p>
        </p:txBody>
      </p:sp>
      <p:sp>
        <p:nvSpPr>
          <p:cNvPr id="50" name="Text 48"/>
          <p:cNvSpPr txBox="1"/>
          <p:nvPr/>
        </p:nvSpPr>
        <p:spPr>
          <a:xfrm>
            <a:off x="603504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51" name="road arrow 10"/>
          <p:cNvSpPr/>
          <p:nvPr/>
        </p:nvSpPr>
        <p:spPr>
          <a:xfrm>
            <a:off x="7269480" y="4137660"/>
            <a:ext cx="914400" cy="0"/>
          </a:xfrm>
          <a:prstGeom prst="line">
            <a:avLst/>
          </a:prstGeom>
          <a:noFill/>
          <a:ln w="22225">
            <a:solidFill>
              <a:srgbClr val="64748B"/>
            </a:solidFill>
            <a:prstDash val="solid"/>
            <a:tailEnd type="triangle"/>
          </a:ln>
        </p:spPr>
      </p:sp>
      <p:sp>
        <p:nvSpPr>
          <p:cNvPr id="52" name="step 11"/>
          <p:cNvSpPr/>
          <p:nvPr/>
        </p:nvSpPr>
        <p:spPr>
          <a:xfrm>
            <a:off x="8275320" y="3749040"/>
            <a:ext cx="777240" cy="777240"/>
          </a:xfrm>
          <a:prstGeom prst="ellipse">
            <a:avLst/>
          </a:prstGeom>
          <a:solidFill>
            <a:srgbClr val="0F9D8A"/>
          </a:solidFill>
          <a:ln/>
        </p:spPr>
      </p:sp>
      <p:sp>
        <p:nvSpPr>
          <p:cNvPr id="53" name="Text 51"/>
          <p:cNvSpPr txBox="1"/>
          <p:nvPr/>
        </p:nvSpPr>
        <p:spPr>
          <a:xfrm>
            <a:off x="827532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11</a:t>
            </a:r>
            <a:endParaRPr lang="en-US" sz="2000" dirty="0"/>
          </a:p>
        </p:txBody>
      </p:sp>
      <p:sp>
        <p:nvSpPr>
          <p:cNvPr id="54" name="Text 52"/>
          <p:cNvSpPr txBox="1"/>
          <p:nvPr/>
        </p:nvSpPr>
        <p:spPr>
          <a:xfrm>
            <a:off x="790956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AFTER run</a:t>
            </a:r>
            <a:endParaRPr lang="en-US" sz="1300" dirty="0"/>
          </a:p>
        </p:txBody>
      </p:sp>
      <p:sp>
        <p:nvSpPr>
          <p:cNvPr id="55" name="Text 53"/>
          <p:cNvSpPr txBox="1"/>
          <p:nvPr/>
        </p:nvSpPr>
        <p:spPr>
          <a:xfrm>
            <a:off x="790956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56" name="road arrow 11"/>
          <p:cNvSpPr/>
          <p:nvPr/>
        </p:nvSpPr>
        <p:spPr>
          <a:xfrm>
            <a:off x="9144000" y="4137660"/>
            <a:ext cx="914400" cy="0"/>
          </a:xfrm>
          <a:prstGeom prst="line">
            <a:avLst/>
          </a:prstGeom>
          <a:noFill/>
          <a:ln w="22225">
            <a:solidFill>
              <a:srgbClr val="64748B"/>
            </a:solidFill>
            <a:prstDash val="solid"/>
            <a:tailEnd type="triangle"/>
          </a:ln>
        </p:spPr>
      </p:sp>
      <p:sp>
        <p:nvSpPr>
          <p:cNvPr id="57" name="step 12"/>
          <p:cNvSpPr/>
          <p:nvPr/>
        </p:nvSpPr>
        <p:spPr>
          <a:xfrm>
            <a:off x="10149840" y="3749040"/>
            <a:ext cx="777240" cy="777240"/>
          </a:xfrm>
          <a:prstGeom prst="ellipse">
            <a:avLst/>
          </a:prstGeom>
          <a:solidFill>
            <a:srgbClr val="0F9D8A"/>
          </a:solidFill>
          <a:ln/>
        </p:spPr>
      </p:sp>
      <p:sp>
        <p:nvSpPr>
          <p:cNvPr id="58" name="Text 56"/>
          <p:cNvSpPr txBox="1"/>
          <p:nvPr/>
        </p:nvSpPr>
        <p:spPr>
          <a:xfrm>
            <a:off x="1014984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12</a:t>
            </a:r>
            <a:endParaRPr lang="en-US" sz="2000" dirty="0"/>
          </a:p>
        </p:txBody>
      </p:sp>
      <p:sp>
        <p:nvSpPr>
          <p:cNvPr id="59" name="Text 57"/>
          <p:cNvSpPr txBox="1"/>
          <p:nvPr/>
        </p:nvSpPr>
        <p:spPr>
          <a:xfrm>
            <a:off x="978408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Results table</a:t>
            </a:r>
            <a:endParaRPr lang="en-US" sz="1300" dirty="0"/>
          </a:p>
        </p:txBody>
      </p:sp>
      <p:sp>
        <p:nvSpPr>
          <p:cNvPr id="60" name="Text 58"/>
          <p:cNvSpPr txBox="1"/>
          <p:nvPr/>
        </p:nvSpPr>
        <p:spPr>
          <a:xfrm>
            <a:off x="978408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61" name="Text 59"/>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400" i="1" dirty="0">
                <a:solidFill>
                  <a:schemeClr val="tx2"/>
                </a:solidFill>
              </a:rPr>
              <a:t>Data first (Steps 3–6), committed before any code change. Then measure BEFORE, add the filter, measure AFTER.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Two folders: the code and the evidence</a:t>
            </a:r>
            <a:endParaRPr lang="en-US" sz="3400" dirty="0"/>
          </a:p>
        </p:txBody>
      </p:sp>
      <p:sp>
        <p:nvSpPr>
          <p:cNvPr id="3" name="track-b-kafka/simple_rag/"/>
          <p:cNvSpPr/>
          <p:nvPr/>
        </p:nvSpPr>
        <p:spPr>
          <a:xfrm>
            <a:off x="548640" y="1463040"/>
            <a:ext cx="5394960" cy="4663440"/>
          </a:xfrm>
          <a:prstGeom prst="roundRect">
            <a:avLst>
              <a:gd name="adj" fmla="val 2353"/>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45920"/>
            <a:ext cx="48463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track-b-kafka/simple_rag/</a:t>
            </a:r>
            <a:endParaRPr lang="en-US" sz="2000" dirty="0"/>
          </a:p>
        </p:txBody>
      </p:sp>
      <p:sp>
        <p:nvSpPr>
          <p:cNvPr id="5" name="Text 3"/>
          <p:cNvSpPr txBox="1"/>
          <p:nvPr/>
        </p:nvSpPr>
        <p:spPr>
          <a:xfrm>
            <a:off x="822960" y="2057400"/>
            <a:ext cx="4846320" cy="320040"/>
          </a:xfrm>
          <a:prstGeom prst="rect">
            <a:avLst/>
          </a:prstGeom>
          <a:noFill/>
          <a:ln/>
        </p:spPr>
        <p:txBody>
          <a:bodyPr wrap="square" lIns="0" tIns="0" rIns="0" bIns="0" rtlCol="0" anchor="ctr"/>
          <a:lstStyle/>
          <a:p>
            <a:pPr indent="0" marL="0">
              <a:buNone/>
            </a:pPr>
            <a:r>
              <a:rPr lang="en-US" sz="1200" dirty="0">
                <a:solidFill>
                  <a:schemeClr val="accent4"/>
                </a:solidFill>
              </a:rPr>
              <a:t>Git repo · branch track-b · the code</a:t>
            </a:r>
            <a:endParaRPr lang="en-US" sz="1200" dirty="0"/>
          </a:p>
        </p:txBody>
      </p:sp>
      <p:sp>
        <p:nvSpPr>
          <p:cNvPr id="6" name="Text 4"/>
          <p:cNvSpPr txBox="1"/>
          <p:nvPr/>
        </p:nvSpPr>
        <p:spPr>
          <a:xfrm>
            <a:off x="822960" y="25603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corpus/kafka/</a:t>
            </a:r>
            <a:endParaRPr lang="en-US" sz="1300" dirty="0"/>
          </a:p>
        </p:txBody>
      </p:sp>
      <p:sp>
        <p:nvSpPr>
          <p:cNvPr id="7" name="Text 5"/>
          <p:cNvSpPr txBox="1"/>
          <p:nvPr/>
        </p:nvSpPr>
        <p:spPr>
          <a:xfrm>
            <a:off x="3154680" y="2560320"/>
            <a:ext cx="2606040" cy="457200"/>
          </a:xfrm>
          <a:prstGeom prst="rect">
            <a:avLst/>
          </a:prstGeom>
          <a:noFill/>
          <a:ln/>
        </p:spPr>
        <p:txBody>
          <a:bodyPr wrap="square" lIns="0" tIns="0" rIns="0" bIns="0" rtlCol="0" anchor="ctr"/>
          <a:lstStyle/>
          <a:p>
            <a:pPr indent="0" marL="0">
              <a:buNone/>
            </a:pPr>
            <a:r>
              <a:rPr lang="en-US" sz="1300" dirty="0">
                <a:solidFill>
                  <a:schemeClr val="tx1"/>
                </a:solidFill>
              </a:rPr>
              <a:t>16 runbooks + manifest.json</a:t>
            </a:r>
            <a:endParaRPr lang="en-US" sz="1300" dirty="0"/>
          </a:p>
        </p:txBody>
      </p:sp>
      <p:sp>
        <p:nvSpPr>
          <p:cNvPr id="8" name="Text 6"/>
          <p:cNvSpPr txBox="1"/>
          <p:nvPr/>
        </p:nvSpPr>
        <p:spPr>
          <a:xfrm>
            <a:off x="822960" y="310896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golden_kafka.jsonl</a:t>
            </a:r>
            <a:endParaRPr lang="en-US" sz="1300" dirty="0"/>
          </a:p>
        </p:txBody>
      </p:sp>
      <p:sp>
        <p:nvSpPr>
          <p:cNvPr id="9" name="Text 7"/>
          <p:cNvSpPr txBox="1"/>
          <p:nvPr/>
        </p:nvSpPr>
        <p:spPr>
          <a:xfrm>
            <a:off x="3154680" y="3108960"/>
            <a:ext cx="2606040" cy="457200"/>
          </a:xfrm>
          <a:prstGeom prst="rect">
            <a:avLst/>
          </a:prstGeom>
          <a:noFill/>
          <a:ln/>
        </p:spPr>
        <p:txBody>
          <a:bodyPr wrap="square" lIns="0" tIns="0" rIns="0" bIns="0" rtlCol="0" anchor="ctr"/>
          <a:lstStyle/>
          <a:p>
            <a:pPr indent="0" marL="0">
              <a:buNone/>
            </a:pPr>
            <a:r>
              <a:rPr lang="en-US" sz="1300" dirty="0">
                <a:solidFill>
                  <a:schemeClr val="tx1"/>
                </a:solidFill>
              </a:rPr>
              <a:t>21 test cases</a:t>
            </a:r>
            <a:endParaRPr lang="en-US" sz="1300" dirty="0"/>
          </a:p>
        </p:txBody>
      </p:sp>
      <p:sp>
        <p:nvSpPr>
          <p:cNvPr id="10" name="Text 8"/>
          <p:cNvSpPr txBox="1"/>
          <p:nvPr/>
        </p:nvSpPr>
        <p:spPr>
          <a:xfrm>
            <a:off x="822960" y="365760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b1_check.py</a:t>
            </a:r>
            <a:endParaRPr lang="en-US" sz="1300" dirty="0"/>
          </a:p>
        </p:txBody>
      </p:sp>
      <p:sp>
        <p:nvSpPr>
          <p:cNvPr id="11" name="Text 9"/>
          <p:cNvSpPr txBox="1"/>
          <p:nvPr/>
        </p:nvSpPr>
        <p:spPr>
          <a:xfrm>
            <a:off x="3154680" y="3657600"/>
            <a:ext cx="2606040" cy="457200"/>
          </a:xfrm>
          <a:prstGeom prst="rect">
            <a:avLst/>
          </a:prstGeom>
          <a:noFill/>
          <a:ln/>
        </p:spPr>
        <p:txBody>
          <a:bodyPr wrap="square" lIns="0" tIns="0" rIns="0" bIns="0" rtlCol="0" anchor="ctr"/>
          <a:lstStyle/>
          <a:p>
            <a:pPr indent="0" marL="0">
              <a:buNone/>
            </a:pPr>
            <a:r>
              <a:rPr lang="en-US" sz="1300" dirty="0">
                <a:solidFill>
                  <a:schemeClr val="tx1"/>
                </a:solidFill>
              </a:rPr>
              <a:t>data tests, Steps 3–5</a:t>
            </a:r>
            <a:endParaRPr lang="en-US" sz="1300" dirty="0"/>
          </a:p>
        </p:txBody>
      </p:sp>
      <p:sp>
        <p:nvSpPr>
          <p:cNvPr id="12" name="Text 10"/>
          <p:cNvSpPr txBox="1"/>
          <p:nvPr/>
        </p:nvSpPr>
        <p:spPr>
          <a:xfrm>
            <a:off x="822960" y="420624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rag.py</a:t>
            </a:r>
            <a:endParaRPr lang="en-US" sz="1300" dirty="0"/>
          </a:p>
        </p:txBody>
      </p:sp>
      <p:sp>
        <p:nvSpPr>
          <p:cNvPr id="13" name="Text 11"/>
          <p:cNvSpPr txBox="1"/>
          <p:nvPr/>
        </p:nvSpPr>
        <p:spPr>
          <a:xfrm>
            <a:off x="3154680" y="4206240"/>
            <a:ext cx="2606040" cy="457200"/>
          </a:xfrm>
          <a:prstGeom prst="rect">
            <a:avLst/>
          </a:prstGeom>
          <a:noFill/>
          <a:ln/>
        </p:spPr>
        <p:txBody>
          <a:bodyPr wrap="square" lIns="0" tIns="0" rIns="0" bIns="0" rtlCol="0" anchor="ctr"/>
          <a:lstStyle/>
          <a:p>
            <a:pPr indent="0" marL="0">
              <a:buNone/>
            </a:pPr>
            <a:r>
              <a:rPr lang="en-US" sz="1300" dirty="0">
                <a:solidFill>
                  <a:schemeClr val="tx1"/>
                </a:solidFill>
              </a:rPr>
              <a:t>pipeline; changes in 7–10</a:t>
            </a:r>
            <a:endParaRPr lang="en-US" sz="1300" dirty="0"/>
          </a:p>
        </p:txBody>
      </p:sp>
      <p:sp>
        <p:nvSpPr>
          <p:cNvPr id="14" name="Text 12"/>
          <p:cNvSpPr txBox="1"/>
          <p:nvPr/>
        </p:nvSpPr>
        <p:spPr>
          <a:xfrm>
            <a:off x="822960" y="475488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b1_eval.py</a:t>
            </a:r>
            <a:endParaRPr lang="en-US" sz="1300" dirty="0"/>
          </a:p>
        </p:txBody>
      </p:sp>
      <p:sp>
        <p:nvSpPr>
          <p:cNvPr id="15" name="Text 13"/>
          <p:cNvSpPr txBox="1"/>
          <p:nvPr/>
        </p:nvSpPr>
        <p:spPr>
          <a:xfrm>
            <a:off x="3154680" y="4754880"/>
            <a:ext cx="2606040" cy="457200"/>
          </a:xfrm>
          <a:prstGeom prst="rect">
            <a:avLst/>
          </a:prstGeom>
          <a:noFill/>
          <a:ln/>
        </p:spPr>
        <p:txBody>
          <a:bodyPr wrap="square" lIns="0" tIns="0" rIns="0" bIns="0" rtlCol="0" anchor="ctr"/>
          <a:lstStyle/>
          <a:p>
            <a:pPr indent="0" marL="0">
              <a:buNone/>
            </a:pPr>
            <a:r>
              <a:rPr lang="en-US" sz="1300" dirty="0">
                <a:solidFill>
                  <a:schemeClr val="tx1"/>
                </a:solidFill>
              </a:rPr>
              <a:t>OFF/ON evaluator (Step 7)</a:t>
            </a:r>
            <a:endParaRPr lang="en-US" sz="1300" dirty="0"/>
          </a:p>
        </p:txBody>
      </p:sp>
      <p:sp>
        <p:nvSpPr>
          <p:cNvPr id="16" name="Text 14"/>
          <p:cNvSpPr txBox="1"/>
          <p:nvPr/>
        </p:nvSpPr>
        <p:spPr>
          <a:xfrm>
            <a:off x="822960" y="53035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results/</a:t>
            </a:r>
            <a:endParaRPr lang="en-US" sz="1300" dirty="0"/>
          </a:p>
        </p:txBody>
      </p:sp>
      <p:sp>
        <p:nvSpPr>
          <p:cNvPr id="17" name="Text 15"/>
          <p:cNvSpPr txBox="1"/>
          <p:nvPr/>
        </p:nvSpPr>
        <p:spPr>
          <a:xfrm>
            <a:off x="3154680" y="5303520"/>
            <a:ext cx="2606040" cy="457200"/>
          </a:xfrm>
          <a:prstGeom prst="rect">
            <a:avLst/>
          </a:prstGeom>
          <a:noFill/>
          <a:ln/>
        </p:spPr>
        <p:txBody>
          <a:bodyPr wrap="square" lIns="0" tIns="0" rIns="0" bIns="0" rtlCol="0" anchor="ctr"/>
          <a:lstStyle/>
          <a:p>
            <a:pPr indent="0" marL="0">
              <a:buNone/>
            </a:pPr>
            <a:r>
              <a:rPr lang="en-US" sz="1300" dirty="0">
                <a:solidFill>
                  <a:schemeClr val="tx1"/>
                </a:solidFill>
              </a:rPr>
              <a:t>BEFORE, AFTER, summary</a:t>
            </a:r>
            <a:endParaRPr lang="en-US" sz="1300" dirty="0"/>
          </a:p>
        </p:txBody>
      </p:sp>
      <p:sp>
        <p:nvSpPr>
          <p:cNvPr id="18" name="b1-tracking/track-b/"/>
          <p:cNvSpPr/>
          <p:nvPr/>
        </p:nvSpPr>
        <p:spPr>
          <a:xfrm>
            <a:off x="6245352" y="1463040"/>
            <a:ext cx="5394960" cy="4663440"/>
          </a:xfrm>
          <a:prstGeom prst="roundRect">
            <a:avLst>
              <a:gd name="adj" fmla="val 2353"/>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6519672" y="1645920"/>
            <a:ext cx="48463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b1-tracking/track-b/</a:t>
            </a:r>
            <a:endParaRPr lang="en-US" sz="2000" dirty="0"/>
          </a:p>
        </p:txBody>
      </p:sp>
      <p:sp>
        <p:nvSpPr>
          <p:cNvPr id="20" name="Text 18"/>
          <p:cNvSpPr txBox="1"/>
          <p:nvPr/>
        </p:nvSpPr>
        <p:spPr>
          <a:xfrm>
            <a:off x="6519672" y="2057400"/>
            <a:ext cx="4846320" cy="320040"/>
          </a:xfrm>
          <a:prstGeom prst="rect">
            <a:avLst/>
          </a:prstGeom>
          <a:noFill/>
          <a:ln/>
        </p:spPr>
        <p:txBody>
          <a:bodyPr wrap="square" lIns="0" tIns="0" rIns="0" bIns="0" rtlCol="0" anchor="ctr"/>
          <a:lstStyle/>
          <a:p>
            <a:pPr indent="0" marL="0">
              <a:buNone/>
            </a:pPr>
            <a:r>
              <a:rPr lang="en-US" sz="1200" dirty="0">
                <a:solidFill>
                  <a:schemeClr val="accent4"/>
                </a:solidFill>
              </a:rPr>
              <a:t>Evidence and documentation</a:t>
            </a:r>
            <a:endParaRPr lang="en-US" sz="1200" dirty="0"/>
          </a:p>
        </p:txBody>
      </p:sp>
      <p:sp>
        <p:nvSpPr>
          <p:cNvPr id="21" name="Text 19"/>
          <p:cNvSpPr txBox="1"/>
          <p:nvPr/>
        </p:nvSpPr>
        <p:spPr>
          <a:xfrm>
            <a:off x="6519672" y="25603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SOP.md</a:t>
            </a:r>
            <a:endParaRPr lang="en-US" sz="1300" dirty="0"/>
          </a:p>
        </p:txBody>
      </p:sp>
      <p:sp>
        <p:nvSpPr>
          <p:cNvPr id="22" name="Text 20"/>
          <p:cNvSpPr txBox="1"/>
          <p:nvPr/>
        </p:nvSpPr>
        <p:spPr>
          <a:xfrm>
            <a:off x="8851392" y="2560320"/>
            <a:ext cx="2606040" cy="457200"/>
          </a:xfrm>
          <a:prstGeom prst="rect">
            <a:avLst/>
          </a:prstGeom>
          <a:noFill/>
          <a:ln/>
        </p:spPr>
        <p:txBody>
          <a:bodyPr wrap="square" lIns="0" tIns="0" rIns="0" bIns="0" rtlCol="0" anchor="ctr"/>
          <a:lstStyle/>
          <a:p>
            <a:pPr indent="0" marL="0">
              <a:buNone/>
            </a:pPr>
            <a:r>
              <a:rPr lang="en-US" sz="1300" dirty="0">
                <a:solidFill>
                  <a:schemeClr val="tx1"/>
                </a:solidFill>
              </a:rPr>
              <a:t>the runbook (source)</a:t>
            </a:r>
            <a:endParaRPr lang="en-US" sz="1300" dirty="0"/>
          </a:p>
        </p:txBody>
      </p:sp>
      <p:sp>
        <p:nvSpPr>
          <p:cNvPr id="23" name="Text 21"/>
          <p:cNvSpPr txBox="1"/>
          <p:nvPr/>
        </p:nvSpPr>
        <p:spPr>
          <a:xfrm>
            <a:off x="6519672" y="310896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docs/</a:t>
            </a:r>
            <a:endParaRPr lang="en-US" sz="1300" dirty="0"/>
          </a:p>
        </p:txBody>
      </p:sp>
      <p:sp>
        <p:nvSpPr>
          <p:cNvPr id="24" name="Text 22"/>
          <p:cNvSpPr txBox="1"/>
          <p:nvPr/>
        </p:nvSpPr>
        <p:spPr>
          <a:xfrm>
            <a:off x="8851392" y="3108960"/>
            <a:ext cx="2606040" cy="457200"/>
          </a:xfrm>
          <a:prstGeom prst="rect">
            <a:avLst/>
          </a:prstGeom>
          <a:noFill/>
          <a:ln/>
        </p:spPr>
        <p:txBody>
          <a:bodyPr wrap="square" lIns="0" tIns="0" rIns="0" bIns="0" rtlCol="0" anchor="ctr"/>
          <a:lstStyle/>
          <a:p>
            <a:pPr indent="0" marL="0">
              <a:buNone/>
            </a:pPr>
            <a:r>
              <a:rPr lang="en-US" sz="1300" dirty="0">
                <a:solidFill>
                  <a:schemeClr val="tx1"/>
                </a:solidFill>
              </a:rPr>
              <a:t>this deck + SOP PDF</a:t>
            </a:r>
            <a:endParaRPr lang="en-US" sz="1300" dirty="0"/>
          </a:p>
        </p:txBody>
      </p:sp>
      <p:sp>
        <p:nvSpPr>
          <p:cNvPr id="25" name="Text 23"/>
          <p:cNvSpPr txBox="1"/>
          <p:nvPr/>
        </p:nvSpPr>
        <p:spPr>
          <a:xfrm>
            <a:off x="6519672" y="365760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runs/step02…05/</a:t>
            </a:r>
            <a:endParaRPr lang="en-US" sz="1300" dirty="0"/>
          </a:p>
        </p:txBody>
      </p:sp>
      <p:sp>
        <p:nvSpPr>
          <p:cNvPr id="26" name="Text 24"/>
          <p:cNvSpPr txBox="1"/>
          <p:nvPr/>
        </p:nvSpPr>
        <p:spPr>
          <a:xfrm>
            <a:off x="8851392" y="3657600"/>
            <a:ext cx="2606040" cy="457200"/>
          </a:xfrm>
          <a:prstGeom prst="rect">
            <a:avLst/>
          </a:prstGeom>
          <a:noFill/>
          <a:ln/>
        </p:spPr>
        <p:txBody>
          <a:bodyPr wrap="square" lIns="0" tIns="0" rIns="0" bIns="0" rtlCol="0" anchor="ctr"/>
          <a:lstStyle/>
          <a:p>
            <a:pPr indent="0" marL="0">
              <a:buNone/>
            </a:pPr>
            <a:r>
              <a:rPr lang="en-US" sz="1300" dirty="0">
                <a:solidFill>
                  <a:schemeClr val="tx1"/>
                </a:solidFill>
              </a:rPr>
              <a:t>log of every run</a:t>
            </a:r>
            <a:endParaRPr lang="en-US" sz="1300" dirty="0"/>
          </a:p>
        </p:txBody>
      </p:sp>
      <p:sp>
        <p:nvSpPr>
          <p:cNvPr id="27" name="Text 25"/>
          <p:cNvSpPr txBox="1"/>
          <p:nvPr/>
        </p:nvSpPr>
        <p:spPr>
          <a:xfrm>
            <a:off x="6519672" y="420624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tools/</a:t>
            </a:r>
            <a:endParaRPr lang="en-US" sz="1300" dirty="0"/>
          </a:p>
        </p:txBody>
      </p:sp>
      <p:sp>
        <p:nvSpPr>
          <p:cNvPr id="28" name="Text 26"/>
          <p:cNvSpPr txBox="1"/>
          <p:nvPr/>
        </p:nvSpPr>
        <p:spPr>
          <a:xfrm>
            <a:off x="8851392" y="4206240"/>
            <a:ext cx="2606040" cy="457200"/>
          </a:xfrm>
          <a:prstGeom prst="rect">
            <a:avLst/>
          </a:prstGeom>
          <a:noFill/>
          <a:ln/>
        </p:spPr>
        <p:txBody>
          <a:bodyPr wrap="square" lIns="0" tIns="0" rIns="0" bIns="0" rtlCol="0" anchor="ctr"/>
          <a:lstStyle/>
          <a:p>
            <a:pPr indent="0" marL="0">
              <a:buNone/>
            </a:pPr>
            <a:r>
              <a:rPr lang="en-US" sz="1300" dirty="0">
                <a:solidFill>
                  <a:schemeClr val="tx1"/>
                </a:solidFill>
              </a:rPr>
              <a:t>make_corpus.py generator</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2: the unchanged lab runs end to end</a:t>
            </a:r>
            <a:endParaRPr lang="en-US" sz="3400" dirty="0"/>
          </a:p>
        </p:txBody>
      </p:sp>
      <p:sp>
        <p:nvSpPr>
          <p:cNvPr id="3" name="step2 ingest"/>
          <p:cNvSpPr/>
          <p:nvPr/>
        </p:nvSpPr>
        <p:spPr>
          <a:xfrm>
            <a:off x="54864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ingest</a:t>
            </a:r>
            <a:endParaRPr lang="en-US" sz="1500" dirty="0"/>
          </a:p>
        </p:txBody>
      </p:sp>
      <p:sp>
        <p:nvSpPr>
          <p:cNvPr id="5" name="Text 3"/>
          <p:cNvSpPr txBox="1"/>
          <p:nvPr/>
        </p:nvSpPr>
        <p:spPr>
          <a:xfrm>
            <a:off x="82296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196</a:t>
            </a:r>
            <a:endParaRPr lang="en-US" sz="5400" dirty="0"/>
          </a:p>
        </p:txBody>
      </p:sp>
      <p:sp>
        <p:nvSpPr>
          <p:cNvPr id="6" name="Text 4"/>
          <p:cNvSpPr txBox="1"/>
          <p:nvPr/>
        </p:nvSpPr>
        <p:spPr>
          <a:xfrm>
            <a:off x="82296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vectors stored from the Aventro corpus</a:t>
            </a:r>
            <a:endParaRPr lang="en-US" sz="1500" dirty="0"/>
          </a:p>
        </p:txBody>
      </p:sp>
      <p:sp>
        <p:nvSpPr>
          <p:cNvPr id="7" name="step2 ask"/>
          <p:cNvSpPr/>
          <p:nvPr/>
        </p:nvSpPr>
        <p:spPr>
          <a:xfrm>
            <a:off x="429768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8" name="Text 6"/>
          <p:cNvSpPr txBox="1"/>
          <p:nvPr/>
        </p:nvSpPr>
        <p:spPr>
          <a:xfrm>
            <a:off x="457200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ask</a:t>
            </a:r>
            <a:endParaRPr lang="en-US" sz="1500" dirty="0"/>
          </a:p>
        </p:txBody>
      </p:sp>
      <p:sp>
        <p:nvSpPr>
          <p:cNvPr id="9" name="Text 7"/>
          <p:cNvSpPr txBox="1"/>
          <p:nvPr/>
        </p:nvSpPr>
        <p:spPr>
          <a:xfrm>
            <a:off x="457200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21 s</a:t>
            </a:r>
            <a:endParaRPr lang="en-US" sz="5400" dirty="0"/>
          </a:p>
        </p:txBody>
      </p:sp>
      <p:sp>
        <p:nvSpPr>
          <p:cNvPr id="10" name="Text 8"/>
          <p:cNvSpPr txBox="1"/>
          <p:nvPr/>
        </p:nvSpPr>
        <p:spPr>
          <a:xfrm>
            <a:off x="457200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cited answer through the class proxy</a:t>
            </a:r>
            <a:endParaRPr lang="en-US" sz="1500" dirty="0"/>
          </a:p>
        </p:txBody>
      </p:sp>
      <p:sp>
        <p:nvSpPr>
          <p:cNvPr id="11" name="step2 eval"/>
          <p:cNvSpPr/>
          <p:nvPr/>
        </p:nvSpPr>
        <p:spPr>
          <a:xfrm>
            <a:off x="804672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832104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eval</a:t>
            </a:r>
            <a:endParaRPr lang="en-US" sz="1500" dirty="0"/>
          </a:p>
        </p:txBody>
      </p:sp>
      <p:sp>
        <p:nvSpPr>
          <p:cNvPr id="13" name="Text 11"/>
          <p:cNvSpPr txBox="1"/>
          <p:nvPr/>
        </p:nvSpPr>
        <p:spPr>
          <a:xfrm>
            <a:off x="832104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2 / 6</a:t>
            </a:r>
            <a:endParaRPr lang="en-US" sz="5400" dirty="0"/>
          </a:p>
        </p:txBody>
      </p:sp>
      <p:sp>
        <p:nvSpPr>
          <p:cNvPr id="14" name="Text 12"/>
          <p:cNvSpPr txBox="1"/>
          <p:nvPr/>
        </p:nvSpPr>
        <p:spPr>
          <a:xfrm>
            <a:off x="832104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retrieval and answer: the lab's designed start</a:t>
            </a:r>
            <a:endParaRPr lang="en-US" sz="1500" dirty="0"/>
          </a:p>
        </p:txBody>
      </p:sp>
      <p:sp>
        <p:nvSpPr>
          <p:cNvPr id="15" name="Text 13"/>
          <p:cNvSpPr txBox="1"/>
          <p:nvPr/>
        </p:nvSpPr>
        <p:spPr>
          <a:xfrm>
            <a:off x="548640" y="5120640"/>
            <a:ext cx="11064240" cy="411480"/>
          </a:xfrm>
          <a:prstGeom prst="rect">
            <a:avLst/>
          </a:prstGeom>
          <a:noFill/>
          <a:ln/>
        </p:spPr>
        <p:txBody>
          <a:bodyPr wrap="square" lIns="0" tIns="0" rIns="0" bIns="0" rtlCol="0" anchor="ctr"/>
          <a:lstStyle/>
          <a:p>
            <a:pPr indent="0" marL="0">
              <a:buNone/>
            </a:pPr>
            <a:r>
              <a:rPr lang="en-US" sz="1600" i="1" dirty="0">
                <a:solidFill>
                  <a:schemeClr val="tx2"/>
                </a:solidFill>
              </a:rPr>
              <a:t>Why: if something breaks later, you know it worked before you touched it.</a:t>
            </a:r>
            <a:endParaRPr lang="en-US" sz="1600" dirty="0"/>
          </a:p>
        </p:txBody>
      </p:sp>
      <p:sp>
        <p:nvSpPr>
          <p:cNvPr id="16" name="Text 14"/>
          <p:cNvSpPr txBox="1"/>
          <p:nvPr/>
        </p:nvSpPr>
        <p:spPr>
          <a:xfrm>
            <a:off x="548640" y="562356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Evidence: runs/step02-baseline-unchanged/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3: eight subjects, two versions each</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2103120"/>
                <a:gridCol w="2651760"/>
                <a:gridCol w="2834640"/>
              </a:tblGrid>
              <a:tr h="429768">
                <a:tc>
                  <a:txBody>
                    <a:bodyPr/>
                    <a:lstStyle/>
                    <a:p>
                      <a:pPr indent="0" marL="0">
                        <a:buNone/>
                      </a:pPr>
                      <a:r>
                        <a:rPr lang="en-US" sz="1300" b="1" dirty="0">
                          <a:solidFill>
                            <a:srgbClr val="FFFFFF"/>
                          </a:solidFill>
                        </a:rPr>
                        <a:t>Subject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Old version says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Current version says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r>
              <a:tr h="429768">
                <a:tc>
                  <a:txBody>
                    <a:bodyPr/>
                    <a:lstStyle/>
                    <a:p>
                      <a:pPr indent="0" marL="0">
                        <a:buNone/>
                      </a:pPr>
                      <a:r>
                        <a:rPr lang="en-US" sz="1300" dirty="0">
                          <a:solidFill>
                            <a:srgbClr val="1F2A37"/>
                          </a:solidFill>
                        </a:rPr>
                        <a:t>Consumer lag</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page at 100,000 messages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page at 10 min of time lag</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Topic retention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7 days (604800000 ms)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3 days (259200000 ms)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Rolling restart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wait 5 min between brokers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wait 10 min, controller last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Listeners and auth</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9092 PLAINTEXT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9094 SASL_SSL</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Topic creation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6 partitions, min ISR 1</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12 partitions, min ISR 2</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Disk capacity</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page at 90%</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page at 85%</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Schema registry</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port 8081, BACKWARD</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port 8085, FULL_TRANSITIVE</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On-call escalation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ack 15 min, kafka-ops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ack 5 min, streaming-platform-prod</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 name="design rules"/>
          <p:cNvSpPr/>
          <p:nvPr/>
        </p:nvSpPr>
        <p:spPr>
          <a:xfrm>
            <a:off x="8458200" y="1417320"/>
            <a:ext cx="3154680" cy="3867912"/>
          </a:xfrm>
          <a:prstGeom prst="roundRect">
            <a:avLst>
              <a:gd name="adj" fmla="val 3478"/>
            </a:avLst>
          </a:prstGeom>
          <a:solidFill>
            <a:srgbClr val="CDEFEA"/>
          </a:solidFill>
          <a:ln/>
          <a:effectLst>
            <a:outerShdw sx="100000" sy="100000" kx="0" ky="0" algn="bl" rotWithShape="0" blurRad="76200" dist="25400" dir="5400000">
              <a:srgbClr val="000000">
                <a:alpha val="12000"/>
              </a:srgbClr>
            </a:outerShdw>
          </a:effectLst>
        </p:spPr>
      </p:sp>
      <p:sp>
        <p:nvSpPr>
          <p:cNvPr id="5" name="Text 2"/>
          <p:cNvSpPr txBox="1"/>
          <p:nvPr/>
        </p:nvSpPr>
        <p:spPr>
          <a:xfrm>
            <a:off x="8686800" y="1600200"/>
            <a:ext cx="2743200" cy="365760"/>
          </a:xfrm>
          <a:prstGeom prst="rect">
            <a:avLst/>
          </a:prstGeom>
          <a:noFill/>
          <a:ln/>
        </p:spPr>
        <p:txBody>
          <a:bodyPr wrap="square" lIns="0" tIns="0" rIns="0" bIns="0" rtlCol="0" anchor="ctr"/>
          <a:lstStyle/>
          <a:p>
            <a:pPr indent="0" marL="0">
              <a:buNone/>
            </a:pPr>
            <a:r>
              <a:rPr lang="en-US" sz="1600" b="1" dirty="0">
                <a:solidFill>
                  <a:schemeClr val="tx2"/>
                </a:solidFill>
              </a:rPr>
              <a:t>Built so the trap is real</a:t>
            </a:r>
            <a:endParaRPr lang="en-US" sz="1600" dirty="0"/>
          </a:p>
        </p:txBody>
      </p:sp>
      <p:sp>
        <p:nvSpPr>
          <p:cNvPr id="6" name="Text 3"/>
          <p:cNvSpPr txBox="1"/>
          <p:nvPr/>
        </p:nvSpPr>
        <p:spPr>
          <a:xfrm>
            <a:off x="8686800" y="2057400"/>
            <a:ext cx="274320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template per pair: only facts differ</a:t>
            </a:r>
            <a:endParaRPr lang="en-US" sz="1400" dirty="0"/>
          </a:p>
          <a:p>
            <a:pPr marL="342900" indent="-342900">
              <a:spcAft>
                <a:spcPts val="600"/>
              </a:spcAft>
              <a:buSzPct val="100000"/>
              <a:buChar char="•"/>
            </a:pPr>
            <a:r>
              <a:rPr lang="en-US" sz="1400" dirty="0">
                <a:solidFill>
                  <a:schemeClr val="tx1"/>
                </a:solidFill>
              </a:rPr>
              <a:t>No "superseded" banner in old files</a:t>
            </a:r>
            <a:endParaRPr lang="en-US" sz="1400" dirty="0"/>
          </a:p>
          <a:p>
            <a:pPr marL="342900" indent="-342900">
              <a:spcAft>
                <a:spcPts val="600"/>
              </a:spcAft>
              <a:buSzPct val="100000"/>
              <a:buChar char="•"/>
            </a:pPr>
            <a:r>
              <a:rPr lang="en-US" sz="1400" dirty="0">
                <a:solidFill>
                  <a:schemeClr val="tx1"/>
                </a:solidFill>
              </a:rPr>
              <a:t>No front-matter: metadata lives in the manifest</a:t>
            </a:r>
            <a:endParaRPr lang="en-US" sz="1400" dirty="0"/>
          </a:p>
          <a:p>
            <a:pPr marL="342900" indent="-342900">
              <a:spcAft>
                <a:spcPts val="600"/>
              </a:spcAft>
              <a:buSzPct val="100000"/>
              <a:buChar char="•"/>
            </a:pPr>
            <a:r>
              <a:rPr lang="en-US" sz="1400" dirty="0">
                <a:solidFill>
                  <a:schemeClr val="tx1"/>
                </a:solidFill>
              </a:rPr>
              <a:t>Fictional company Halcyon, not Meridian or Aventro</a:t>
            </a:r>
            <a:endParaRPr lang="en-US" sz="1400" dirty="0"/>
          </a:p>
        </p:txBody>
      </p:sp>
      <p:sp>
        <p:nvSpPr>
          <p:cNvPr id="7" name="Text 4"/>
          <p:cNvSpPr txBox="1"/>
          <p:nvPr/>
        </p:nvSpPr>
        <p:spPr>
          <a:xfrm>
            <a:off x="8686800" y="4343400"/>
            <a:ext cx="137160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4 / 8</a:t>
            </a:r>
            <a:endParaRPr lang="en-US" sz="3200" dirty="0"/>
          </a:p>
        </p:txBody>
      </p:sp>
      <p:sp>
        <p:nvSpPr>
          <p:cNvPr id="8" name="Text 5"/>
          <p:cNvSpPr txBox="1"/>
          <p:nvPr/>
        </p:nvSpPr>
        <p:spPr>
          <a:xfrm>
            <a:off x="10058400" y="4343400"/>
            <a:ext cx="1417320" cy="731520"/>
          </a:xfrm>
          <a:prstGeom prst="rect">
            <a:avLst/>
          </a:prstGeom>
          <a:noFill/>
          <a:ln/>
        </p:spPr>
        <p:txBody>
          <a:bodyPr wrap="square" lIns="0" tIns="0" rIns="0" bIns="0" rtlCol="0" anchor="ctr"/>
          <a:lstStyle/>
          <a:p>
            <a:pPr indent="0" marL="0">
              <a:buNone/>
            </a:pPr>
            <a:r>
              <a:rPr lang="en-US" sz="1200" dirty="0">
                <a:solidFill>
                  <a:schemeClr val="tx1"/>
                </a:solidFill>
              </a:rPr>
              <a:t>plain questions where the old file ranks first</a:t>
            </a:r>
            <a:endParaRPr lang="en-US" sz="1200" dirty="0"/>
          </a:p>
        </p:txBody>
      </p:sp>
      <p:sp>
        <p:nvSpPr>
          <p:cNvPr id="9" name="Text 6"/>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python simple_rag/b1_check.py   →   16 files, 8 pairs, similarity 0.87–0.97, old ranks first 4/8   ·   PASS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4: the manifest says which file is current</a:t>
            </a:r>
            <a:endParaRPr lang="en-US" sz="3400" dirty="0"/>
          </a:p>
        </p:txBody>
      </p:sp>
      <p:sp>
        <p:nvSpPr>
          <p:cNvPr id="3" name="json card"/>
          <p:cNvSpPr/>
          <p:nvPr/>
        </p:nvSpPr>
        <p:spPr>
          <a:xfrm>
            <a:off x="548640" y="1463040"/>
            <a:ext cx="5486400" cy="4151376"/>
          </a:xfrm>
          <a:prstGeom prst="roundRect">
            <a:avLst>
              <a:gd name="adj" fmla="val 2643"/>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645920"/>
            <a:ext cx="4937760" cy="3794760"/>
          </a:xfrm>
          <a:prstGeom prst="rect">
            <a:avLst/>
          </a:prstGeom>
          <a:noFill/>
          <a:ln/>
        </p:spPr>
        <p:txBody>
          <a:bodyPr wrap="square" lIns="0" tIns="0" rIns="0" bIns="0" rtlCol="0" anchor="ctr"/>
          <a:lstStyle/>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"disk-capacity.md": {</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"doc": "Kafka Broker Disk</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Capacity Runbook",</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"version": 3,</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"effective_date": "2026-05-01",</a:t>
            </a:r>
            <a:endParaRPr lang="en-US" sz="1700" dirty="0"/>
          </a:p>
          <a:p>
            <a:pPr indent="0" marL="0">
              <a:lnSpc>
                <a:spcPct val="115000"/>
              </a:lnSpc>
              <a:buNone/>
            </a:pPr>
            <a:r>
              <a:rPr lang="en-US" sz="1700" b="1" dirty="0">
                <a:solidFill>
                  <a:srgbClr val="CDEFEA"/>
                </a:solidFill>
                <a:latin typeface="Courier New" pitchFamily="34" charset="0"/>
                <a:ea typeface="Courier New" pitchFamily="34" charset="-122"/>
                <a:cs typeface="Courier New" pitchFamily="34" charset="-120"/>
              </a:rPr>
              <a:t>  "superseded": false</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"disk-capacity-2025.md": { … v2,</a:t>
            </a:r>
            <a:endParaRPr lang="en-US" sz="1700" dirty="0"/>
          </a:p>
          <a:p>
            <a:pPr indent="0" marL="0">
              <a:lnSpc>
                <a:spcPct val="115000"/>
              </a:lnSpc>
              <a:buNone/>
            </a:pPr>
            <a:r>
              <a:rPr lang="en-US" sz="1700" b="1" dirty="0">
                <a:solidFill>
                  <a:srgbClr val="F7B98A"/>
                </a:solidFill>
                <a:latin typeface="Courier New" pitchFamily="34" charset="0"/>
                <a:ea typeface="Courier New" pitchFamily="34" charset="-122"/>
                <a:cs typeface="Courier New" pitchFamily="34" charset="-120"/>
              </a:rPr>
              <a:t>  "superseded": true }</a:t>
            </a:r>
            <a:endParaRPr lang="en-US" sz="1700" dirty="0"/>
          </a:p>
        </p:txBody>
      </p:sp>
      <p:sp>
        <p:nvSpPr>
          <p:cNvPr id="5" name="field doc"/>
          <p:cNvSpPr/>
          <p:nvPr/>
        </p:nvSpPr>
        <p:spPr>
          <a:xfrm>
            <a:off x="6400800" y="1463040"/>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6629400" y="1554480"/>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doc</a:t>
            </a:r>
            <a:endParaRPr lang="en-US" sz="1500" dirty="0"/>
          </a:p>
        </p:txBody>
      </p:sp>
      <p:sp>
        <p:nvSpPr>
          <p:cNvPr id="7" name="Text 5"/>
          <p:cNvSpPr txBox="1"/>
          <p:nvPr/>
        </p:nvSpPr>
        <p:spPr>
          <a:xfrm>
            <a:off x="6629400" y="1920240"/>
            <a:ext cx="4754880" cy="365760"/>
          </a:xfrm>
          <a:prstGeom prst="rect">
            <a:avLst/>
          </a:prstGeom>
          <a:noFill/>
          <a:ln/>
        </p:spPr>
        <p:txBody>
          <a:bodyPr wrap="square" lIns="0" tIns="0" rIns="0" bIns="0" rtlCol="0" anchor="ctr"/>
          <a:lstStyle/>
          <a:p>
            <a:pPr indent="0" marL="0">
              <a:buNone/>
            </a:pPr>
            <a:r>
              <a:rPr lang="en-US" sz="1300" dirty="0">
                <a:solidFill>
                  <a:schemeClr val="tx1"/>
                </a:solidFill>
              </a:rPr>
              <a:t>Title shared by both versions: links the pair</a:t>
            </a:r>
            <a:endParaRPr lang="en-US" sz="1300" dirty="0"/>
          </a:p>
        </p:txBody>
      </p:sp>
      <p:sp>
        <p:nvSpPr>
          <p:cNvPr id="8" name="field version"/>
          <p:cNvSpPr/>
          <p:nvPr/>
        </p:nvSpPr>
        <p:spPr>
          <a:xfrm>
            <a:off x="6400800" y="2542032"/>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9" name="Text 7"/>
          <p:cNvSpPr txBox="1"/>
          <p:nvPr/>
        </p:nvSpPr>
        <p:spPr>
          <a:xfrm>
            <a:off x="6629400" y="2633472"/>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version</a:t>
            </a:r>
            <a:endParaRPr lang="en-US" sz="1500" dirty="0"/>
          </a:p>
        </p:txBody>
      </p:sp>
      <p:sp>
        <p:nvSpPr>
          <p:cNvPr id="10" name="Text 8"/>
          <p:cNvSpPr txBox="1"/>
          <p:nvPr/>
        </p:nvSpPr>
        <p:spPr>
          <a:xfrm>
            <a:off x="6629400" y="2999232"/>
            <a:ext cx="4754880" cy="365760"/>
          </a:xfrm>
          <a:prstGeom prst="rect">
            <a:avLst/>
          </a:prstGeom>
          <a:noFill/>
          <a:ln/>
        </p:spPr>
        <p:txBody>
          <a:bodyPr wrap="square" lIns="0" tIns="0" rIns="0" bIns="0" rtlCol="0" anchor="ctr"/>
          <a:lstStyle/>
          <a:p>
            <a:pPr indent="0" marL="0">
              <a:buNone/>
            </a:pPr>
            <a:r>
              <a:rPr lang="en-US" sz="1300" dirty="0">
                <a:solidFill>
                  <a:schemeClr val="tx1"/>
                </a:solidFill>
              </a:rPr>
              <a:t>Integer; higher is newer</a:t>
            </a:r>
            <a:endParaRPr lang="en-US" sz="1300" dirty="0"/>
          </a:p>
        </p:txBody>
      </p:sp>
      <p:sp>
        <p:nvSpPr>
          <p:cNvPr id="11" name="field effective_date"/>
          <p:cNvSpPr/>
          <p:nvPr/>
        </p:nvSpPr>
        <p:spPr>
          <a:xfrm>
            <a:off x="6400800" y="3621024"/>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629400" y="3712464"/>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effective_date</a:t>
            </a:r>
            <a:endParaRPr lang="en-US" sz="1500" dirty="0"/>
          </a:p>
        </p:txBody>
      </p:sp>
      <p:sp>
        <p:nvSpPr>
          <p:cNvPr id="13" name="Text 11"/>
          <p:cNvSpPr txBox="1"/>
          <p:nvPr/>
        </p:nvSpPr>
        <p:spPr>
          <a:xfrm>
            <a:off x="6629400" y="4078224"/>
            <a:ext cx="4754880" cy="365760"/>
          </a:xfrm>
          <a:prstGeom prst="rect">
            <a:avLst/>
          </a:prstGeom>
          <a:noFill/>
          <a:ln/>
        </p:spPr>
        <p:txBody>
          <a:bodyPr wrap="square" lIns="0" tIns="0" rIns="0" bIns="0" rtlCol="0" anchor="ctr"/>
          <a:lstStyle/>
          <a:p>
            <a:pPr indent="0" marL="0">
              <a:buNone/>
            </a:pPr>
            <a:r>
              <a:rPr lang="en-US" sz="1300" dirty="0">
                <a:solidFill>
                  <a:schemeClr val="tx1"/>
                </a:solidFill>
              </a:rPr>
              <a:t>YYYY-MM-DD; matches the file header</a:t>
            </a:r>
            <a:endParaRPr lang="en-US" sz="1300" dirty="0"/>
          </a:p>
        </p:txBody>
      </p:sp>
      <p:sp>
        <p:nvSpPr>
          <p:cNvPr id="14" name="field superseded"/>
          <p:cNvSpPr/>
          <p:nvPr/>
        </p:nvSpPr>
        <p:spPr>
          <a:xfrm>
            <a:off x="6400800" y="4700016"/>
            <a:ext cx="5212080" cy="914400"/>
          </a:xfrm>
          <a:prstGeom prst="roundRect">
            <a:avLst>
              <a:gd name="adj" fmla="val 12000"/>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629400" y="4791456"/>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superseded</a:t>
            </a:r>
            <a:endParaRPr lang="en-US" sz="1500" dirty="0"/>
          </a:p>
        </p:txBody>
      </p:sp>
      <p:sp>
        <p:nvSpPr>
          <p:cNvPr id="16" name="Text 14"/>
          <p:cNvSpPr txBox="1"/>
          <p:nvPr/>
        </p:nvSpPr>
        <p:spPr>
          <a:xfrm>
            <a:off x="6629400" y="5157216"/>
            <a:ext cx="4754880" cy="365760"/>
          </a:xfrm>
          <a:prstGeom prst="rect">
            <a:avLst/>
          </a:prstGeom>
          <a:noFill/>
          <a:ln/>
        </p:spPr>
        <p:txBody>
          <a:bodyPr wrap="square" lIns="0" tIns="0" rIns="0" bIns="0" rtlCol="0" anchor="ctr"/>
          <a:lstStyle/>
          <a:p>
            <a:pPr indent="0" marL="0">
              <a:buNone/>
            </a:pPr>
            <a:r>
              <a:rPr lang="en-US" sz="1300" dirty="0">
                <a:solidFill>
                  <a:schemeClr val="tx1"/>
                </a:solidFill>
              </a:rPr>
              <a:t>true once a newer version exists. The filter uses only this</a:t>
            </a:r>
            <a:endParaRPr lang="en-US" sz="1300" dirty="0"/>
          </a:p>
        </p:txBody>
      </p:sp>
      <p:sp>
        <p:nvSpPr>
          <p:cNvPr id="17" name="Text 15"/>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b1_check.py → 16 entries, 8 current / 8 superseded, 64 conflict values verified · negative test FAIL (5) as intended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5: 21 questions, written before the fix</a:t>
            </a:r>
            <a:endParaRPr lang="en-US" sz="3400" dirty="0"/>
          </a:p>
        </p:txBody>
      </p:sp>
      <p:sp>
        <p:nvSpPr>
          <p:cNvPr id="3" name="Text 1"/>
          <p:cNvSpPr txBox="1"/>
          <p:nvPr/>
        </p:nvSpPr>
        <p:spPr>
          <a:xfrm>
            <a:off x="548640" y="1463040"/>
            <a:ext cx="5120640" cy="365760"/>
          </a:xfrm>
          <a:prstGeom prst="rect">
            <a:avLst/>
          </a:prstGeom>
          <a:noFill/>
          <a:ln/>
        </p:spPr>
        <p:txBody>
          <a:bodyPr wrap="square" lIns="0" tIns="0" rIns="0" bIns="0" rtlCol="0" anchor="ctr"/>
          <a:lstStyle/>
          <a:p>
            <a:pPr indent="0" marL="0">
              <a:buNone/>
            </a:pPr>
            <a:r>
              <a:rPr lang="en-US" sz="1600" b="1" dirty="0">
                <a:solidFill>
                  <a:schemeClr val="tx1"/>
                </a:solidFill>
              </a:rPr>
              <a:t>Cases by type</a:t>
            </a:r>
            <a:endParaRPr lang="en-US" sz="1600" dirty="0"/>
          </a:p>
        </p:txBody>
      </p:sp>
      <p:sp>
        <p:nvSpPr>
          <p:cNvPr id="4" name="Text 2"/>
          <p:cNvSpPr txBox="1"/>
          <p:nvPr/>
        </p:nvSpPr>
        <p:spPr>
          <a:xfrm>
            <a:off x="548640" y="2057400"/>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superseded</a:t>
            </a:r>
            <a:endParaRPr lang="en-US" sz="1500" dirty="0"/>
          </a:p>
        </p:txBody>
      </p:sp>
      <p:sp>
        <p:nvSpPr>
          <p:cNvPr id="5" name="Text 3"/>
          <p:cNvSpPr txBox="1"/>
          <p:nvPr/>
        </p:nvSpPr>
        <p:spPr>
          <a:xfrm>
            <a:off x="548640" y="2423160"/>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old vs current conflict</a:t>
            </a:r>
            <a:endParaRPr lang="en-US" sz="1100" dirty="0"/>
          </a:p>
        </p:txBody>
      </p:sp>
      <p:sp>
        <p:nvSpPr>
          <p:cNvPr id="6" name="bar superseded"/>
          <p:cNvSpPr/>
          <p:nvPr/>
        </p:nvSpPr>
        <p:spPr>
          <a:xfrm>
            <a:off x="2331720" y="2103120"/>
            <a:ext cx="2715768" cy="548640"/>
          </a:xfrm>
          <a:prstGeom prst="rect">
            <a:avLst/>
          </a:prstGeom>
          <a:solidFill>
            <a:srgbClr val="E8833A"/>
          </a:solidFill>
          <a:ln/>
        </p:spPr>
      </p:sp>
      <p:sp>
        <p:nvSpPr>
          <p:cNvPr id="7" name="Text 5"/>
          <p:cNvSpPr txBox="1"/>
          <p:nvPr/>
        </p:nvSpPr>
        <p:spPr>
          <a:xfrm>
            <a:off x="5138928" y="2103120"/>
            <a:ext cx="548640" cy="548640"/>
          </a:xfrm>
          <a:prstGeom prst="rect">
            <a:avLst/>
          </a:prstGeom>
          <a:noFill/>
          <a:ln/>
        </p:spPr>
        <p:txBody>
          <a:bodyPr wrap="square" lIns="0" tIns="0" rIns="0" bIns="0" rtlCol="0" anchor="ctr"/>
          <a:lstStyle/>
          <a:p>
            <a:pPr indent="0" marL="0">
              <a:buNone/>
            </a:pPr>
            <a:r>
              <a:rPr lang="en-US" sz="2000" b="1" dirty="0">
                <a:solidFill>
                  <a:schemeClr val="tx1"/>
                </a:solidFill>
              </a:rPr>
              <a:t>9</a:t>
            </a:r>
            <a:endParaRPr lang="en-US" sz="2000" dirty="0"/>
          </a:p>
        </p:txBody>
      </p:sp>
      <p:sp>
        <p:nvSpPr>
          <p:cNvPr id="8" name="Text 6"/>
          <p:cNvSpPr txBox="1"/>
          <p:nvPr/>
        </p:nvSpPr>
        <p:spPr>
          <a:xfrm>
            <a:off x="548640" y="2953512"/>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exact_string</a:t>
            </a:r>
            <a:endParaRPr lang="en-US" sz="1500" dirty="0"/>
          </a:p>
        </p:txBody>
      </p:sp>
      <p:sp>
        <p:nvSpPr>
          <p:cNvPr id="9" name="Text 7"/>
          <p:cNvSpPr txBox="1"/>
          <p:nvPr/>
        </p:nvSpPr>
        <p:spPr>
          <a:xfrm>
            <a:off x="548640" y="3319272"/>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exact value must be found</a:t>
            </a:r>
            <a:endParaRPr lang="en-US" sz="1100" dirty="0"/>
          </a:p>
        </p:txBody>
      </p:sp>
      <p:sp>
        <p:nvSpPr>
          <p:cNvPr id="10" name="bar exact_string"/>
          <p:cNvSpPr/>
          <p:nvPr/>
        </p:nvSpPr>
        <p:spPr>
          <a:xfrm>
            <a:off x="2331720" y="2999232"/>
            <a:ext cx="2112264" cy="548640"/>
          </a:xfrm>
          <a:prstGeom prst="rect">
            <a:avLst/>
          </a:prstGeom>
          <a:solidFill>
            <a:srgbClr val="0F9D8A"/>
          </a:solidFill>
          <a:ln/>
        </p:spPr>
      </p:sp>
      <p:sp>
        <p:nvSpPr>
          <p:cNvPr id="11" name="Text 9"/>
          <p:cNvSpPr txBox="1"/>
          <p:nvPr/>
        </p:nvSpPr>
        <p:spPr>
          <a:xfrm>
            <a:off x="4535424" y="2999232"/>
            <a:ext cx="548640" cy="548640"/>
          </a:xfrm>
          <a:prstGeom prst="rect">
            <a:avLst/>
          </a:prstGeom>
          <a:noFill/>
          <a:ln/>
        </p:spPr>
        <p:txBody>
          <a:bodyPr wrap="square" lIns="0" tIns="0" rIns="0" bIns="0" rtlCol="0" anchor="ctr"/>
          <a:lstStyle/>
          <a:p>
            <a:pPr indent="0" marL="0">
              <a:buNone/>
            </a:pPr>
            <a:r>
              <a:rPr lang="en-US" sz="2000" b="1" dirty="0">
                <a:solidFill>
                  <a:schemeClr val="tx1"/>
                </a:solidFill>
              </a:rPr>
              <a:t>7</a:t>
            </a:r>
            <a:endParaRPr lang="en-US" sz="2000" dirty="0"/>
          </a:p>
        </p:txBody>
      </p:sp>
      <p:sp>
        <p:nvSpPr>
          <p:cNvPr id="12" name="Text 10"/>
          <p:cNvSpPr txBox="1"/>
          <p:nvPr/>
        </p:nvSpPr>
        <p:spPr>
          <a:xfrm>
            <a:off x="548640" y="3849624"/>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multi_hop</a:t>
            </a:r>
            <a:endParaRPr lang="en-US" sz="1500" dirty="0"/>
          </a:p>
        </p:txBody>
      </p:sp>
      <p:sp>
        <p:nvSpPr>
          <p:cNvPr id="13" name="Text 11"/>
          <p:cNvSpPr txBox="1"/>
          <p:nvPr/>
        </p:nvSpPr>
        <p:spPr>
          <a:xfrm>
            <a:off x="548640" y="4215384"/>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needs two current docs</a:t>
            </a:r>
            <a:endParaRPr lang="en-US" sz="1100" dirty="0"/>
          </a:p>
        </p:txBody>
      </p:sp>
      <p:sp>
        <p:nvSpPr>
          <p:cNvPr id="14" name="bar multi_hop"/>
          <p:cNvSpPr/>
          <p:nvPr/>
        </p:nvSpPr>
        <p:spPr>
          <a:xfrm>
            <a:off x="2331720" y="3895344"/>
            <a:ext cx="905256" cy="548640"/>
          </a:xfrm>
          <a:prstGeom prst="rect">
            <a:avLst/>
          </a:prstGeom>
          <a:solidFill>
            <a:srgbClr val="0B6E61"/>
          </a:solidFill>
          <a:ln/>
        </p:spPr>
      </p:sp>
      <p:sp>
        <p:nvSpPr>
          <p:cNvPr id="15" name="Text 13"/>
          <p:cNvSpPr txBox="1"/>
          <p:nvPr/>
        </p:nvSpPr>
        <p:spPr>
          <a:xfrm>
            <a:off x="3328416" y="3895344"/>
            <a:ext cx="548640" cy="548640"/>
          </a:xfrm>
          <a:prstGeom prst="rect">
            <a:avLst/>
          </a:prstGeom>
          <a:noFill/>
          <a:ln/>
        </p:spPr>
        <p:txBody>
          <a:bodyPr wrap="square" lIns="0" tIns="0" rIns="0" bIns="0" rtlCol="0" anchor="ctr"/>
          <a:lstStyle/>
          <a:p>
            <a:pPr indent="0" marL="0">
              <a:buNone/>
            </a:pPr>
            <a:r>
              <a:rPr lang="en-US" sz="2000" b="1" dirty="0">
                <a:solidFill>
                  <a:schemeClr val="tx1"/>
                </a:solidFill>
              </a:rPr>
              <a:t>3</a:t>
            </a:r>
            <a:endParaRPr lang="en-US" sz="2000" dirty="0"/>
          </a:p>
        </p:txBody>
      </p:sp>
      <p:sp>
        <p:nvSpPr>
          <p:cNvPr id="16" name="Text 14"/>
          <p:cNvSpPr txBox="1"/>
          <p:nvPr/>
        </p:nvSpPr>
        <p:spPr>
          <a:xfrm>
            <a:off x="548640" y="4745736"/>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unanswerable</a:t>
            </a:r>
            <a:endParaRPr lang="en-US" sz="1500" dirty="0"/>
          </a:p>
        </p:txBody>
      </p:sp>
      <p:sp>
        <p:nvSpPr>
          <p:cNvPr id="17" name="Text 15"/>
          <p:cNvSpPr txBox="1"/>
          <p:nvPr/>
        </p:nvSpPr>
        <p:spPr>
          <a:xfrm>
            <a:off x="548640" y="5111496"/>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nothing to invent</a:t>
            </a:r>
            <a:endParaRPr lang="en-US" sz="1100" dirty="0"/>
          </a:p>
        </p:txBody>
      </p:sp>
      <p:sp>
        <p:nvSpPr>
          <p:cNvPr id="18" name="bar unanswerable"/>
          <p:cNvSpPr/>
          <p:nvPr/>
        </p:nvSpPr>
        <p:spPr>
          <a:xfrm>
            <a:off x="2331720" y="4791456"/>
            <a:ext cx="603504" cy="548640"/>
          </a:xfrm>
          <a:prstGeom prst="rect">
            <a:avLst/>
          </a:prstGeom>
          <a:solidFill>
            <a:srgbClr val="64748B"/>
          </a:solidFill>
          <a:ln/>
        </p:spPr>
      </p:sp>
      <p:sp>
        <p:nvSpPr>
          <p:cNvPr id="19" name="Text 17"/>
          <p:cNvSpPr txBox="1"/>
          <p:nvPr/>
        </p:nvSpPr>
        <p:spPr>
          <a:xfrm>
            <a:off x="3026664" y="4791456"/>
            <a:ext cx="548640" cy="548640"/>
          </a:xfrm>
          <a:prstGeom prst="rect">
            <a:avLst/>
          </a:prstGeom>
          <a:noFill/>
          <a:ln/>
        </p:spPr>
        <p:txBody>
          <a:bodyPr wrap="square" lIns="0" tIns="0" rIns="0" bIns="0" rtlCol="0" anchor="ctr"/>
          <a:lstStyle/>
          <a:p>
            <a:pPr indent="0" marL="0">
              <a:buNone/>
            </a:pPr>
            <a:r>
              <a:rPr lang="en-US" sz="2000" b="1" dirty="0">
                <a:solidFill>
                  <a:schemeClr val="tx1"/>
                </a:solidFill>
              </a:rPr>
              <a:t>2</a:t>
            </a:r>
            <a:endParaRPr lang="en-US" sz="2000" dirty="0"/>
          </a:p>
        </p:txBody>
      </p:sp>
      <p:sp>
        <p:nvSpPr>
          <p:cNvPr id="20" name="Text 18"/>
          <p:cNvSpPr txBox="1"/>
          <p:nvPr/>
        </p:nvSpPr>
        <p:spPr>
          <a:xfrm>
            <a:off x="548640" y="5532120"/>
            <a:ext cx="5120640" cy="274320"/>
          </a:xfrm>
          <a:prstGeom prst="rect">
            <a:avLst/>
          </a:prstGeom>
          <a:noFill/>
          <a:ln/>
        </p:spPr>
        <p:txBody>
          <a:bodyPr wrap="square" lIns="0" tIns="0" rIns="0" bIns="0" rtlCol="0" anchor="ctr"/>
          <a:lstStyle/>
          <a:p>
            <a:pPr indent="0" marL="0">
              <a:buNone/>
            </a:pPr>
            <a:r>
              <a:rPr lang="en-US" sz="1200" dirty="0">
                <a:solidFill>
                  <a:schemeClr val="accent4"/>
                </a:solidFill>
              </a:rPr>
              <a:t>21 cases, all 8 current runbooks covered</a:t>
            </a:r>
            <a:endParaRPr lang="en-US" sz="1200" dirty="0"/>
          </a:p>
        </p:txBody>
      </p:sp>
      <p:sp>
        <p:nvSpPr>
          <p:cNvPr id="21" name="example case"/>
          <p:cNvSpPr/>
          <p:nvPr/>
        </p:nvSpPr>
        <p:spPr>
          <a:xfrm>
            <a:off x="5989320" y="1417320"/>
            <a:ext cx="5623560" cy="2514600"/>
          </a:xfrm>
          <a:prstGeom prst="roundRect">
            <a:avLst>
              <a:gd name="adj" fmla="val 4364"/>
            </a:avLst>
          </a:prstGeom>
          <a:solidFill>
            <a:srgbClr val="EEF2F5"/>
          </a:solidFill>
          <a:ln/>
          <a:effectLst>
            <a:outerShdw sx="100000" sy="100000" kx="0" ky="0" algn="bl" rotWithShape="0" blurRad="76200" dist="25400" dir="5400000">
              <a:srgbClr val="000000">
                <a:alpha val="12000"/>
              </a:srgbClr>
            </a:outerShdw>
          </a:effectLst>
        </p:spPr>
      </p:sp>
      <p:sp>
        <p:nvSpPr>
          <p:cNvPr id="22" name="Text 20"/>
          <p:cNvSpPr txBox="1"/>
          <p:nvPr/>
        </p:nvSpPr>
        <p:spPr>
          <a:xfrm>
            <a:off x="6217920" y="1572768"/>
            <a:ext cx="5212080" cy="320040"/>
          </a:xfrm>
          <a:prstGeom prst="rect">
            <a:avLst/>
          </a:prstGeom>
          <a:noFill/>
          <a:ln/>
        </p:spPr>
        <p:txBody>
          <a:bodyPr wrap="square" lIns="0" tIns="0" rIns="0" bIns="0" rtlCol="0" anchor="ctr"/>
          <a:lstStyle/>
          <a:p>
            <a:pPr indent="0" marL="0">
              <a:buNone/>
            </a:pPr>
            <a:r>
              <a:rPr lang="en-US" sz="1300" b="1" dirty="0">
                <a:solidFill>
                  <a:schemeClr val="accent4"/>
                </a:solidFill>
              </a:rPr>
              <a:t>kafka-001 · superseded</a:t>
            </a:r>
            <a:endParaRPr lang="en-US" sz="1300" dirty="0"/>
          </a:p>
        </p:txBody>
      </p:sp>
      <p:sp>
        <p:nvSpPr>
          <p:cNvPr id="23" name="Text 21"/>
          <p:cNvSpPr txBox="1"/>
          <p:nvPr/>
        </p:nvSpPr>
        <p:spPr>
          <a:xfrm>
            <a:off x="6217920" y="1920240"/>
            <a:ext cx="5212080" cy="777240"/>
          </a:xfrm>
          <a:prstGeom prst="rect">
            <a:avLst/>
          </a:prstGeom>
          <a:noFill/>
          <a:ln/>
        </p:spPr>
        <p:txBody>
          <a:bodyPr wrap="square" lIns="0" tIns="0" rIns="0" bIns="0" rtlCol="0" anchor="ctr"/>
          <a:lstStyle/>
          <a:p>
            <a:pPr indent="0" marL="0">
              <a:buNone/>
            </a:pPr>
            <a:r>
              <a:rPr lang="en-US" sz="1700" i="1" dirty="0">
                <a:solidFill>
                  <a:schemeClr val="tx1"/>
                </a:solidFill>
              </a:rPr>
              <a:t>"Broker 4's data volume just hit 87%. Should that have paged someone?"</a:t>
            </a:r>
            <a:endParaRPr lang="en-US" sz="1700" dirty="0"/>
          </a:p>
        </p:txBody>
      </p:sp>
      <p:sp>
        <p:nvSpPr>
          <p:cNvPr id="24" name="Text 22"/>
          <p:cNvSpPr txBox="1"/>
          <p:nvPr/>
        </p:nvSpPr>
        <p:spPr>
          <a:xfrm>
            <a:off x="6217920" y="2788920"/>
            <a:ext cx="5212080" cy="1371600"/>
          </a:xfrm>
          <a:prstGeom prst="rect">
            <a:avLst/>
          </a:prstGeom>
          <a:noFill/>
          <a:ln/>
        </p:spPr>
        <p:txBody>
          <a:bodyPr wrap="square" lIns="0" tIns="0" rIns="0" bIns="0" rtlCol="0" anchor="t"/>
          <a:lstStyle/>
          <a:p>
            <a:pPr indent="0" marL="0">
              <a:spcAft>
                <a:spcPts val="400"/>
              </a:spcAft>
              <a:buNone/>
            </a:pPr>
            <a:r>
              <a:rPr lang="en-US" sz="1400" b="1" dirty="0">
                <a:solidFill>
                  <a:srgbClr val="0F9D8A"/>
                </a:solidFill>
              </a:rPr>
              <a:t>Pass: </a:t>
            </a:r>
            <a:pPr indent="0" marL="0">
              <a:spcAft>
                <a:spcPts val="400"/>
              </a:spcAft>
              <a:buNone/>
            </a:pPr>
            <a:r>
              <a:rPr lang="en-US" sz="1400" dirty="0">
                <a:solidFill>
                  <a:schemeClr val="tx1"/>
                </a:solidFill>
              </a:rPr>
              <a:t>yes, the page line is 85%</a:t>
            </a:r>
            <a:endParaRPr lang="en-US" sz="1400" dirty="0"/>
          </a:p>
          <a:p>
            <a:pPr indent="0" marL="0">
              <a:spcAft>
                <a:spcPts val="400"/>
              </a:spcAft>
              <a:buNone/>
            </a:pPr>
            <a:r>
              <a:rPr lang="en-US" sz="1400" b="1" dirty="0">
                <a:solidFill>
                  <a:schemeClr val="tx1"/>
                </a:solidFill>
              </a:rPr>
              <a:t>Must cite: </a:t>
            </a:r>
            <a:pPr indent="0" marL="0">
              <a:spcAft>
                <a:spcPts val="400"/>
              </a:spcAft>
              <a:buNone/>
            </a:pPr>
            <a:r>
              <a:rPr lang="en-US" sz="1400" dirty="0">
                <a:solidFill>
                  <a:schemeClr val="tx1"/>
                </a:solidFill>
              </a:rPr>
              <a:t>disk-capacity.md (v3)</a:t>
            </a:r>
            <a:endParaRPr lang="en-US" sz="1400" dirty="0"/>
          </a:p>
          <a:p>
            <a:pPr indent="0" marL="0">
              <a:spcAft>
                <a:spcPts val="400"/>
              </a:spcAft>
              <a:buNone/>
            </a:pPr>
            <a:r>
              <a:rPr lang="en-US" sz="1400" b="1" dirty="0">
                <a:solidFill>
                  <a:srgbClr val="E8833A"/>
                </a:solidFill>
              </a:rPr>
              <a:t>Must not cite / say: </a:t>
            </a:r>
            <a:pPr indent="0" marL="0">
              <a:spcAft>
                <a:spcPts val="400"/>
              </a:spcAft>
              <a:buNone/>
            </a:pPr>
            <a:r>
              <a:rPr lang="en-US" sz="1400" dirty="0">
                <a:solidFill>
                  <a:schemeClr val="tx1"/>
                </a:solidFill>
              </a:rPr>
              <a:t>the 2025 file, "90%"</a:t>
            </a:r>
            <a:endParaRPr lang="en-US" sz="1400" dirty="0"/>
          </a:p>
        </p:txBody>
      </p:sp>
      <p:sp>
        <p:nvSpPr>
          <p:cNvPr id="25" name="Text 23"/>
          <p:cNvSpPr txBox="1"/>
          <p:nvPr/>
        </p:nvSpPr>
        <p:spPr>
          <a:xfrm>
            <a:off x="5989320" y="4206240"/>
            <a:ext cx="56235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87% sits between old and new thresholds, so the versions give opposite answers.</a:t>
            </a:r>
            <a:endParaRPr lang="en-US" sz="1500" dirty="0"/>
          </a:p>
          <a:p>
            <a:pPr marL="342900" indent="-342900">
              <a:spcAft>
                <a:spcPts val="600"/>
              </a:spcAft>
              <a:buSzPct val="100000"/>
              <a:buChar char="•"/>
            </a:pPr>
            <a:r>
              <a:rPr lang="en-US" sz="1500" dirty="0">
                <a:solidFill>
                  <a:schemeClr val="tx1"/>
                </a:solidFill>
              </a:rPr>
              <a:t>Stale values are banned as literal strings: no LLM judge needed.</a:t>
            </a:r>
            <a:endParaRPr lang="en-US" sz="1500" dirty="0"/>
          </a:p>
          <a:p>
            <a:pPr marL="342900" indent="-342900">
              <a:spcAft>
                <a:spcPts val="600"/>
              </a:spcAft>
              <a:buSzPct val="100000"/>
              <a:buChar char="•"/>
            </a:pPr>
            <a:r>
              <a:rPr lang="en-US" sz="1500" dirty="0">
                <a:solidFill>
                  <a:schemeClr val="tx1"/>
                </a:solidFill>
              </a:rPr>
              <a:t>Paraphrase check caught one copied question before the freeze.</a:t>
            </a:r>
            <a:endParaRPr lang="en-US" sz="1500" dirty="0"/>
          </a:p>
        </p:txBody>
      </p:sp>
      <p:sp>
        <p:nvSpPr>
          <p:cNvPr id="26" name="Text 24"/>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b1_check.py → all cites resolve, banned strings only in old files, exact values verbatim · negative test FAIL (4) as intended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7: the baseline proves the problem</a:t>
            </a:r>
            <a:endParaRPr lang="en-US" sz="3400" dirty="0"/>
          </a:p>
        </p:txBody>
      </p:sp>
      <p:sp>
        <p:nvSpPr>
          <p:cNvPr id="3" name="headline"/>
          <p:cNvSpPr/>
          <p:nvPr/>
        </p:nvSpPr>
        <p:spPr>
          <a:xfrm>
            <a:off x="548640" y="1417320"/>
            <a:ext cx="4206240" cy="4343400"/>
          </a:xfrm>
          <a:prstGeom prst="roundRect">
            <a:avLst>
              <a:gd name="adj" fmla="val 2609"/>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64592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Superseded chunks retrieved</a:t>
            </a:r>
            <a:endParaRPr lang="en-US" sz="1600" dirty="0"/>
          </a:p>
        </p:txBody>
      </p:sp>
      <p:sp>
        <p:nvSpPr>
          <p:cNvPr id="5" name="Text 3"/>
          <p:cNvSpPr txBox="1"/>
          <p:nvPr/>
        </p:nvSpPr>
        <p:spPr>
          <a:xfrm>
            <a:off x="822960" y="2103120"/>
            <a:ext cx="3657600" cy="1280160"/>
          </a:xfrm>
          <a:prstGeom prst="rect">
            <a:avLst/>
          </a:prstGeom>
          <a:noFill/>
          <a:ln/>
        </p:spPr>
        <p:txBody>
          <a:bodyPr wrap="square" lIns="0" tIns="0" rIns="0" bIns="0" rtlCol="0" anchor="ctr"/>
          <a:lstStyle/>
          <a:p>
            <a:pPr indent="0" marL="0">
              <a:buNone/>
            </a:pPr>
            <a:r>
              <a:rPr lang="en-US" sz="7200" b="1" dirty="0">
                <a:solidFill>
                  <a:schemeClr val="accent2"/>
                </a:solidFill>
                <a:latin typeface="Cambria" pitchFamily="34" charset="0"/>
                <a:ea typeface="Cambria" pitchFamily="34" charset="-122"/>
                <a:cs typeface="Cambria" pitchFamily="34" charset="-120"/>
              </a:rPr>
              <a:t>48.8%</a:t>
            </a:r>
            <a:endParaRPr lang="en-US" sz="7200" dirty="0"/>
          </a:p>
        </p:txBody>
      </p:sp>
      <p:sp>
        <p:nvSpPr>
          <p:cNvPr id="6" name="Text 4"/>
          <p:cNvSpPr txBox="1"/>
          <p:nvPr/>
        </p:nvSpPr>
        <p:spPr>
          <a:xfrm>
            <a:off x="822960" y="3520440"/>
            <a:ext cx="3657600" cy="822960"/>
          </a:xfrm>
          <a:prstGeom prst="rect">
            <a:avLst/>
          </a:prstGeom>
          <a:noFill/>
          <a:ln/>
        </p:spPr>
        <p:txBody>
          <a:bodyPr wrap="square" lIns="0" tIns="0" rIns="0" bIns="0" rtlCol="0" anchor="ctr"/>
          <a:lstStyle/>
          <a:p>
            <a:pPr indent="0" marL="0">
              <a:buNone/>
            </a:pPr>
            <a:r>
              <a:rPr lang="en-US" sz="1500" dirty="0">
                <a:solidFill>
                  <a:schemeClr val="tx1"/>
                </a:solidFill>
              </a:rPr>
              <a:t>41 of 84 retrieved chunks are outdated: half of what the LLM would read.</a:t>
            </a:r>
            <a:endParaRPr lang="en-US" sz="1500" dirty="0"/>
          </a:p>
        </p:txBody>
      </p:sp>
      <p:sp>
        <p:nvSpPr>
          <p:cNvPr id="7" name="Text 5"/>
          <p:cNvSpPr txBox="1"/>
          <p:nvPr/>
        </p:nvSpPr>
        <p:spPr>
          <a:xfrm>
            <a:off x="822960" y="5029200"/>
            <a:ext cx="3657600" cy="548640"/>
          </a:xfrm>
          <a:prstGeom prst="rect">
            <a:avLst/>
          </a:prstGeom>
          <a:noFill/>
          <a:ln/>
        </p:spPr>
        <p:txBody>
          <a:bodyPr wrap="square" lIns="0" tIns="0" rIns="0" bIns="0" rtlCol="0" anchor="ctr"/>
          <a:lstStyle/>
          <a:p>
            <a:pPr indent="0" marL="0">
              <a:buNone/>
            </a:pPr>
            <a:r>
              <a:rPr lang="en-US" sz="1200" dirty="0">
                <a:solidFill>
                  <a:schemeClr val="accent4"/>
                </a:solidFill>
              </a:rPr>
              <a:t>Filter OFF · unchanged retriever · k = 4 · 21 frozen cases</a:t>
            </a:r>
            <a:endParaRPr lang="en-US" sz="1200" dirty="0"/>
          </a:p>
        </p:txBody>
      </p:sp>
      <p:sp>
        <p:nvSpPr>
          <p:cNvPr id="8" name="stat superseded cases pass"/>
          <p:cNvSpPr/>
          <p:nvPr/>
        </p:nvSpPr>
        <p:spPr>
          <a:xfrm>
            <a:off x="5074920" y="141732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9" name="Text 7"/>
          <p:cNvSpPr txBox="1"/>
          <p:nvPr/>
        </p:nvSpPr>
        <p:spPr>
          <a:xfrm>
            <a:off x="5303520" y="1600200"/>
            <a:ext cx="2651760" cy="822960"/>
          </a:xfrm>
          <a:prstGeom prst="rect">
            <a:avLst/>
          </a:prstGeom>
          <a:noFill/>
          <a:ln/>
        </p:spPr>
        <p:txBody>
          <a:bodyPr wrap="square" lIns="0" tIns="0" rIns="0" bIns="0" rtlCol="0" anchor="ctr"/>
          <a:lstStyle/>
          <a:p>
            <a:pPr indent="0" marL="0">
              <a:buNone/>
            </a:pPr>
            <a:r>
              <a:rPr lang="en-US" sz="4000" b="1" dirty="0">
                <a:solidFill>
                  <a:srgbClr val="E8833A"/>
                </a:solidFill>
                <a:latin typeface="Cambria" pitchFamily="34" charset="0"/>
                <a:ea typeface="Cambria" pitchFamily="34" charset="-122"/>
                <a:cs typeface="Cambria" pitchFamily="34" charset="-120"/>
              </a:rPr>
              <a:t>0 / 9</a:t>
            </a:r>
            <a:endParaRPr lang="en-US" sz="4000" dirty="0"/>
          </a:p>
        </p:txBody>
      </p:sp>
      <p:sp>
        <p:nvSpPr>
          <p:cNvPr id="10" name="Text 8"/>
          <p:cNvSpPr txBox="1"/>
          <p:nvPr/>
        </p:nvSpPr>
        <p:spPr>
          <a:xfrm>
            <a:off x="5303520" y="246888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superseded cases pass</a:t>
            </a:r>
            <a:endParaRPr lang="en-US" sz="1500" dirty="0"/>
          </a:p>
        </p:txBody>
      </p:sp>
      <p:sp>
        <p:nvSpPr>
          <p:cNvPr id="11" name="Text 9"/>
          <p:cNvSpPr txBox="1"/>
          <p:nvPr/>
        </p:nvSpPr>
        <p:spPr>
          <a:xfrm>
            <a:off x="5303520" y="283464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old twin retrieved every time</a:t>
            </a:r>
            <a:endParaRPr lang="en-US" sz="1300" dirty="0"/>
          </a:p>
        </p:txBody>
      </p:sp>
      <p:sp>
        <p:nvSpPr>
          <p:cNvPr id="12" name="stat exact-string cases pass"/>
          <p:cNvSpPr/>
          <p:nvPr/>
        </p:nvSpPr>
        <p:spPr>
          <a:xfrm>
            <a:off x="8366760" y="141732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13" name="Text 11"/>
          <p:cNvSpPr txBox="1"/>
          <p:nvPr/>
        </p:nvSpPr>
        <p:spPr>
          <a:xfrm>
            <a:off x="8595360" y="1600200"/>
            <a:ext cx="2651760" cy="822960"/>
          </a:xfrm>
          <a:prstGeom prst="rect">
            <a:avLst/>
          </a:prstGeom>
          <a:noFill/>
          <a:ln/>
        </p:spPr>
        <p:txBody>
          <a:bodyPr wrap="square" lIns="0" tIns="0" rIns="0" bIns="0" rtlCol="0" anchor="ctr"/>
          <a:lstStyle/>
          <a:p>
            <a:pPr indent="0" marL="0">
              <a:buNone/>
            </a:pPr>
            <a:r>
              <a:rPr lang="en-US" sz="4000" b="1" dirty="0">
                <a:solidFill>
                  <a:srgbClr val="0F9D8A"/>
                </a:solidFill>
                <a:latin typeface="Cambria" pitchFamily="34" charset="0"/>
                <a:ea typeface="Cambria" pitchFamily="34" charset="-122"/>
                <a:cs typeface="Cambria" pitchFamily="34" charset="-120"/>
              </a:rPr>
              <a:t>7 / 7</a:t>
            </a:r>
            <a:endParaRPr lang="en-US" sz="4000" dirty="0"/>
          </a:p>
        </p:txBody>
      </p:sp>
      <p:sp>
        <p:nvSpPr>
          <p:cNvPr id="14" name="Text 12"/>
          <p:cNvSpPr txBox="1"/>
          <p:nvPr/>
        </p:nvSpPr>
        <p:spPr>
          <a:xfrm>
            <a:off x="8595360" y="246888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exact-string cases pass</a:t>
            </a:r>
            <a:endParaRPr lang="en-US" sz="1500" dirty="0"/>
          </a:p>
        </p:txBody>
      </p:sp>
      <p:sp>
        <p:nvSpPr>
          <p:cNvPr id="15" name="Text 13"/>
          <p:cNvSpPr txBox="1"/>
          <p:nvPr/>
        </p:nvSpPr>
        <p:spPr>
          <a:xfrm>
            <a:off x="8595360" y="283464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must stay 7/7 after the fix</a:t>
            </a:r>
            <a:endParaRPr lang="en-US" sz="1300" dirty="0"/>
          </a:p>
        </p:txBody>
      </p:sp>
      <p:sp>
        <p:nvSpPr>
          <p:cNvPr id="16" name="stat multi-hop cases pass"/>
          <p:cNvSpPr/>
          <p:nvPr/>
        </p:nvSpPr>
        <p:spPr>
          <a:xfrm>
            <a:off x="5074920" y="365760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17" name="Text 15"/>
          <p:cNvSpPr txBox="1"/>
          <p:nvPr/>
        </p:nvSpPr>
        <p:spPr>
          <a:xfrm>
            <a:off x="5303520" y="3840480"/>
            <a:ext cx="2651760" cy="822960"/>
          </a:xfrm>
          <a:prstGeom prst="rect">
            <a:avLst/>
          </a:prstGeom>
          <a:noFill/>
          <a:ln/>
        </p:spPr>
        <p:txBody>
          <a:bodyPr wrap="square" lIns="0" tIns="0" rIns="0" bIns="0" rtlCol="0" anchor="ctr"/>
          <a:lstStyle/>
          <a:p>
            <a:pPr indent="0" marL="0">
              <a:buNone/>
            </a:pPr>
            <a:r>
              <a:rPr lang="en-US" sz="4000" b="1" dirty="0">
                <a:solidFill>
                  <a:srgbClr val="E8833A"/>
                </a:solidFill>
                <a:latin typeface="Cambria" pitchFamily="34" charset="0"/>
                <a:ea typeface="Cambria" pitchFamily="34" charset="-122"/>
                <a:cs typeface="Cambria" pitchFamily="34" charset="-120"/>
              </a:rPr>
              <a:t>0 / 3</a:t>
            </a:r>
            <a:endParaRPr lang="en-US" sz="4000" dirty="0"/>
          </a:p>
        </p:txBody>
      </p:sp>
      <p:sp>
        <p:nvSpPr>
          <p:cNvPr id="18" name="Text 16"/>
          <p:cNvSpPr txBox="1"/>
          <p:nvPr/>
        </p:nvSpPr>
        <p:spPr>
          <a:xfrm>
            <a:off x="5303520" y="470916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multi-hop cases pass</a:t>
            </a:r>
            <a:endParaRPr lang="en-US" sz="1500" dirty="0"/>
          </a:p>
        </p:txBody>
      </p:sp>
      <p:sp>
        <p:nvSpPr>
          <p:cNvPr id="19" name="Text 17"/>
          <p:cNvSpPr txBox="1"/>
          <p:nvPr/>
        </p:nvSpPr>
        <p:spPr>
          <a:xfrm>
            <a:off x="5303520" y="507492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old twins crowd out the 2nd doc</a:t>
            </a:r>
            <a:endParaRPr lang="en-US" sz="1300" dirty="0"/>
          </a:p>
        </p:txBody>
      </p:sp>
      <p:sp>
        <p:nvSpPr>
          <p:cNvPr id="20" name="stat median retrieval"/>
          <p:cNvSpPr/>
          <p:nvPr/>
        </p:nvSpPr>
        <p:spPr>
          <a:xfrm>
            <a:off x="8366760" y="365760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21" name="Text 19"/>
          <p:cNvSpPr txBox="1"/>
          <p:nvPr/>
        </p:nvSpPr>
        <p:spPr>
          <a:xfrm>
            <a:off x="8595360" y="3840480"/>
            <a:ext cx="2651760" cy="822960"/>
          </a:xfrm>
          <a:prstGeom prst="rect">
            <a:avLst/>
          </a:prstGeom>
          <a:noFill/>
          <a:ln/>
        </p:spPr>
        <p:txBody>
          <a:bodyPr wrap="square" lIns="0" tIns="0" rIns="0" bIns="0" rtlCol="0" anchor="ctr"/>
          <a:lstStyle/>
          <a:p>
            <a:pPr indent="0" marL="0">
              <a:buNone/>
            </a:pPr>
            <a:r>
              <a:rPr lang="en-US" sz="4000" b="1" dirty="0">
                <a:solidFill>
                  <a:srgbClr val="1F2A37"/>
                </a:solidFill>
                <a:latin typeface="Cambria" pitchFamily="34" charset="0"/>
                <a:ea typeface="Cambria" pitchFamily="34" charset="-122"/>
                <a:cs typeface="Cambria" pitchFamily="34" charset="-120"/>
              </a:rPr>
              <a:t>144 ms</a:t>
            </a:r>
            <a:endParaRPr lang="en-US" sz="4000" dirty="0"/>
          </a:p>
        </p:txBody>
      </p:sp>
      <p:sp>
        <p:nvSpPr>
          <p:cNvPr id="22" name="Text 20"/>
          <p:cNvSpPr txBox="1"/>
          <p:nvPr/>
        </p:nvSpPr>
        <p:spPr>
          <a:xfrm>
            <a:off x="8595360" y="470916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median retrieval</a:t>
            </a:r>
            <a:endParaRPr lang="en-US" sz="1500" dirty="0"/>
          </a:p>
        </p:txBody>
      </p:sp>
      <p:sp>
        <p:nvSpPr>
          <p:cNvPr id="23" name="Text 21"/>
          <p:cNvSpPr txBox="1"/>
          <p:nvPr/>
        </p:nvSpPr>
        <p:spPr>
          <a:xfrm>
            <a:off x="8595360" y="507492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embed query + Chroma search</a:t>
            </a:r>
            <a:endParaRPr lang="en-US" sz="1300" dirty="0"/>
          </a:p>
        </p:txBody>
      </p:sp>
      <p:sp>
        <p:nvSpPr>
          <p:cNvPr id="24" name="Text 22"/>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 b1_eval.py --off → results/baseline_filter_off.json · commit 8c97952 · re-run gives identical cases and numbers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8: every chunk in Chroma now knows its version</a:t>
            </a:r>
            <a:endParaRPr lang="en-US" sz="3400" dirty="0"/>
          </a:p>
        </p:txBody>
      </p:sp>
      <p:sp>
        <p:nvSpPr>
          <p:cNvPr id="3" name="chroma rows"/>
          <p:cNvSpPr/>
          <p:nvPr/>
        </p:nvSpPr>
        <p:spPr>
          <a:xfrm>
            <a:off x="548640" y="1417320"/>
            <a:ext cx="5212080" cy="4343400"/>
          </a:xfrm>
          <a:prstGeom prst="roundRect">
            <a:avLst>
              <a:gd name="adj" fmla="val 2526"/>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777240" y="1554480"/>
            <a:ext cx="4754880" cy="365760"/>
          </a:xfrm>
          <a:prstGeom prst="rect">
            <a:avLst/>
          </a:prstGeom>
          <a:noFill/>
          <a:ln/>
        </p:spPr>
        <p:txBody>
          <a:bodyPr wrap="square" lIns="0" tIns="0" rIns="0" bIns="0" rtlCol="0" anchor="ctr"/>
          <a:lstStyle/>
          <a:p>
            <a:pPr indent="0" marL="0">
              <a:buNone/>
            </a:pPr>
            <a:r>
              <a:rPr lang="en-US" sz="1500" b="1" dirty="0">
                <a:solidFill>
                  <a:schemeClr val="tx1"/>
                </a:solidFill>
              </a:rPr>
              <a:t>Inside Chroma (b1_check.py --chroma)</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2011680"/>
          <a:ext cx="4754880" cy="914400"/>
        </p:xfrm>
        <a:graphic>
          <a:graphicData uri="http://schemas.openxmlformats.org/drawingml/2006/table">
            <a:tbl>
              <a:tblPr/>
              <a:tblGrid>
                <a:gridCol w="2240280"/>
                <a:gridCol w="502920"/>
                <a:gridCol w="1051560"/>
                <a:gridCol w="960120"/>
              </a:tblGrid>
              <a:tr h="329184">
                <a:tc>
                  <a:txBody>
                    <a:bodyPr/>
                    <a:lstStyle/>
                    <a:p>
                      <a:pPr indent="0" marL="0">
                        <a:buNone/>
                      </a:pPr>
                      <a:r>
                        <a:rPr lang="en-US" sz="1300" b="1" dirty="0">
                          <a:solidFill>
                            <a:srgbClr val="FFFFFF"/>
                          </a:solidFill>
                        </a:rPr>
                        <a:t>chunk</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ver</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effective</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superseded</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disk-capacity#0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3</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2026-05-01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b="1" dirty="0">
                          <a:solidFill>
                            <a:srgbClr val="0B6E61"/>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disk-capacity-2025#0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2025-02-01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b="1" dirty="0">
                          <a:solidFill>
                            <a:srgbClr val="E8833A"/>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schema-registry#0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2026-03-20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b="1" dirty="0">
                          <a:solidFill>
                            <a:srgbClr val="0B6E61"/>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schema-registry-2024#0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2024-07-15</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b="1" dirty="0">
                          <a:solidFill>
                            <a:srgbClr val="E8833A"/>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 13 more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3"/>
          <p:cNvSpPr txBox="1"/>
          <p:nvPr/>
        </p:nvSpPr>
        <p:spPr>
          <a:xfrm>
            <a:off x="777240" y="4160520"/>
            <a:ext cx="4754880" cy="1463040"/>
          </a:xfrm>
          <a:prstGeom prst="rect">
            <a:avLst/>
          </a:prstGeom>
          <a:noFill/>
          <a:ln/>
        </p:spPr>
        <p:txBody>
          <a:bodyPr wrap="square" lIns="0" tIns="0" rIns="0" bIns="0" rtlCol="0" anchor="t"/>
          <a:lstStyle/>
          <a:p>
            <a:pPr indent="0" marL="0">
              <a:spcAft>
                <a:spcPts val="400"/>
              </a:spcAft>
              <a:buNone/>
            </a:pPr>
            <a:r>
              <a:rPr lang="en-US" sz="1400" b="1" dirty="0">
                <a:solidFill>
                  <a:srgbClr val="0F9D8A"/>
                </a:solidFill>
              </a:rPr>
              <a:t>17 / 17 </a:t>
            </a:r>
            <a:pPr indent="0" marL="0">
              <a:spcAft>
                <a:spcPts val="400"/>
              </a:spcAft>
              <a:buNone/>
            </a:pPr>
            <a:r>
              <a:rPr lang="en-US" sz="1400" dirty="0">
                <a:solidFill>
                  <a:schemeClr val="tx1"/>
                </a:solidFill>
              </a:rPr>
              <a:t>chunks carry all 4 fields, values = manifest</a:t>
            </a:r>
            <a:endParaRPr lang="en-US" sz="1400" dirty="0"/>
          </a:p>
          <a:p>
            <a:pPr indent="0" marL="0">
              <a:spcAft>
                <a:spcPts val="400"/>
              </a:spcAft>
              <a:buNone/>
            </a:pPr>
            <a:r>
              <a:rPr lang="en-US" sz="1400" b="1" dirty="0">
                <a:solidFill>
                  <a:srgbClr val="0F9D8A"/>
                </a:solidFill>
              </a:rPr>
              <a:t>9 / 8 </a:t>
            </a:r>
            <a:pPr indent="0" marL="0">
              <a:spcAft>
                <a:spcPts val="400"/>
              </a:spcAft>
              <a:buNone/>
            </a:pPr>
            <a:r>
              <a:rPr lang="en-US" sz="1400" dirty="0">
                <a:solidFill>
                  <a:schemeClr val="tx1"/>
                </a:solidFill>
              </a:rPr>
              <a:t>chunks from 8 current / 8 old files via where=…</a:t>
            </a:r>
            <a:endParaRPr lang="en-US" sz="1400" dirty="0"/>
          </a:p>
          <a:p>
            <a:pPr indent="0" marL="0">
              <a:spcAft>
                <a:spcPts val="400"/>
              </a:spcAft>
              <a:buNone/>
            </a:pPr>
            <a:r>
              <a:rPr lang="en-US" sz="1400" b="1" dirty="0">
                <a:solidFill>
                  <a:srgbClr val="E8833A"/>
                </a:solidFill>
              </a:rPr>
              <a:t>48.8% </a:t>
            </a:r>
            <a:pPr indent="0" marL="0">
              <a:spcAft>
                <a:spcPts val="400"/>
              </a:spcAft>
              <a:buNone/>
            </a:pPr>
            <a:r>
              <a:rPr lang="en-US" sz="1400" dirty="0">
                <a:solidFill>
                  <a:schemeClr val="tx1"/>
                </a:solidFill>
              </a:rPr>
              <a:t>OFF run unchanged: metadata alone changes nothing</a:t>
            </a:r>
            <a:endParaRPr lang="en-US" sz="1400" dirty="0"/>
          </a:p>
        </p:txBody>
      </p:sp>
      <p:sp>
        <p:nvSpPr>
          <p:cNvPr id="7" name="filter demo"/>
          <p:cNvSpPr/>
          <p:nvPr/>
        </p:nvSpPr>
        <p:spPr>
          <a:xfrm>
            <a:off x="5989320" y="1417320"/>
            <a:ext cx="5623560" cy="4343400"/>
          </a:xfrm>
          <a:prstGeom prst="roundRect">
            <a:avLst>
              <a:gd name="adj" fmla="val 2526"/>
            </a:avLst>
          </a:prstGeom>
          <a:solidFill>
            <a:srgbClr val="1F2A37"/>
          </a:solidFill>
          <a:ln/>
          <a:effectLst>
            <a:outerShdw sx="100000" sy="100000" kx="0" ky="0" algn="bl" rotWithShape="0" blurRad="76200" dist="25400" dir="5400000">
              <a:srgbClr val="000000">
                <a:alpha val="12000"/>
              </a:srgbClr>
            </a:outerShdw>
          </a:effectLst>
        </p:spPr>
      </p:sp>
      <p:sp>
        <p:nvSpPr>
          <p:cNvPr id="8" name="Text 5"/>
          <p:cNvSpPr txBox="1"/>
          <p:nvPr/>
        </p:nvSpPr>
        <p:spPr>
          <a:xfrm>
            <a:off x="6217920" y="1554480"/>
            <a:ext cx="5212080" cy="365760"/>
          </a:xfrm>
          <a:prstGeom prst="rect">
            <a:avLst/>
          </a:prstGeom>
          <a:noFill/>
          <a:ln/>
        </p:spPr>
        <p:txBody>
          <a:bodyPr wrap="square" lIns="0" tIns="0" rIns="0" bIns="0" rtlCol="0" anchor="ctr"/>
          <a:lstStyle/>
          <a:p>
            <a:pPr indent="0" marL="0">
              <a:buNone/>
            </a:pPr>
            <a:r>
              <a:rPr lang="en-US" sz="1400" b="1" dirty="0">
                <a:solidFill>
                  <a:srgbClr val="FFFFFF"/>
                </a:solidFill>
              </a:rPr>
              <a:t>b1_inspect_chroma.py: "Broker 4 … hit 87% …"</a:t>
            </a:r>
            <a:endParaRPr lang="en-US" sz="1400" dirty="0"/>
          </a:p>
        </p:txBody>
      </p:sp>
      <p:sp>
        <p:nvSpPr>
          <p:cNvPr id="9" name="Text 6"/>
          <p:cNvSpPr txBox="1"/>
          <p:nvPr/>
        </p:nvSpPr>
        <p:spPr>
          <a:xfrm>
            <a:off x="6217920" y="2011680"/>
            <a:ext cx="5212080" cy="320040"/>
          </a:xfrm>
          <a:prstGeom prst="rect">
            <a:avLst/>
          </a:prstGeom>
          <a:noFill/>
          <a:ln/>
        </p:spPr>
        <p:txBody>
          <a:bodyPr wrap="square" lIns="0" tIns="0" rIns="0" bIns="0" rtlCol="0" anchor="ctr"/>
          <a:lstStyle/>
          <a:p>
            <a:pPr indent="0" marL="0">
              <a:buNone/>
            </a:pPr>
            <a:r>
              <a:rPr lang="en-US" sz="1300" b="1" dirty="0">
                <a:solidFill>
                  <a:srgbClr val="8FD8CC"/>
                </a:solidFill>
              </a:rPr>
              <a:t>Filter OFF (plain top-4)</a:t>
            </a:r>
            <a:endParaRPr lang="en-US" sz="1300" dirty="0"/>
          </a:p>
        </p:txBody>
      </p:sp>
      <p:sp>
        <p:nvSpPr>
          <p:cNvPr id="10" name="Text 7"/>
          <p:cNvSpPr txBox="1"/>
          <p:nvPr/>
        </p:nvSpPr>
        <p:spPr>
          <a:xfrm>
            <a:off x="6217920" y="2359152"/>
            <a:ext cx="5212080" cy="132588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#1  disk-capacity.md</a:t>
            </a:r>
            <a:endParaRPr lang="en-US" sz="1300" dirty="0"/>
          </a:p>
          <a:p>
            <a:pPr indent="0" marL="0">
              <a:buNone/>
            </a:pPr>
            <a:r>
              <a:rPr lang="en-US" sz="1300" b="1" dirty="0">
                <a:solidFill>
                  <a:srgbClr val="F7B98A"/>
                </a:solidFill>
                <a:latin typeface="Courier New" pitchFamily="34" charset="0"/>
                <a:ea typeface="Courier New" pitchFamily="34" charset="-122"/>
                <a:cs typeface="Courier New" pitchFamily="34" charset="-120"/>
              </a:rPr>
              <a:t>#2  disk-capacity-2025.md   SUPERSEDED</a:t>
            </a:r>
            <a:endParaRPr lang="en-US" sz="1300" dirty="0"/>
          </a:p>
          <a:p>
            <a:pPr indent="0" marL="0">
              <a:buNone/>
            </a:pPr>
            <a:r>
              <a:rPr lang="en-US" sz="1300" b="1" dirty="0">
                <a:solidFill>
                  <a:srgbClr val="F7B98A"/>
                </a:solidFill>
                <a:latin typeface="Courier New" pitchFamily="34" charset="0"/>
                <a:ea typeface="Courier New" pitchFamily="34" charset="-122"/>
                <a:cs typeface="Courier New" pitchFamily="34" charset="-120"/>
              </a:rPr>
              <a:t>#3  broker-rolling-restart-2025.md   SUPERSEDED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#4  broker-rolling-restart.md</a:t>
            </a:r>
            <a:endParaRPr lang="en-US" sz="1300" dirty="0"/>
          </a:p>
        </p:txBody>
      </p:sp>
      <p:sp>
        <p:nvSpPr>
          <p:cNvPr id="11" name="Text 8"/>
          <p:cNvSpPr txBox="1"/>
          <p:nvPr/>
        </p:nvSpPr>
        <p:spPr>
          <a:xfrm>
            <a:off x="6217920" y="3840480"/>
            <a:ext cx="5212080" cy="320040"/>
          </a:xfrm>
          <a:prstGeom prst="rect">
            <a:avLst/>
          </a:prstGeom>
          <a:noFill/>
          <a:ln/>
        </p:spPr>
        <p:txBody>
          <a:bodyPr wrap="square" lIns="0" tIns="0" rIns="0" bIns="0" rtlCol="0" anchor="ctr"/>
          <a:lstStyle/>
          <a:p>
            <a:pPr indent="0" marL="0">
              <a:buNone/>
            </a:pPr>
            <a:r>
              <a:rPr lang="en-US" sz="1300" b="1" dirty="0">
                <a:solidFill>
                  <a:srgbClr val="8FD8CC"/>
                </a:solidFill>
              </a:rPr>
              <a:t>Filter ON  where={"superseded": False}</a:t>
            </a:r>
            <a:endParaRPr lang="en-US" sz="1300" dirty="0"/>
          </a:p>
        </p:txBody>
      </p:sp>
      <p:sp>
        <p:nvSpPr>
          <p:cNvPr id="12" name="Text 9"/>
          <p:cNvSpPr txBox="1"/>
          <p:nvPr/>
        </p:nvSpPr>
        <p:spPr>
          <a:xfrm>
            <a:off x="6217920" y="4187952"/>
            <a:ext cx="5212080" cy="132588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#1  disk-capacity.md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#2  broker-rolling-restart.md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#3  topic-retention.md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#4  consumer-lag-alerting.md</a:t>
            </a:r>
            <a:endParaRPr lang="en-US" sz="1300" dirty="0"/>
          </a:p>
        </p:txBody>
      </p:sp>
      <p:sp>
        <p:nvSpPr>
          <p:cNvPr id="13" name="Text 10"/>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 b1_check.py --no-trap --chroma → PASS · on the pre-Step-8 collection → FAIL (18) · commit 65ee770</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Steps 9–10: one where-clause, behind a switch</a:t>
            </a:r>
            <a:endParaRPr lang="en-US" sz="3400" dirty="0"/>
          </a:p>
        </p:txBody>
      </p:sp>
      <p:sp>
        <p:nvSpPr>
          <p:cNvPr id="3" name="retrieve code"/>
          <p:cNvSpPr/>
          <p:nvPr/>
        </p:nvSpPr>
        <p:spPr>
          <a:xfrm>
            <a:off x="548640" y="1417320"/>
            <a:ext cx="5760720" cy="4343400"/>
          </a:xfrm>
          <a:prstGeom prst="roundRect">
            <a:avLst>
              <a:gd name="adj" fmla="val 2526"/>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00200"/>
            <a:ext cx="5303520" cy="39776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def retrieve(query, k=4, version_aware=False):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if version_aware:      # 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res = collection().query(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query_embeddings=[qv], n_results=k,</a:t>
            </a:r>
            <a:endParaRPr lang="en-US" sz="1400" dirty="0"/>
          </a:p>
          <a:p>
            <a:pPr indent="0" marL="0">
              <a:buNone/>
            </a:pPr>
            <a:r>
              <a:rPr lang="en-US" sz="1400" b="1" dirty="0">
                <a:solidFill>
                  <a:srgbClr val="F7B98A"/>
                </a:solidFill>
                <a:latin typeface="Courier New" pitchFamily="34" charset="0"/>
                <a:ea typeface="Courier New" pitchFamily="34" charset="-122"/>
                <a:cs typeface="Courier New" pitchFamily="34" charset="-120"/>
              </a:rPr>
              <a:t>            where={"superseded": False},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include=[...])</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else:                  # OFF: original 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res = collection().query(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query_embeddings=[qv], n_results=k,</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include=[...])</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37960" y="1417320"/>
          <a:ext cx="5074920" cy="914400"/>
        </p:xfrm>
        <a:graphic>
          <a:graphicData uri="http://schemas.openxmlformats.org/drawingml/2006/table">
            <a:tbl>
              <a:tblPr/>
              <a:tblGrid>
                <a:gridCol w="2240280"/>
                <a:gridCol w="1280160"/>
                <a:gridCol w="1554480"/>
              </a:tblGrid>
              <a:tr h="384048">
                <a:tc>
                  <a:txBody>
                    <a:bodyPr/>
                    <a:lstStyle/>
                    <a:p>
                      <a:pPr indent="0" marL="0">
                        <a:buNone/>
                      </a:pPr>
                      <a:r>
                        <a:rPr lang="en-US" sz="1300" b="1" dirty="0">
                          <a:solidFill>
                            <a:srgbClr val="FFFFFF"/>
                          </a:solidFill>
                        </a:rPr>
                        <a:t>Metric</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OFF</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ON (preview)</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r>
              <a:tr h="384048">
                <a:tc>
                  <a:txBody>
                    <a:bodyPr/>
                    <a:lstStyle/>
                    <a:p>
                      <a:pPr indent="0" marL="0">
                        <a:buNone/>
                      </a:pPr>
                      <a:r>
                        <a:rPr lang="en-US" sz="1400" dirty="0">
                          <a:solidFill>
                            <a:srgbClr val="1F2A37"/>
                          </a:solidFill>
                        </a:rPr>
                        <a:t>Superseded chunks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E8833A"/>
                          </a:solidFill>
                        </a:rPr>
                        <a:t>48.8%</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0.0%</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Superseded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E8833A"/>
                          </a:solidFill>
                        </a:rPr>
                        <a:t>0 / 9</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9 / 9</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Exact-string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7 / 7</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7 / 7</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Multi-hop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0 / 3</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3 / 3</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Median latency</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143.8 ms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146.9 ms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bl>
          </a:graphicData>
        </a:graphic>
      </p:graphicFrame>
      <p:sp>
        <p:nvSpPr>
          <p:cNvPr id="6" name="honest note"/>
          <p:cNvSpPr/>
          <p:nvPr/>
        </p:nvSpPr>
        <p:spPr>
          <a:xfrm>
            <a:off x="6537960" y="3931920"/>
            <a:ext cx="5074920" cy="1828800"/>
          </a:xfrm>
          <a:prstGeom prst="roundRect">
            <a:avLst>
              <a:gd name="adj" fmla="val 6000"/>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720840" y="4023360"/>
            <a:ext cx="4709160" cy="1645920"/>
          </a:xfrm>
          <a:prstGeom prst="rect">
            <a:avLst/>
          </a:prstGeom>
          <a:noFill/>
          <a:ln/>
        </p:spPr>
        <p:txBody>
          <a:bodyPr wrap="square" lIns="0" tIns="0" rIns="0" bIns="0" rtlCol="0" anchor="ctr"/>
          <a:lstStyle/>
          <a:p>
            <a:pPr indent="0" marL="0">
              <a:buNone/>
            </a:pPr>
            <a:r>
              <a:rPr lang="en-US" sz="1400" b="1" dirty="0">
                <a:solidFill>
                  <a:srgbClr val="E8833A"/>
                </a:solidFill>
              </a:rPr>
              <a:t>Live LLM test ("87% disk?"): </a:t>
            </a:r>
            <a:pPr indent="0" marL="0">
              <a:buNone/>
            </a:pPr>
            <a:r>
              <a:rPr lang="en-US" sz="1400" dirty="0">
                <a:solidFill>
                  <a:schemeClr val="tx1"/>
                </a:solidFill>
              </a:rPr>
              <a:t>correct in both modes, but with the filter OFF the stale 90% runbook was #2 in the context. A right answer on stale context is luck; B1 removes the luck.</a:t>
            </a:r>
            <a:endParaRPr lang="en-US" sz="1400" dirty="0"/>
          </a:p>
        </p:txBody>
      </p:sp>
      <p:sp>
        <p:nvSpPr>
          <p:cNvPr id="8" name="Text 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Tests: OFF identical to the Step 7 baseline (21 cases, same files) · ON preview 0/84 · commit 3e269fd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step has a test, and every test is tested</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822960"/>
                <a:gridCol w="1463040"/>
                <a:gridCol w="4937760"/>
                <a:gridCol w="1280160"/>
                <a:gridCol w="2560320"/>
              </a:tblGrid>
              <a:tr h="411480">
                <a:tc>
                  <a:txBody>
                    <a:bodyPr/>
                    <a:lstStyle/>
                    <a:p>
                      <a:pPr indent="0" marL="0">
                        <a:buNone/>
                      </a:pPr>
                      <a:r>
                        <a:rPr lang="en-US" sz="1300" b="1" dirty="0">
                          <a:solidFill>
                            <a:srgbClr val="FFFFFF"/>
                          </a:solidFill>
                        </a:rPr>
                        <a:t>Step</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Checks</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What is verified</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Real data</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Negative test</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r>
              <a:tr h="411480">
                <a:tc>
                  <a:txBody>
                    <a:bodyPr/>
                    <a:lstStyle/>
                    <a:p>
                      <a:pPr indent="0" marL="0">
                        <a:buNone/>
                      </a:pPr>
                      <a:r>
                        <a:rPr lang="en-US" sz="1300" dirty="0">
                          <a:solidFill>
                            <a:srgbClr val="1F2A37"/>
                          </a:solidFill>
                        </a:rPr>
                        <a:t>3</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Corpus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16 files, 8 pairs, no banners; similarity trap measured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4</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Manifest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4 typed fields, 1 current per doc, 64 conflicts in their files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E8833A"/>
                          </a:solidFill>
                        </a:rPr>
                        <a:t>FAIL (5) on 3 injected errors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5</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Golden set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cites resolve, banned strings old-only, values verbatim, paraphrased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E8833A"/>
                          </a:solidFill>
                        </a:rPr>
                        <a:t>FAIL (4) on 2 injected errors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7</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BEFORE run</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48.8% superseded; rerun identical; --on refuses until built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DONE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8</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Chroma</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17/17 chunks tagged; where-filter splits 8/8 files; OFF unchanged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E8833A"/>
                          </a:solidFill>
                        </a:rPr>
                        <a:t>FAIL (18) before re-ingest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9–10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Filter</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OFF identical to baseline; ON preview 0.0%, exact 7/7</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11–12</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AFTER + report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0.0% · 9/9 · 7/7 · 3/3; fair latency +0.9 ms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bl>
          </a:graphicData>
        </a:graphic>
      </p:graphicFrame>
      <p:sp>
        <p:nvSpPr>
          <p:cNvPr id="4" name="negative test idea"/>
          <p:cNvSpPr/>
          <p:nvPr/>
        </p:nvSpPr>
        <p:spPr>
          <a:xfrm>
            <a:off x="548640" y="5074920"/>
            <a:ext cx="11064240" cy="868680"/>
          </a:xfrm>
          <a:prstGeom prst="roundRect">
            <a:avLst>
              <a:gd name="adj" fmla="val 1263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22960" y="5093208"/>
            <a:ext cx="10515600" cy="822960"/>
          </a:xfrm>
          <a:prstGeom prst="rect">
            <a:avLst/>
          </a:prstGeom>
          <a:noFill/>
          <a:ln/>
        </p:spPr>
        <p:txBody>
          <a:bodyPr wrap="square" lIns="0" tIns="0" rIns="0" bIns="0" rtlCol="0" anchor="ctr"/>
          <a:lstStyle/>
          <a:p>
            <a:pPr indent="0" marL="0">
              <a:buNone/>
            </a:pPr>
            <a:r>
              <a:rPr lang="en-US" sz="1400" b="1" dirty="0">
                <a:solidFill>
                  <a:srgbClr val="0B6E61"/>
                </a:solidFill>
              </a:rPr>
              <a:t>Negative test: </a:t>
            </a:r>
            <a:pPr indent="0" marL="0">
              <a:buNone/>
            </a:pPr>
            <a:r>
              <a:rPr lang="en-US" sz="1400" dirty="0">
                <a:solidFill>
                  <a:schemeClr val="tx1"/>
                </a:solidFill>
              </a:rPr>
              <a:t>break the data on purpose (mark an old file current, ban the right answer), run the checks, confirm they FAIL, then restore. A check that never fails proves nothing.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Steps 11–12: the result</a:t>
            </a:r>
            <a:endParaRPr lang="en-US" sz="3400" dirty="0"/>
          </a:p>
        </p:txBody>
      </p:sp>
      <p:sp>
        <p:nvSpPr>
          <p:cNvPr id="3" name="next 7"/>
          <p:cNvSpPr/>
          <p:nvPr/>
        </p:nvSpPr>
        <p:spPr>
          <a:xfrm>
            <a:off x="1207008" y="1554480"/>
            <a:ext cx="777240" cy="777240"/>
          </a:xfrm>
          <a:prstGeom prst="ellipse">
            <a:avLst/>
          </a:prstGeom>
          <a:solidFill>
            <a:srgbClr val="0F9D8A"/>
          </a:solidFill>
          <a:ln/>
        </p:spPr>
      </p:sp>
      <p:sp>
        <p:nvSpPr>
          <p:cNvPr id="4" name="Text 2"/>
          <p:cNvSpPr txBox="1"/>
          <p:nvPr/>
        </p:nvSpPr>
        <p:spPr>
          <a:xfrm>
            <a:off x="1207008"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5" name="Text 3"/>
          <p:cNvSpPr txBox="1"/>
          <p:nvPr/>
        </p:nvSpPr>
        <p:spPr>
          <a:xfrm>
            <a:off x="548640"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BEFORE ✓</a:t>
            </a:r>
            <a:endParaRPr lang="en-US" sz="1800" dirty="0"/>
          </a:p>
        </p:txBody>
      </p:sp>
      <p:sp>
        <p:nvSpPr>
          <p:cNvPr id="6" name="Text 4"/>
          <p:cNvSpPr txBox="1"/>
          <p:nvPr/>
        </p:nvSpPr>
        <p:spPr>
          <a:xfrm>
            <a:off x="548640"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48.8% superseded</a:t>
            </a:r>
            <a:endParaRPr lang="en-US" sz="1300" dirty="0"/>
          </a:p>
        </p:txBody>
      </p:sp>
      <p:sp>
        <p:nvSpPr>
          <p:cNvPr id="7" name="next arrow 0"/>
          <p:cNvSpPr/>
          <p:nvPr/>
        </p:nvSpPr>
        <p:spPr>
          <a:xfrm>
            <a:off x="2075688" y="1943100"/>
            <a:ext cx="1325880" cy="0"/>
          </a:xfrm>
          <a:prstGeom prst="line">
            <a:avLst/>
          </a:prstGeom>
          <a:noFill/>
          <a:ln w="22225">
            <a:solidFill>
              <a:srgbClr val="64748B"/>
            </a:solidFill>
            <a:prstDash val="solid"/>
            <a:tailEnd type="triangle"/>
          </a:ln>
        </p:spPr>
      </p:sp>
      <p:sp>
        <p:nvSpPr>
          <p:cNvPr id="8" name="next 8"/>
          <p:cNvSpPr/>
          <p:nvPr/>
        </p:nvSpPr>
        <p:spPr>
          <a:xfrm>
            <a:off x="3474720" y="1554480"/>
            <a:ext cx="777240" cy="777240"/>
          </a:xfrm>
          <a:prstGeom prst="ellipse">
            <a:avLst/>
          </a:prstGeom>
          <a:solidFill>
            <a:srgbClr val="0F9D8A"/>
          </a:solidFill>
          <a:ln/>
        </p:spPr>
      </p:sp>
      <p:sp>
        <p:nvSpPr>
          <p:cNvPr id="9" name="Text 7"/>
          <p:cNvSpPr txBox="1"/>
          <p:nvPr/>
        </p:nvSpPr>
        <p:spPr>
          <a:xfrm>
            <a:off x="3474720"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10" name="Text 8"/>
          <p:cNvSpPr txBox="1"/>
          <p:nvPr/>
        </p:nvSpPr>
        <p:spPr>
          <a:xfrm>
            <a:off x="2816352"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Metadata ✓</a:t>
            </a:r>
            <a:endParaRPr lang="en-US" sz="1800" dirty="0"/>
          </a:p>
        </p:txBody>
      </p:sp>
      <p:sp>
        <p:nvSpPr>
          <p:cNvPr id="11" name="Text 9"/>
          <p:cNvSpPr txBox="1"/>
          <p:nvPr/>
        </p:nvSpPr>
        <p:spPr>
          <a:xfrm>
            <a:off x="2816352"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17/17 chunks tagged</a:t>
            </a:r>
            <a:endParaRPr lang="en-US" sz="1300" dirty="0"/>
          </a:p>
        </p:txBody>
      </p:sp>
      <p:sp>
        <p:nvSpPr>
          <p:cNvPr id="12" name="next arrow 1"/>
          <p:cNvSpPr/>
          <p:nvPr/>
        </p:nvSpPr>
        <p:spPr>
          <a:xfrm>
            <a:off x="4343400" y="1943100"/>
            <a:ext cx="1325880" cy="0"/>
          </a:xfrm>
          <a:prstGeom prst="line">
            <a:avLst/>
          </a:prstGeom>
          <a:noFill/>
          <a:ln w="22225">
            <a:solidFill>
              <a:srgbClr val="64748B"/>
            </a:solidFill>
            <a:prstDash val="solid"/>
            <a:tailEnd type="triangle"/>
          </a:ln>
        </p:spPr>
      </p:sp>
      <p:sp>
        <p:nvSpPr>
          <p:cNvPr id="13" name="next 9–10"/>
          <p:cNvSpPr/>
          <p:nvPr/>
        </p:nvSpPr>
        <p:spPr>
          <a:xfrm>
            <a:off x="5742432" y="1554480"/>
            <a:ext cx="777240" cy="777240"/>
          </a:xfrm>
          <a:prstGeom prst="ellipse">
            <a:avLst/>
          </a:prstGeom>
          <a:solidFill>
            <a:srgbClr val="0F9D8A"/>
          </a:solidFill>
          <a:ln/>
        </p:spPr>
      </p:sp>
      <p:sp>
        <p:nvSpPr>
          <p:cNvPr id="14" name="Text 12"/>
          <p:cNvSpPr txBox="1"/>
          <p:nvPr/>
        </p:nvSpPr>
        <p:spPr>
          <a:xfrm>
            <a:off x="5742432"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9–10</a:t>
            </a:r>
            <a:endParaRPr lang="en-US" sz="1800" dirty="0"/>
          </a:p>
        </p:txBody>
      </p:sp>
      <p:sp>
        <p:nvSpPr>
          <p:cNvPr id="15" name="Text 13"/>
          <p:cNvSpPr txBox="1"/>
          <p:nvPr/>
        </p:nvSpPr>
        <p:spPr>
          <a:xfrm>
            <a:off x="5084064"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Filter ✓</a:t>
            </a:r>
            <a:endParaRPr lang="en-US" sz="1800" dirty="0"/>
          </a:p>
        </p:txBody>
      </p:sp>
      <p:sp>
        <p:nvSpPr>
          <p:cNvPr id="16" name="Text 14"/>
          <p:cNvSpPr txBox="1"/>
          <p:nvPr/>
        </p:nvSpPr>
        <p:spPr>
          <a:xfrm>
            <a:off x="5084064"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OFF = baseline</a:t>
            </a:r>
            <a:endParaRPr lang="en-US" sz="1300" dirty="0"/>
          </a:p>
        </p:txBody>
      </p:sp>
      <p:sp>
        <p:nvSpPr>
          <p:cNvPr id="17" name="next arrow 2"/>
          <p:cNvSpPr/>
          <p:nvPr/>
        </p:nvSpPr>
        <p:spPr>
          <a:xfrm>
            <a:off x="6611112" y="1943100"/>
            <a:ext cx="1325880" cy="0"/>
          </a:xfrm>
          <a:prstGeom prst="line">
            <a:avLst/>
          </a:prstGeom>
          <a:noFill/>
          <a:ln w="22225">
            <a:solidFill>
              <a:srgbClr val="64748B"/>
            </a:solidFill>
            <a:prstDash val="solid"/>
            <a:tailEnd type="triangle"/>
          </a:ln>
        </p:spPr>
      </p:sp>
      <p:sp>
        <p:nvSpPr>
          <p:cNvPr id="18" name="next 11"/>
          <p:cNvSpPr/>
          <p:nvPr/>
        </p:nvSpPr>
        <p:spPr>
          <a:xfrm>
            <a:off x="8010144" y="1554480"/>
            <a:ext cx="777240" cy="777240"/>
          </a:xfrm>
          <a:prstGeom prst="ellipse">
            <a:avLst/>
          </a:prstGeom>
          <a:solidFill>
            <a:srgbClr val="0F9D8A"/>
          </a:solidFill>
          <a:ln/>
        </p:spPr>
      </p:sp>
      <p:sp>
        <p:nvSpPr>
          <p:cNvPr id="19" name="Text 17"/>
          <p:cNvSpPr txBox="1"/>
          <p:nvPr/>
        </p:nvSpPr>
        <p:spPr>
          <a:xfrm>
            <a:off x="8010144"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11</a:t>
            </a:r>
            <a:endParaRPr lang="en-US" sz="1800" dirty="0"/>
          </a:p>
        </p:txBody>
      </p:sp>
      <p:sp>
        <p:nvSpPr>
          <p:cNvPr id="20" name="Text 18"/>
          <p:cNvSpPr txBox="1"/>
          <p:nvPr/>
        </p:nvSpPr>
        <p:spPr>
          <a:xfrm>
            <a:off x="7351776"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AFTER ✓</a:t>
            </a:r>
            <a:endParaRPr lang="en-US" sz="1800" dirty="0"/>
          </a:p>
        </p:txBody>
      </p:sp>
      <p:sp>
        <p:nvSpPr>
          <p:cNvPr id="21" name="Text 19"/>
          <p:cNvSpPr txBox="1"/>
          <p:nvPr/>
        </p:nvSpPr>
        <p:spPr>
          <a:xfrm>
            <a:off x="7351776"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0.0% superseded</a:t>
            </a:r>
            <a:endParaRPr lang="en-US" sz="1300" dirty="0"/>
          </a:p>
        </p:txBody>
      </p:sp>
      <p:sp>
        <p:nvSpPr>
          <p:cNvPr id="22" name="next arrow 3"/>
          <p:cNvSpPr/>
          <p:nvPr/>
        </p:nvSpPr>
        <p:spPr>
          <a:xfrm>
            <a:off x="8878824" y="1943100"/>
            <a:ext cx="1325880" cy="0"/>
          </a:xfrm>
          <a:prstGeom prst="line">
            <a:avLst/>
          </a:prstGeom>
          <a:noFill/>
          <a:ln w="22225">
            <a:solidFill>
              <a:srgbClr val="64748B"/>
            </a:solidFill>
            <a:prstDash val="solid"/>
            <a:tailEnd type="triangle"/>
          </a:ln>
        </p:spPr>
      </p:sp>
      <p:sp>
        <p:nvSpPr>
          <p:cNvPr id="23" name="next 12"/>
          <p:cNvSpPr/>
          <p:nvPr/>
        </p:nvSpPr>
        <p:spPr>
          <a:xfrm>
            <a:off x="10277856" y="1554480"/>
            <a:ext cx="777240" cy="777240"/>
          </a:xfrm>
          <a:prstGeom prst="ellipse">
            <a:avLst/>
          </a:prstGeom>
          <a:solidFill>
            <a:srgbClr val="0F9D8A"/>
          </a:solidFill>
          <a:ln/>
        </p:spPr>
      </p:sp>
      <p:sp>
        <p:nvSpPr>
          <p:cNvPr id="24" name="Text 22"/>
          <p:cNvSpPr txBox="1"/>
          <p:nvPr/>
        </p:nvSpPr>
        <p:spPr>
          <a:xfrm>
            <a:off x="10277856"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12</a:t>
            </a:r>
            <a:endParaRPr lang="en-US" sz="1800" dirty="0"/>
          </a:p>
        </p:txBody>
      </p:sp>
      <p:sp>
        <p:nvSpPr>
          <p:cNvPr id="25" name="Text 23"/>
          <p:cNvSpPr txBox="1"/>
          <p:nvPr/>
        </p:nvSpPr>
        <p:spPr>
          <a:xfrm>
            <a:off x="9619488"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Report ✓</a:t>
            </a:r>
            <a:endParaRPr lang="en-US" sz="1800" dirty="0"/>
          </a:p>
        </p:txBody>
      </p:sp>
      <p:sp>
        <p:nvSpPr>
          <p:cNvPr id="26" name="Text 24"/>
          <p:cNvSpPr txBox="1"/>
          <p:nvPr/>
        </p:nvSpPr>
        <p:spPr>
          <a:xfrm>
            <a:off x="9619488"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table + conclusion</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7772400" cy="914400"/>
        </p:xfrm>
        <a:graphic>
          <a:graphicData uri="http://schemas.openxmlformats.org/drawingml/2006/table">
            <a:tbl>
              <a:tblPr/>
              <a:tblGrid>
                <a:gridCol w="3566160"/>
                <a:gridCol w="2103120"/>
                <a:gridCol w="2103120"/>
              </a:tblGrid>
              <a:tr h="384048">
                <a:tc>
                  <a:txBody>
                    <a:bodyPr/>
                    <a:lstStyle/>
                    <a:p>
                      <a:pPr indent="0" marL="0">
                        <a:buNone/>
                      </a:pPr>
                      <a:r>
                        <a:rPr lang="en-US" sz="1300" b="1" dirty="0">
                          <a:solidFill>
                            <a:srgbClr val="FFFFFF"/>
                          </a:solidFill>
                        </a:rPr>
                        <a:t>Metric</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Filter OFF (before)</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Filter ON (after)</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r>
              <a:tr h="384048">
                <a:tc>
                  <a:txBody>
                    <a:bodyPr/>
                    <a:lstStyle/>
                    <a:p>
                      <a:pPr indent="0" marL="0">
                        <a:buNone/>
                      </a:pPr>
                      <a:r>
                        <a:rPr lang="en-US" sz="1400" dirty="0">
                          <a:solidFill>
                            <a:srgbClr val="1F2A37"/>
                          </a:solidFill>
                        </a:rPr>
                        <a:t>Superseded chunks retrieved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48.8% (41/84)</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0.0% (0/84)</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Superseded / multi-hop passed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0/9 · 0/3</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9/9 · 3/3</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Exact-string cases passed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7 / 7</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7 / 7 (flat)</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Latency (105 calls each, fair)</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50.2 ms</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51.1 ms</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8" name="rule card"/>
          <p:cNvSpPr/>
          <p:nvPr/>
        </p:nvSpPr>
        <p:spPr>
          <a:xfrm>
            <a:off x="8595360" y="3840480"/>
            <a:ext cx="3017520" cy="1920240"/>
          </a:xfrm>
          <a:prstGeom prst="roundRect">
            <a:avLst>
              <a:gd name="adj" fmla="val 5714"/>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8778240" y="3931920"/>
            <a:ext cx="2651760" cy="1737360"/>
          </a:xfrm>
          <a:prstGeom prst="rect">
            <a:avLst/>
          </a:prstGeom>
          <a:noFill/>
          <a:ln/>
        </p:spPr>
        <p:txBody>
          <a:bodyPr wrap="square" lIns="0" tIns="0" rIns="0" bIns="0" rtlCol="0" anchor="ctr"/>
          <a:lstStyle/>
          <a:p>
            <a:pPr indent="0" marL="0">
              <a:spcAft>
                <a:spcPts val="600"/>
              </a:spcAft>
              <a:buNone/>
            </a:pPr>
            <a:r>
              <a:rPr lang="en-US" sz="1600" b="1" dirty="0">
                <a:solidFill>
                  <a:srgbClr val="E8833A"/>
                </a:solidFill>
              </a:rPr>
              <a:t>Conclusion</a:t>
            </a:r>
            <a:endParaRPr lang="en-US" sz="1600" dirty="0"/>
          </a:p>
          <a:p>
            <a:pPr indent="0" marL="0">
              <a:spcAft>
                <a:spcPts val="600"/>
              </a:spcAft>
              <a:buNone/>
            </a:pPr>
            <a:r>
              <a:rPr lang="en-US" sz="1600" dirty="0">
                <a:solidFill>
                  <a:schemeClr val="tx1"/>
                </a:solidFill>
              </a:rPr>
              <a:t>One where-clause on version metadata: stale context 48.8% → 0%, exact-string flat, &lt; 1 ms.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How to run and test it yourself</a:t>
            </a:r>
            <a:endParaRPr lang="en-US" sz="3400" dirty="0"/>
          </a:p>
        </p:txBody>
      </p:sp>
      <p:sp>
        <p:nvSpPr>
          <p:cNvPr id="3" name="commands"/>
          <p:cNvSpPr/>
          <p:nvPr/>
        </p:nvSpPr>
        <p:spPr>
          <a:xfrm>
            <a:off x="548640" y="1417320"/>
            <a:ext cx="11064240" cy="3246120"/>
          </a:xfrm>
          <a:prstGeom prst="roundRect">
            <a:avLst>
              <a:gd name="adj" fmla="val 338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600200"/>
            <a:ext cx="10424160" cy="2926080"/>
          </a:xfrm>
          <a:prstGeom prst="rect">
            <a:avLst/>
          </a:prstGeom>
          <a:noFill/>
          <a:ln/>
        </p:spPr>
        <p:txBody>
          <a:bodyPr wrap="square" lIns="0" tIns="0" rIns="0" bIns="0" rtlCol="0" anchor="ctr"/>
          <a:lstStyle/>
          <a:p>
            <a:pPr indent="0" marL="0">
              <a:buNone/>
            </a:pPr>
            <a:r>
              <a:rPr lang="en-US" sz="1500" dirty="0">
                <a:solidFill>
                  <a:srgbClr val="8FD8CC"/>
                </a:solidFill>
                <a:latin typeface="Courier New" pitchFamily="34" charset="0"/>
                <a:ea typeface="Courier New" pitchFamily="34" charset="-122"/>
                <a:cs typeface="Courier New" pitchFamily="34" charset="-120"/>
              </a:rPr>
              <a:t># start every session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B=~/Desktop/AI-Architect_L2_Aug_2026/project_10082026</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cd $B/track-b-kafka &amp;&amp; source $B/mai-practitioner-labs/.venv/bin/activate</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D8CC"/>
                </a:solidFill>
                <a:latin typeface="Courier New" pitchFamily="34" charset="0"/>
                <a:ea typeface="Courier New" pitchFamily="34" charset="-122"/>
                <a:cs typeface="Courier New" pitchFamily="34" charset="-120"/>
              </a:rPr>
              <a:t># data tests (Steps 3–5)</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simple_rag/b1_check.py            # full, with similarity trap</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simple_rag/b1_check.py --no-trap  # fast</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D8CC"/>
                </a:solidFill>
                <a:latin typeface="Courier New" pitchFamily="34" charset="0"/>
                <a:ea typeface="Courier New" pitchFamily="34" charset="-122"/>
                <a:cs typeface="Courier New" pitchFamily="34" charset="-120"/>
              </a:rPr>
              <a:t># recreate the corpus from scratch (byte-identical)</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$B/b1-tracking/track-b/tools/make_corpus.py simple_rag/corpus/kafka</a:t>
            </a:r>
            <a:endParaRPr lang="en-US" sz="1500" dirty="0"/>
          </a:p>
        </p:txBody>
      </p:sp>
      <p:sp>
        <p:nvSpPr>
          <p:cNvPr id="5" name="expected output"/>
          <p:cNvSpPr/>
          <p:nvPr/>
        </p:nvSpPr>
        <p:spPr>
          <a:xfrm>
            <a:off x="548640" y="4846320"/>
            <a:ext cx="11064240" cy="868680"/>
          </a:xfrm>
          <a:prstGeom prst="roundRect">
            <a:avLst>
              <a:gd name="adj" fmla="val 1263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4892040"/>
            <a:ext cx="10515600" cy="777240"/>
          </a:xfrm>
          <a:prstGeom prst="rect">
            <a:avLst/>
          </a:prstGeom>
          <a:noFill/>
          <a:ln/>
        </p:spPr>
        <p:txBody>
          <a:bodyPr wrap="square" lIns="0" tIns="0" rIns="0" bIns="0" rtlCol="0" anchor="ctr"/>
          <a:lstStyle/>
          <a:p>
            <a:pPr indent="0" marL="0">
              <a:buNone/>
            </a:pPr>
            <a:r>
              <a:rPr lang="en-US" sz="1500" b="1" dirty="0">
                <a:solidFill>
                  <a:srgbClr val="0B6E61"/>
                </a:solidFill>
              </a:rPr>
              <a:t>Expected: </a:t>
            </a:r>
            <a:pPr indent="0" marL="0">
              <a:buNone/>
            </a:pPr>
            <a:r>
              <a:rPr lang="en-US" sz="1500" dirty="0">
                <a:solidFill>
                  <a:schemeClr val="tx1"/>
                </a:solidFill>
              </a:rPr>
              <a:t>every line starts with OK and the last line is PASS (exit code 0). A FAIL line names the file and what is wrong.</a:t>
            </a:r>
            <a:endParaRPr lang="en-US" sz="1500" dirty="0"/>
          </a:p>
        </p:txBody>
      </p:sp>
      <p:sp>
        <p:nvSpPr>
          <p:cNvPr id="7" name="Text 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Every command: SOP v6 PDF, Appendix A  ·  Driving Claude Code: Claude-CLI Run Guide PDF (both in docs/)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Where the code lives: one public repo, three branches</a:t>
            </a:r>
            <a:endParaRPr lang="en-US" sz="3400" dirty="0"/>
          </a:p>
        </p:txBody>
      </p:sp>
      <p:sp>
        <p:nvSpPr>
          <p:cNvPr id="3" name="repo url"/>
          <p:cNvSpPr/>
          <p:nvPr/>
        </p:nvSpPr>
        <p:spPr>
          <a:xfrm>
            <a:off x="548640" y="1371600"/>
            <a:ext cx="11064240" cy="731520"/>
          </a:xfrm>
          <a:prstGeom prst="roundRect">
            <a:avLst>
              <a:gd name="adj" fmla="val 1500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371600"/>
            <a:ext cx="10515600" cy="731520"/>
          </a:xfrm>
          <a:prstGeom prst="rect">
            <a:avLst/>
          </a:prstGeom>
          <a:noFill/>
          <a:ln/>
        </p:spPr>
        <p:txBody>
          <a:bodyPr wrap="square" lIns="0" tIns="0" rIns="0" bIns="0" rtlCol="0" anchor="ctr"/>
          <a:lstStyle/>
          <a:p>
            <a:pPr indent="0" marL="0">
              <a:buNone/>
            </a:pPr>
            <a:r>
              <a:rPr lang="en-US" sz="1800" dirty="0">
                <a:solidFill>
                  <a:srgbClr val="8FD8CC"/>
                </a:solidFill>
                <a:latin typeface="Courier New" pitchFamily="34" charset="0"/>
                <a:ea typeface="Courier New" pitchFamily="34" charset="-122"/>
                <a:cs typeface="Courier New" pitchFamily="34" charset="-120"/>
              </a:rPr>
              <a:t>github.com/</a:t>
            </a:r>
            <a:pPr indent="0" marL="0">
              <a:buNone/>
            </a:pPr>
            <a:r>
              <a:rPr lang="en-US" sz="1800" b="1" dirty="0">
                <a:solidFill>
                  <a:srgbClr val="FFFFFF"/>
                </a:solidFill>
                <a:latin typeface="Courier New" pitchFamily="34" charset="0"/>
                <a:ea typeface="Courier New" pitchFamily="34" charset="-122"/>
                <a:cs typeface="Courier New" pitchFamily="34" charset="-120"/>
              </a:rPr>
              <a:t>shreenathacc22/L2-RAG-B1-track-b-kafka-version-aware</a:t>
            </a:r>
            <a:pPr indent="0" marL="0">
              <a:buNone/>
            </a:pPr>
            <a:r>
              <a:rPr lang="en-US" sz="1800" dirty="0">
                <a:solidFill>
                  <a:srgbClr val="8FD8CC"/>
                </a:solidFill>
                <a:latin typeface="Courier New" pitchFamily="34" charset="0"/>
                <a:ea typeface="Courier New" pitchFamily="34" charset="-122"/>
                <a:cs typeface="Courier New" pitchFamily="34" charset="-120"/>
              </a:rPr>
              <a:t>   · public</a:t>
            </a:r>
            <a:endParaRPr lang="en-US" sz="1800" dirty="0"/>
          </a:p>
        </p:txBody>
      </p:sp>
      <p:sp>
        <p:nvSpPr>
          <p:cNvPr id="5" name="branch main"/>
          <p:cNvSpPr/>
          <p:nvPr/>
        </p:nvSpPr>
        <p:spPr>
          <a:xfrm>
            <a:off x="548640" y="2331720"/>
            <a:ext cx="3520440" cy="1783080"/>
          </a:xfrm>
          <a:prstGeom prst="roundRect">
            <a:avLst>
              <a:gd name="adj" fmla="val 6154"/>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73152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main</a:t>
            </a:r>
            <a:endParaRPr lang="en-US" sz="1300" dirty="0"/>
          </a:p>
        </p:txBody>
      </p:sp>
      <p:sp>
        <p:nvSpPr>
          <p:cNvPr id="7" name="Text 5"/>
          <p:cNvSpPr txBox="1"/>
          <p:nvPr/>
        </p:nvSpPr>
        <p:spPr>
          <a:xfrm>
            <a:off x="73152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Overview README</a:t>
            </a:r>
            <a:endParaRPr lang="en-US" sz="1600" dirty="0"/>
          </a:p>
        </p:txBody>
      </p:sp>
      <p:sp>
        <p:nvSpPr>
          <p:cNvPr id="8" name="Text 6"/>
          <p:cNvSpPr txBox="1"/>
          <p:nvPr/>
        </p:nvSpPr>
        <p:spPr>
          <a:xfrm>
            <a:off x="73152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Start here: what B1 is, the result, links to every branch and doc</a:t>
            </a:r>
            <a:endParaRPr lang="en-US" sz="1300" dirty="0"/>
          </a:p>
        </p:txBody>
      </p:sp>
      <p:sp>
        <p:nvSpPr>
          <p:cNvPr id="9" name="branch track-b-kafka-version-aware"/>
          <p:cNvSpPr/>
          <p:nvPr/>
        </p:nvSpPr>
        <p:spPr>
          <a:xfrm>
            <a:off x="4297680" y="2331720"/>
            <a:ext cx="3520440" cy="1783080"/>
          </a:xfrm>
          <a:prstGeom prst="roundRect">
            <a:avLst>
              <a:gd name="adj" fmla="val 6154"/>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48056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track-b-kafka-version-aware</a:t>
            </a:r>
            <a:endParaRPr lang="en-US" sz="1300" dirty="0"/>
          </a:p>
        </p:txBody>
      </p:sp>
      <p:sp>
        <p:nvSpPr>
          <p:cNvPr id="11" name="Text 9"/>
          <p:cNvSpPr txBox="1"/>
          <p:nvPr/>
        </p:nvSpPr>
        <p:spPr>
          <a:xfrm>
            <a:off x="448056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The full project</a:t>
            </a:r>
            <a:endParaRPr lang="en-US" sz="1600" dirty="0"/>
          </a:p>
        </p:txBody>
      </p:sp>
      <p:sp>
        <p:nvSpPr>
          <p:cNvPr id="12" name="Text 10"/>
          <p:cNvSpPr txBox="1"/>
          <p:nvPr/>
        </p:nvSpPr>
        <p:spPr>
          <a:xfrm>
            <a:off x="448056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Class base 6b918c2 + one commit per step (3–12), results, b1-track-b/ docs and rebuild tools</a:t>
            </a:r>
            <a:endParaRPr lang="en-US" sz="1300" dirty="0"/>
          </a:p>
        </p:txBody>
      </p:sp>
      <p:sp>
        <p:nvSpPr>
          <p:cNvPr id="13" name="branch rag-deployment"/>
          <p:cNvSpPr/>
          <p:nvPr/>
        </p:nvSpPr>
        <p:spPr>
          <a:xfrm>
            <a:off x="8046720" y="2331720"/>
            <a:ext cx="3520440" cy="1783080"/>
          </a:xfrm>
          <a:prstGeom prst="roundRect">
            <a:avLst>
              <a:gd name="adj" fmla="val 6154"/>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822960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rag-deployment</a:t>
            </a:r>
            <a:endParaRPr lang="en-US" sz="1300" dirty="0"/>
          </a:p>
        </p:txBody>
      </p:sp>
      <p:sp>
        <p:nvSpPr>
          <p:cNvPr id="15" name="Text 13"/>
          <p:cNvSpPr txBox="1"/>
          <p:nvPr/>
        </p:nvSpPr>
        <p:spPr>
          <a:xfrm>
            <a:off x="822960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Runnable package</a:t>
            </a:r>
            <a:endParaRPr lang="en-US" sz="1600" dirty="0"/>
          </a:p>
        </p:txBody>
      </p:sp>
      <p:sp>
        <p:nvSpPr>
          <p:cNvPr id="16" name="Text 14"/>
          <p:cNvSpPr txBox="1"/>
          <p:nvPr/>
        </p:nvSpPr>
        <p:spPr>
          <a:xfrm>
            <a:off x="822960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Only what the finished version-aware RAG needs, plus run.sh: setup · ingest · check · eval · ask</a:t>
            </a:r>
            <a:endParaRPr lang="en-US" sz="1300" dirty="0"/>
          </a:p>
        </p:txBody>
      </p:sp>
      <p:sp>
        <p:nvSpPr>
          <p:cNvPr id="17" name="Text 15"/>
          <p:cNvSpPr txBox="1"/>
          <p:nvPr/>
        </p:nvSpPr>
        <p:spPr>
          <a:xfrm>
            <a:off x="548640" y="4434840"/>
            <a:ext cx="11064240" cy="8686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Track A </a:t>
            </a:r>
            <a:pPr indent="0" marL="0">
              <a:spcAft>
                <a:spcPts val="400"/>
              </a:spcAft>
              <a:buNone/>
            </a:pPr>
            <a:r>
              <a:rPr lang="en-US" sz="1400" dirty="0">
                <a:solidFill>
                  <a:schemeClr val="tx1"/>
                </a:solidFill>
              </a:rPr>
              <a:t>(front-matter version) stays in github.com/shreenathacc22/L2-RAG-B1-version-aware-retrieval · main</a:t>
            </a:r>
            <a:endParaRPr lang="en-US" sz="1400" dirty="0"/>
          </a:p>
          <a:p>
            <a:pPr indent="0" marL="0">
              <a:spcAft>
                <a:spcPts val="400"/>
              </a:spcAft>
              <a:buNone/>
            </a:pPr>
            <a:r>
              <a:rPr lang="en-US" sz="1400" b="1" dirty="0">
                <a:solidFill>
                  <a:srgbClr val="E8833A"/>
                </a:solidFill>
              </a:rPr>
              <a:t>Never published: </a:t>
            </a:r>
            <a:pPr indent="0" marL="0">
              <a:spcAft>
                <a:spcPts val="400"/>
              </a:spcAft>
              <a:buNone/>
            </a:pPr>
            <a:r>
              <a:rPr lang="en-US" sz="1400" dirty="0">
                <a:solidFill>
                  <a:schemeClr val="tx1"/>
                </a:solidFill>
              </a:rPr>
              <a:t>.env and .env.* (API key), raw run logs (local paths), personal email (commits use the GitHub noreply address).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Get it and run it</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350" dirty="0">
                <a:solidFill>
                  <a:srgbClr val="8FD8CC"/>
                </a:solidFill>
                <a:latin typeface="Courier New" pitchFamily="34" charset="0"/>
                <a:ea typeface="Courier New" pitchFamily="34" charset="-122"/>
                <a:cs typeface="Courier New" pitchFamily="34" charset="-120"/>
              </a:rPr>
              <a:t># the runnable RAG                                     expect:</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git clone -b rag-deployment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https://github.com/shreenathacc22/L2-RAG-B1-track-b-kafka-version-aware.git b1-rag</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cd b1-rag</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setup          # Python 3.12 venv + packages</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ingest         # 17 chunks with version metadata</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check          # data + Chroma checks: PASS</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eval           # OFF 48.8% -&gt; ON 0.0%</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ask "What port is the schema registry on?"   # needs .env (README)</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D8CC"/>
                </a:solidFill>
                <a:latin typeface="Courier New" pitchFamily="34" charset="0"/>
                <a:ea typeface="Courier New" pitchFamily="34" charset="-122"/>
                <a:cs typeface="Courier New" pitchFamily="34" charset="-120"/>
              </a:rPr>
              <a:t># the full project, then rebuild every step</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git clone -b track-b-kafka-version-aware &lt;repo-url&gt; b1-project &amp;&amp; cd b1-project</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SKIP_STEP2=1 bash b1-track-b/tools/recreate_track_b.sh ../track-b-rebuild</a:t>
            </a:r>
            <a:endParaRPr lang="en-US" sz="13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Docs on the project branch: b1-track-b/docs/ (SOP PDF, Claude-CLI Run Guide PDF, this deck).</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Rebuild Steps 0–12 with one command</a:t>
            </a:r>
            <a:endParaRPr lang="en-US" sz="3400" dirty="0"/>
          </a:p>
        </p:txBody>
      </p:sp>
      <p:sp>
        <p:nvSpPr>
          <p:cNvPr id="3" name="code"/>
          <p:cNvSpPr/>
          <p:nvPr/>
        </p:nvSpPr>
        <p:spPr>
          <a:xfrm>
            <a:off x="548640" y="1371600"/>
            <a:ext cx="11064240" cy="2011680"/>
          </a:xfrm>
          <a:prstGeom prst="roundRect">
            <a:avLst>
              <a:gd name="adj" fmla="val 5455"/>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173736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B=~/Desktop/AI-Architect_L2_Aug_2026/project_10082026</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T=$B/b1-tracking/track-b/tools</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bash $T/recreate_track_b.sh                   # builds $B/track-b-rebuild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VENV=$B/mai-practitioner-labs/.venv bash $T/recreate_track_b.sh   # faster: reuse Python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SKIP_STEP2=1 bash $T/recreate_track_b.sh      # skip lab run: no proxy key needed</a:t>
            </a:r>
            <a:endParaRPr lang="en-US" sz="1500" dirty="0"/>
          </a:p>
        </p:txBody>
      </p:sp>
      <p:sp>
        <p:nvSpPr>
          <p:cNvPr id="5" name="chip 0"/>
          <p:cNvSpPr/>
          <p:nvPr/>
        </p:nvSpPr>
        <p:spPr>
          <a:xfrm>
            <a:off x="548640" y="3703320"/>
            <a:ext cx="905256" cy="685800"/>
          </a:xfrm>
          <a:prstGeom prst="roundRect">
            <a:avLst>
              <a:gd name="adj" fmla="val 13333"/>
            </a:avLst>
          </a:prstGeom>
          <a:solidFill>
            <a:srgbClr val="EEF2F5"/>
          </a:solidFill>
          <a:ln/>
        </p:spPr>
      </p:sp>
      <p:sp>
        <p:nvSpPr>
          <p:cNvPr id="6" name="Text 4"/>
          <p:cNvSpPr txBox="1"/>
          <p:nvPr/>
        </p:nvSpPr>
        <p:spPr>
          <a:xfrm>
            <a:off x="56692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Clone 6b918c2</a:t>
            </a:r>
            <a:endParaRPr lang="en-US" sz="1000" dirty="0"/>
          </a:p>
        </p:txBody>
      </p:sp>
      <p:sp>
        <p:nvSpPr>
          <p:cNvPr id="7" name="chip arrow 0"/>
          <p:cNvSpPr/>
          <p:nvPr/>
        </p:nvSpPr>
        <p:spPr>
          <a:xfrm>
            <a:off x="1463040" y="4046220"/>
            <a:ext cx="91440" cy="0"/>
          </a:xfrm>
          <a:prstGeom prst="line">
            <a:avLst/>
          </a:prstGeom>
          <a:noFill/>
          <a:ln w="22225">
            <a:solidFill>
              <a:srgbClr val="64748B"/>
            </a:solidFill>
            <a:prstDash val="solid"/>
            <a:tailEnd type="triangle"/>
          </a:ln>
        </p:spPr>
      </p:sp>
      <p:sp>
        <p:nvSpPr>
          <p:cNvPr id="8" name="chip 1"/>
          <p:cNvSpPr/>
          <p:nvPr/>
        </p:nvSpPr>
        <p:spPr>
          <a:xfrm>
            <a:off x="1563624" y="3703320"/>
            <a:ext cx="905256" cy="685800"/>
          </a:xfrm>
          <a:prstGeom prst="roundRect">
            <a:avLst>
              <a:gd name="adj" fmla="val 13333"/>
            </a:avLst>
          </a:prstGeom>
          <a:solidFill>
            <a:srgbClr val="EEF2F5"/>
          </a:solidFill>
          <a:ln/>
        </p:spPr>
      </p:sp>
      <p:sp>
        <p:nvSpPr>
          <p:cNvPr id="9" name="Text 7"/>
          <p:cNvSpPr txBox="1"/>
          <p:nvPr/>
        </p:nvSpPr>
        <p:spPr>
          <a:xfrm>
            <a:off x="1581912"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Python env</a:t>
            </a:r>
            <a:endParaRPr lang="en-US" sz="1000" dirty="0"/>
          </a:p>
        </p:txBody>
      </p:sp>
      <p:sp>
        <p:nvSpPr>
          <p:cNvPr id="10" name="chip arrow 1"/>
          <p:cNvSpPr/>
          <p:nvPr/>
        </p:nvSpPr>
        <p:spPr>
          <a:xfrm>
            <a:off x="2478024" y="4046220"/>
            <a:ext cx="91440" cy="0"/>
          </a:xfrm>
          <a:prstGeom prst="line">
            <a:avLst/>
          </a:prstGeom>
          <a:noFill/>
          <a:ln w="22225">
            <a:solidFill>
              <a:srgbClr val="64748B"/>
            </a:solidFill>
            <a:prstDash val="solid"/>
            <a:tailEnd type="triangle"/>
          </a:ln>
        </p:spPr>
      </p:sp>
      <p:sp>
        <p:nvSpPr>
          <p:cNvPr id="11" name="chip 2"/>
          <p:cNvSpPr/>
          <p:nvPr/>
        </p:nvSpPr>
        <p:spPr>
          <a:xfrm>
            <a:off x="2578608" y="3703320"/>
            <a:ext cx="905256" cy="685800"/>
          </a:xfrm>
          <a:prstGeom prst="roundRect">
            <a:avLst>
              <a:gd name="adj" fmla="val 13333"/>
            </a:avLst>
          </a:prstGeom>
          <a:solidFill>
            <a:srgbClr val="EEF2F5"/>
          </a:solidFill>
          <a:ln/>
        </p:spPr>
      </p:sp>
      <p:sp>
        <p:nvSpPr>
          <p:cNvPr id="12" name="Text 10"/>
          <p:cNvSpPr txBox="1"/>
          <p:nvPr/>
        </p:nvSpPr>
        <p:spPr>
          <a:xfrm>
            <a:off x="2596896"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2 lab</a:t>
            </a:r>
            <a:endParaRPr lang="en-US" sz="1000" dirty="0"/>
          </a:p>
        </p:txBody>
      </p:sp>
      <p:sp>
        <p:nvSpPr>
          <p:cNvPr id="13" name="chip arrow 2"/>
          <p:cNvSpPr/>
          <p:nvPr/>
        </p:nvSpPr>
        <p:spPr>
          <a:xfrm>
            <a:off x="3493008" y="4046220"/>
            <a:ext cx="91440" cy="0"/>
          </a:xfrm>
          <a:prstGeom prst="line">
            <a:avLst/>
          </a:prstGeom>
          <a:noFill/>
          <a:ln w="22225">
            <a:solidFill>
              <a:srgbClr val="64748B"/>
            </a:solidFill>
            <a:prstDash val="solid"/>
            <a:tailEnd type="triangle"/>
          </a:ln>
        </p:spPr>
      </p:sp>
      <p:sp>
        <p:nvSpPr>
          <p:cNvPr id="14" name="chip 3"/>
          <p:cNvSpPr/>
          <p:nvPr/>
        </p:nvSpPr>
        <p:spPr>
          <a:xfrm>
            <a:off x="3593592" y="3703320"/>
            <a:ext cx="905256" cy="685800"/>
          </a:xfrm>
          <a:prstGeom prst="roundRect">
            <a:avLst>
              <a:gd name="adj" fmla="val 13333"/>
            </a:avLst>
          </a:prstGeom>
          <a:solidFill>
            <a:srgbClr val="EEF2F5"/>
          </a:solidFill>
          <a:ln/>
        </p:spPr>
      </p:sp>
      <p:sp>
        <p:nvSpPr>
          <p:cNvPr id="15" name="Text 13"/>
          <p:cNvSpPr txBox="1"/>
          <p:nvPr/>
        </p:nvSpPr>
        <p:spPr>
          <a:xfrm>
            <a:off x="3611880"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3–4 data</a:t>
            </a:r>
            <a:endParaRPr lang="en-US" sz="1000" dirty="0"/>
          </a:p>
        </p:txBody>
      </p:sp>
      <p:sp>
        <p:nvSpPr>
          <p:cNvPr id="16" name="chip arrow 3"/>
          <p:cNvSpPr/>
          <p:nvPr/>
        </p:nvSpPr>
        <p:spPr>
          <a:xfrm>
            <a:off x="4507992" y="4046220"/>
            <a:ext cx="91440" cy="0"/>
          </a:xfrm>
          <a:prstGeom prst="line">
            <a:avLst/>
          </a:prstGeom>
          <a:noFill/>
          <a:ln w="22225">
            <a:solidFill>
              <a:srgbClr val="64748B"/>
            </a:solidFill>
            <a:prstDash val="solid"/>
            <a:tailEnd type="triangle"/>
          </a:ln>
        </p:spPr>
      </p:sp>
      <p:sp>
        <p:nvSpPr>
          <p:cNvPr id="17" name="chip 4"/>
          <p:cNvSpPr/>
          <p:nvPr/>
        </p:nvSpPr>
        <p:spPr>
          <a:xfrm>
            <a:off x="4608576" y="3703320"/>
            <a:ext cx="905256" cy="685800"/>
          </a:xfrm>
          <a:prstGeom prst="roundRect">
            <a:avLst>
              <a:gd name="adj" fmla="val 13333"/>
            </a:avLst>
          </a:prstGeom>
          <a:solidFill>
            <a:srgbClr val="EEF2F5"/>
          </a:solidFill>
          <a:ln/>
        </p:spPr>
      </p:sp>
      <p:sp>
        <p:nvSpPr>
          <p:cNvPr id="18" name="Text 16"/>
          <p:cNvSpPr txBox="1"/>
          <p:nvPr/>
        </p:nvSpPr>
        <p:spPr>
          <a:xfrm>
            <a:off x="4626864"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5 + neg. tests</a:t>
            </a:r>
            <a:endParaRPr lang="en-US" sz="1000" dirty="0"/>
          </a:p>
        </p:txBody>
      </p:sp>
      <p:sp>
        <p:nvSpPr>
          <p:cNvPr id="19" name="chip arrow 4"/>
          <p:cNvSpPr/>
          <p:nvPr/>
        </p:nvSpPr>
        <p:spPr>
          <a:xfrm>
            <a:off x="5522976" y="4046220"/>
            <a:ext cx="91440" cy="0"/>
          </a:xfrm>
          <a:prstGeom prst="line">
            <a:avLst/>
          </a:prstGeom>
          <a:noFill/>
          <a:ln w="22225">
            <a:solidFill>
              <a:srgbClr val="64748B"/>
            </a:solidFill>
            <a:prstDash val="solid"/>
            <a:tailEnd type="triangle"/>
          </a:ln>
        </p:spPr>
      </p:sp>
      <p:sp>
        <p:nvSpPr>
          <p:cNvPr id="20" name="chip 5"/>
          <p:cNvSpPr/>
          <p:nvPr/>
        </p:nvSpPr>
        <p:spPr>
          <a:xfrm>
            <a:off x="5623560" y="3703320"/>
            <a:ext cx="905256" cy="685800"/>
          </a:xfrm>
          <a:prstGeom prst="roundRect">
            <a:avLst>
              <a:gd name="adj" fmla="val 13333"/>
            </a:avLst>
          </a:prstGeom>
          <a:solidFill>
            <a:srgbClr val="EEF2F5"/>
          </a:solidFill>
          <a:ln/>
        </p:spPr>
      </p:sp>
      <p:sp>
        <p:nvSpPr>
          <p:cNvPr id="21" name="Text 19"/>
          <p:cNvSpPr txBox="1"/>
          <p:nvPr/>
        </p:nvSpPr>
        <p:spPr>
          <a:xfrm>
            <a:off x="564184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6 freeze</a:t>
            </a:r>
            <a:endParaRPr lang="en-US" sz="1000" dirty="0"/>
          </a:p>
        </p:txBody>
      </p:sp>
      <p:sp>
        <p:nvSpPr>
          <p:cNvPr id="22" name="chip arrow 5"/>
          <p:cNvSpPr/>
          <p:nvPr/>
        </p:nvSpPr>
        <p:spPr>
          <a:xfrm>
            <a:off x="6537960" y="4046220"/>
            <a:ext cx="91440" cy="0"/>
          </a:xfrm>
          <a:prstGeom prst="line">
            <a:avLst/>
          </a:prstGeom>
          <a:noFill/>
          <a:ln w="22225">
            <a:solidFill>
              <a:srgbClr val="64748B"/>
            </a:solidFill>
            <a:prstDash val="solid"/>
            <a:tailEnd type="triangle"/>
          </a:ln>
        </p:spPr>
      </p:sp>
      <p:sp>
        <p:nvSpPr>
          <p:cNvPr id="23" name="chip 6"/>
          <p:cNvSpPr/>
          <p:nvPr/>
        </p:nvSpPr>
        <p:spPr>
          <a:xfrm>
            <a:off x="6638544" y="3703320"/>
            <a:ext cx="905256" cy="685800"/>
          </a:xfrm>
          <a:prstGeom prst="roundRect">
            <a:avLst>
              <a:gd name="adj" fmla="val 13333"/>
            </a:avLst>
          </a:prstGeom>
          <a:solidFill>
            <a:srgbClr val="EEF2F5"/>
          </a:solidFill>
          <a:ln/>
        </p:spPr>
      </p:sp>
      <p:sp>
        <p:nvSpPr>
          <p:cNvPr id="24" name="Text 22"/>
          <p:cNvSpPr txBox="1"/>
          <p:nvPr/>
        </p:nvSpPr>
        <p:spPr>
          <a:xfrm>
            <a:off x="6656832"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7 BEFORE</a:t>
            </a:r>
            <a:endParaRPr lang="en-US" sz="1000" dirty="0"/>
          </a:p>
        </p:txBody>
      </p:sp>
      <p:sp>
        <p:nvSpPr>
          <p:cNvPr id="25" name="chip arrow 6"/>
          <p:cNvSpPr/>
          <p:nvPr/>
        </p:nvSpPr>
        <p:spPr>
          <a:xfrm>
            <a:off x="7552944" y="4046220"/>
            <a:ext cx="91440" cy="0"/>
          </a:xfrm>
          <a:prstGeom prst="line">
            <a:avLst/>
          </a:prstGeom>
          <a:noFill/>
          <a:ln w="22225">
            <a:solidFill>
              <a:srgbClr val="64748B"/>
            </a:solidFill>
            <a:prstDash val="solid"/>
            <a:tailEnd type="triangle"/>
          </a:ln>
        </p:spPr>
      </p:sp>
      <p:sp>
        <p:nvSpPr>
          <p:cNvPr id="26" name="chip 7"/>
          <p:cNvSpPr/>
          <p:nvPr/>
        </p:nvSpPr>
        <p:spPr>
          <a:xfrm>
            <a:off x="7653528" y="3703320"/>
            <a:ext cx="905256" cy="685800"/>
          </a:xfrm>
          <a:prstGeom prst="roundRect">
            <a:avLst>
              <a:gd name="adj" fmla="val 13333"/>
            </a:avLst>
          </a:prstGeom>
          <a:solidFill>
            <a:srgbClr val="EEF2F5"/>
          </a:solidFill>
          <a:ln/>
        </p:spPr>
      </p:sp>
      <p:sp>
        <p:nvSpPr>
          <p:cNvPr id="27" name="Text 25"/>
          <p:cNvSpPr txBox="1"/>
          <p:nvPr/>
        </p:nvSpPr>
        <p:spPr>
          <a:xfrm>
            <a:off x="7671816"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8 Chroma</a:t>
            </a:r>
            <a:endParaRPr lang="en-US" sz="1000" dirty="0"/>
          </a:p>
        </p:txBody>
      </p:sp>
      <p:sp>
        <p:nvSpPr>
          <p:cNvPr id="28" name="chip arrow 7"/>
          <p:cNvSpPr/>
          <p:nvPr/>
        </p:nvSpPr>
        <p:spPr>
          <a:xfrm>
            <a:off x="8567928" y="4046220"/>
            <a:ext cx="91440" cy="0"/>
          </a:xfrm>
          <a:prstGeom prst="line">
            <a:avLst/>
          </a:prstGeom>
          <a:noFill/>
          <a:ln w="22225">
            <a:solidFill>
              <a:srgbClr val="64748B"/>
            </a:solidFill>
            <a:prstDash val="solid"/>
            <a:tailEnd type="triangle"/>
          </a:ln>
        </p:spPr>
      </p:sp>
      <p:sp>
        <p:nvSpPr>
          <p:cNvPr id="29" name="chip 8"/>
          <p:cNvSpPr/>
          <p:nvPr/>
        </p:nvSpPr>
        <p:spPr>
          <a:xfrm>
            <a:off x="8668512" y="3703320"/>
            <a:ext cx="905256" cy="685800"/>
          </a:xfrm>
          <a:prstGeom prst="roundRect">
            <a:avLst>
              <a:gd name="adj" fmla="val 13333"/>
            </a:avLst>
          </a:prstGeom>
          <a:solidFill>
            <a:srgbClr val="EEF2F5"/>
          </a:solidFill>
          <a:ln/>
        </p:spPr>
      </p:sp>
      <p:sp>
        <p:nvSpPr>
          <p:cNvPr id="30" name="Text 28"/>
          <p:cNvSpPr txBox="1"/>
          <p:nvPr/>
        </p:nvSpPr>
        <p:spPr>
          <a:xfrm>
            <a:off x="8686800"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9–10 filter</a:t>
            </a:r>
            <a:endParaRPr lang="en-US" sz="1000" dirty="0"/>
          </a:p>
        </p:txBody>
      </p:sp>
      <p:sp>
        <p:nvSpPr>
          <p:cNvPr id="31" name="chip arrow 8"/>
          <p:cNvSpPr/>
          <p:nvPr/>
        </p:nvSpPr>
        <p:spPr>
          <a:xfrm>
            <a:off x="9582912" y="4046220"/>
            <a:ext cx="91440" cy="0"/>
          </a:xfrm>
          <a:prstGeom prst="line">
            <a:avLst/>
          </a:prstGeom>
          <a:noFill/>
          <a:ln w="22225">
            <a:solidFill>
              <a:srgbClr val="64748B"/>
            </a:solidFill>
            <a:prstDash val="solid"/>
            <a:tailEnd type="triangle"/>
          </a:ln>
        </p:spPr>
      </p:sp>
      <p:sp>
        <p:nvSpPr>
          <p:cNvPr id="32" name="chip 9"/>
          <p:cNvSpPr/>
          <p:nvPr/>
        </p:nvSpPr>
        <p:spPr>
          <a:xfrm>
            <a:off x="9683496" y="3703320"/>
            <a:ext cx="905256" cy="685800"/>
          </a:xfrm>
          <a:prstGeom prst="roundRect">
            <a:avLst>
              <a:gd name="adj" fmla="val 13333"/>
            </a:avLst>
          </a:prstGeom>
          <a:solidFill>
            <a:srgbClr val="EEF2F5"/>
          </a:solidFill>
          <a:ln/>
        </p:spPr>
      </p:sp>
      <p:sp>
        <p:nvSpPr>
          <p:cNvPr id="33" name="Text 31"/>
          <p:cNvSpPr txBox="1"/>
          <p:nvPr/>
        </p:nvSpPr>
        <p:spPr>
          <a:xfrm>
            <a:off x="9701784"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11–12</a:t>
            </a:r>
            <a:endParaRPr lang="en-US" sz="1000" dirty="0"/>
          </a:p>
        </p:txBody>
      </p:sp>
      <p:sp>
        <p:nvSpPr>
          <p:cNvPr id="34" name="chip arrow 9"/>
          <p:cNvSpPr/>
          <p:nvPr/>
        </p:nvSpPr>
        <p:spPr>
          <a:xfrm>
            <a:off x="10597896" y="4046220"/>
            <a:ext cx="91440" cy="0"/>
          </a:xfrm>
          <a:prstGeom prst="line">
            <a:avLst/>
          </a:prstGeom>
          <a:noFill/>
          <a:ln w="22225">
            <a:solidFill>
              <a:srgbClr val="64748B"/>
            </a:solidFill>
            <a:prstDash val="solid"/>
            <a:tailEnd type="triangle"/>
          </a:ln>
        </p:spPr>
      </p:sp>
      <p:sp>
        <p:nvSpPr>
          <p:cNvPr id="35" name="chip 10"/>
          <p:cNvSpPr/>
          <p:nvPr/>
        </p:nvSpPr>
        <p:spPr>
          <a:xfrm>
            <a:off x="10698480" y="3703320"/>
            <a:ext cx="905256" cy="685800"/>
          </a:xfrm>
          <a:prstGeom prst="roundRect">
            <a:avLst>
              <a:gd name="adj" fmla="val 13333"/>
            </a:avLst>
          </a:prstGeom>
          <a:solidFill>
            <a:srgbClr val="CDEFEA"/>
          </a:solidFill>
          <a:ln w="19050">
            <a:solidFill>
              <a:srgbClr val="0F9D8A"/>
            </a:solidFill>
            <a:prstDash val="solid"/>
          </a:ln>
        </p:spPr>
      </p:sp>
      <p:sp>
        <p:nvSpPr>
          <p:cNvPr id="36" name="Text 34"/>
          <p:cNvSpPr txBox="1"/>
          <p:nvPr/>
        </p:nvSpPr>
        <p:spPr>
          <a:xfrm>
            <a:off x="1071676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Verify</a:t>
            </a:r>
            <a:endParaRPr lang="en-US" sz="1000" dirty="0"/>
          </a:p>
        </p:txBody>
      </p:sp>
      <p:sp>
        <p:nvSpPr>
          <p:cNvPr id="37" name="tested"/>
          <p:cNvSpPr/>
          <p:nvPr/>
        </p:nvSpPr>
        <p:spPr>
          <a:xfrm>
            <a:off x="548640" y="4663440"/>
            <a:ext cx="11064240" cy="1097280"/>
          </a:xfrm>
          <a:prstGeom prst="roundRect">
            <a:avLst>
              <a:gd name="adj" fmla="val 10000"/>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38" name="Text 36"/>
          <p:cNvSpPr txBox="1"/>
          <p:nvPr/>
        </p:nvSpPr>
        <p:spPr>
          <a:xfrm>
            <a:off x="822960" y="4709160"/>
            <a:ext cx="10515600" cy="1005840"/>
          </a:xfrm>
          <a:prstGeom prst="rect">
            <a:avLst/>
          </a:prstGeom>
          <a:noFill/>
          <a:ln/>
        </p:spPr>
        <p:txBody>
          <a:bodyPr wrap="square" lIns="0" tIns="0" rIns="0" bIns="0" rtlCol="0" anchor="ctr"/>
          <a:lstStyle/>
          <a:p>
            <a:pPr indent="0" marL="0">
              <a:buNone/>
            </a:pPr>
            <a:r>
              <a:rPr lang="en-US" sz="1500" b="1" dirty="0">
                <a:solidFill>
                  <a:srgbClr val="0B6E61"/>
                </a:solidFill>
              </a:rPr>
              <a:t>Tested 2026-10-18:  </a:t>
            </a:r>
            <a:pPr indent="0" marL="0">
              <a:buNone/>
            </a:pPr>
            <a:r>
              <a:rPr lang="en-US" sz="1500" dirty="0">
                <a:solidFill>
                  <a:schemeClr val="tx1"/>
                </a:solidFill>
              </a:rPr>
              <a:t>210 s · every check OK · 3 negative tests FAIL as intended · BEFORE 48.8% · OFF unchanged after Steps 8 and 10 · AFTER 0.0% · 7 / 7 fingerprints MATCH. </a:t>
            </a:r>
            <a:pPr indent="0" marL="0">
              <a:buNone/>
            </a:pPr>
            <a:r>
              <a:rPr lang="en-US" sz="1500" i="1" dirty="0">
                <a:solidFill>
                  <a:schemeClr val="tx1"/>
                </a:solidFill>
              </a:rPr>
              <a:t>Stops at the first failure; never touches track-b-kafka/.</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0–2</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 0 · get the code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B=~/Desktop/AI-Architect_L2_Aug_2026/project_10082026; T=$B/b1-tracking/track-b/tools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cd $B &amp;&amp; git clone https://github.com/balajivis/mai-practitioner-labs.git track-b-kafka</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cd track-b-kafka &amp;&amp; git checkout 6b918c2 &amp;&amp; git switch -c track-b</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$B/.env .env &amp;&amp; chmod 600 .env                 # proxy key, never committed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Python 3.12 environment (once)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uv venv --python 3.12 .venv &amp;&amp; source .venv/bin/activate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uv pip install -r requirements.txt \</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"torch==2.2.2" "numpy&lt;2" "transformers&lt;5" "sentence-transformers&lt;6"</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2 · the unchanged lab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ingest                   # ~196 vectors stored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ask "how do I tow my car?"   # answer with [1] [2] citations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eval                     # retrieval 2/6 · answer 2/6</a:t>
            </a:r>
            <a:endParaRPr lang="en-US" sz="14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Already set up? Skip to Step 3: source $B/mai-practitioner-labs/.venv/bin/activate also works.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3–6</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Steps 3–4 · corpus, manifest, data checks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$T/make_corpus.py simple_rag/corpus/kafka   # wrote 16 runbooks + manifest.json</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$T/source/b1_check.py simple_rag/b1_check.py</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simple_rag/b1_check.py                      # old outranks current 4/8 ... PASS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simple_rag/corpus/kafka simple_rag/b1_check.py &amp;&amp; git commit -m "Steps 3-4"</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5 · golden set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$T/make_golden.py simple_rag/golden_kafka.jsonl   # wrote 21 cases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simple_rag/b1_check.py --no-trap                 # [Step 5] ... PASS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6 · freeze, then prove it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simple_rag/golden_kafka.jsonl</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commit -m "Freeze B1 golden set before version-aware retrieval"</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shasum simple_rag/golden_kafka.jsonl               # 850c67f2eab21aa1a6afabd481e5c3efccb7e0ba</a:t>
            </a:r>
            <a:endParaRPr lang="en-US" sz="14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Negative tests and all four fingerprints: SOP Appendix A.2–A.3.</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 7</a:t>
            </a:r>
            <a:endParaRPr lang="en-US" sz="3400" dirty="0"/>
          </a:p>
        </p:txBody>
      </p:sp>
      <p:sp>
        <p:nvSpPr>
          <p:cNvPr id="3" name="code"/>
          <p:cNvSpPr/>
          <p:nvPr/>
        </p:nvSpPr>
        <p:spPr>
          <a:xfrm>
            <a:off x="548640" y="1371600"/>
            <a:ext cx="11064240" cy="3383280"/>
          </a:xfrm>
          <a:prstGeom prst="roundRect">
            <a:avLst>
              <a:gd name="adj" fmla="val 3243"/>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10896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 7 · evaluator + BEFORE run (filter OFF)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$T/source/rag.py simple_rag/rag.py             # corpus settings only; retrieval unchanged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$T/source/b1_eval.py simple_rag/b1_eval.py</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export RAG_CORPUS=simple_rag/corpus/kafka RAG_COLLECTION=kafka</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ingest --formats md      # vectors stored 17</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simple_rag/b1_eval.py --off                # superseded chunks 41/84 = 48.8%</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simple_rag/rag.py simple_rag/b1_eval.py simple_rag/results/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commit -m "B1 Track B step 7: evaluator and BEFORE baseline (filter OFF)"</a:t>
            </a:r>
            <a:endParaRPr lang="en-US" sz="1450" dirty="0"/>
          </a:p>
        </p:txBody>
      </p:sp>
      <p:sp>
        <p:nvSpPr>
          <p:cNvPr id="5" name="step7 check"/>
          <p:cNvSpPr/>
          <p:nvPr/>
        </p:nvSpPr>
        <p:spPr>
          <a:xfrm>
            <a:off x="548640" y="4937760"/>
            <a:ext cx="11064240" cy="822960"/>
          </a:xfrm>
          <a:prstGeom prst="roundRect">
            <a:avLst>
              <a:gd name="adj" fmla="val 13333"/>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4983480"/>
            <a:ext cx="10515600" cy="731520"/>
          </a:xfrm>
          <a:prstGeom prst="rect">
            <a:avLst/>
          </a:prstGeom>
          <a:noFill/>
          <a:ln/>
        </p:spPr>
        <p:txBody>
          <a:bodyPr wrap="square" lIns="0" tIns="0" rIns="0" bIns="0" rtlCol="0" anchor="ctr"/>
          <a:lstStyle/>
          <a:p>
            <a:pPr indent="0" marL="0">
              <a:buNone/>
            </a:pPr>
            <a:r>
              <a:rPr lang="en-US" sz="1500" b="1" dirty="0">
                <a:solidFill>
                  <a:srgbClr val="0B6E61"/>
                </a:solidFill>
              </a:rPr>
              <a:t>Check: </a:t>
            </a:r>
            <a:pPr indent="0" marL="0">
              <a:buNone/>
            </a:pPr>
            <a:r>
              <a:rPr lang="en-US" sz="1500" dirty="0">
                <a:solidFill>
                  <a:schemeClr val="tx1"/>
                </a:solidFill>
              </a:rPr>
              <a:t>re-run b1_eval.py --off: every case and number except latency must be identical. --on must say "not built yet".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 8 and the Chroma tests</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 8 · metadata into Chroma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$T/source/step08/*.py simple_rag/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simple_rag/b1_check.py --no-trap --chroma  # FAIL (18): old collection, the negative test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ingest --formats md      # re-ingest: metadata goes in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simple_rag/b1_check.py --no-trap --chroma  # 17 chunks · 8 vs 8 files · PASS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--off                # still 41/84 = 48.8%</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simple_rag/*.py &amp;&amp; git commit -m "B1 Track B step 8: metadata in Chroma"</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Look inside Chroma yourself</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simple_rag/b1_inspect_chroma.py            # all chunks + filter OFF vs ON demo</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simple_rag/b1_inspect_chroma.py "What port is the schema registry 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Raw Chroma, no project scripts: SOP Step 8, Level 3</a:t>
            </a:r>
            <a:endParaRPr lang="en-US" sz="140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All three Chroma test levels, with expected output: SOP Step 8 "How to test inside Chroma".</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9–10, the filter</a:t>
            </a:r>
            <a:endParaRPr lang="en-US" sz="3400" dirty="0"/>
          </a:p>
        </p:txBody>
      </p:sp>
      <p:sp>
        <p:nvSpPr>
          <p:cNvPr id="3" name="code"/>
          <p:cNvSpPr/>
          <p:nvPr/>
        </p:nvSpPr>
        <p:spPr>
          <a:xfrm>
            <a:off x="548640" y="1371600"/>
            <a:ext cx="11064240" cy="3566160"/>
          </a:xfrm>
          <a:prstGeom prst="roundRect">
            <a:avLst>
              <a:gd name="adj" fmla="val 3077"/>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29184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Steps 9–10 · filter + OFF/ON switch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$T/source/step10/rag.py simple_rag/rag.py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--off --out /tmp/b1check   # 41/84 = 48.8% (unchanged)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--on  --out /tmp/b1check   # 0/84 = 0.0%, exact 7/7</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ask "Broker 4 hit 87% disk. Page?"                 # stale #2</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ask --version-aware "Broker 4 hit 87% disk. Page?" # current only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simple_rag/rag.py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commit -m "B1 Track B steps 9-10: query-time version filter behind an OFF/ON switch"</a:t>
            </a:r>
            <a:endParaRPr lang="en-US" sz="1400" dirty="0"/>
          </a:p>
        </p:txBody>
      </p:sp>
      <p:sp>
        <p:nvSpPr>
          <p:cNvPr id="5" name="step10 check"/>
          <p:cNvSpPr/>
          <p:nvPr/>
        </p:nvSpPr>
        <p:spPr>
          <a:xfrm>
            <a:off x="548640" y="5120640"/>
            <a:ext cx="11064240" cy="685800"/>
          </a:xfrm>
          <a:prstGeom prst="roundRect">
            <a:avLst>
              <a:gd name="adj" fmla="val 16000"/>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5138928"/>
            <a:ext cx="10515600" cy="640080"/>
          </a:xfrm>
          <a:prstGeom prst="rect">
            <a:avLst/>
          </a:prstGeom>
          <a:noFill/>
          <a:ln/>
        </p:spPr>
        <p:txBody>
          <a:bodyPr wrap="square" lIns="0" tIns="0" rIns="0" bIns="0" rtlCol="0" anchor="ctr"/>
          <a:lstStyle/>
          <a:p>
            <a:pPr indent="0" marL="0">
              <a:buNone/>
            </a:pPr>
            <a:r>
              <a:rPr lang="en-US" sz="1500" b="1" dirty="0">
                <a:solidFill>
                  <a:srgbClr val="0B6E61"/>
                </a:solidFill>
              </a:rPr>
              <a:t>Pass rule: </a:t>
            </a:r>
            <a:pPr indent="0" marL="0">
              <a:buNone/>
            </a:pPr>
            <a:r>
              <a:rPr lang="en-US" sz="1500" dirty="0">
                <a:solidFill>
                  <a:schemeClr val="tx1"/>
                </a:solidFill>
              </a:rPr>
              <a:t>OFF must equal the Step 7 baseline exactly; ON must show 0% superseded with exact_string unchanged.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11–12</a:t>
            </a:r>
            <a:endParaRPr lang="en-US" sz="3400" dirty="0"/>
          </a:p>
        </p:txBody>
      </p:sp>
      <p:sp>
        <p:nvSpPr>
          <p:cNvPr id="3" name="code"/>
          <p:cNvSpPr/>
          <p:nvPr/>
        </p:nvSpPr>
        <p:spPr>
          <a:xfrm>
            <a:off x="548640" y="1371600"/>
            <a:ext cx="11064240" cy="3657600"/>
          </a:xfrm>
          <a:prstGeom prst="roundRect">
            <a:avLst>
              <a:gd name="adj" fmla="val 300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38328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 11 · AFTER run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shasum simple_rag/golden_kafka.jsonl               # 850c67f2... (unchanged)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--on                  # 0/84 = 0.0% · 9/9 · 7/7 · 3/3</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simple_rag/results/ &amp;&amp; git commit -m "Step 11: AFTER run"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Step 12 · fair latency, table, report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$T/source/step12/b1_eval.py simple_rag/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--latency 5           # OFF ~50 ms, ON ~51 ms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--table               # results/ablation_summary.md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 &amp;&amp; git commit -m "Step 12: ablation table, fair latency and report"</a:t>
            </a:r>
            <a:endParaRPr lang="en-US" sz="1400" dirty="0"/>
          </a:p>
        </p:txBody>
      </p:sp>
      <p:sp>
        <p:nvSpPr>
          <p:cNvPr id="5" name="step12 check"/>
          <p:cNvSpPr/>
          <p:nvPr/>
        </p:nvSpPr>
        <p:spPr>
          <a:xfrm>
            <a:off x="548640" y="5212080"/>
            <a:ext cx="11064240" cy="594360"/>
          </a:xfrm>
          <a:prstGeom prst="roundRect">
            <a:avLst>
              <a:gd name="adj" fmla="val 1846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5212080"/>
            <a:ext cx="10515600" cy="594360"/>
          </a:xfrm>
          <a:prstGeom prst="rect">
            <a:avLst/>
          </a:prstGeom>
          <a:noFill/>
          <a:ln/>
        </p:spPr>
        <p:txBody>
          <a:bodyPr wrap="square" lIns="0" tIns="0" rIns="0" bIns="0" rtlCol="0" anchor="ctr"/>
          <a:lstStyle/>
          <a:p>
            <a:pPr indent="0" marL="0">
              <a:buNone/>
            </a:pPr>
            <a:r>
              <a:rPr lang="en-US" sz="1500" b="1" dirty="0">
                <a:solidFill>
                  <a:srgbClr val="0B6E61"/>
                </a:solidFill>
              </a:rPr>
              <a:t>Result: </a:t>
            </a:r>
            <a:pPr indent="0" marL="0">
              <a:buNone/>
            </a:pPr>
            <a:r>
              <a:rPr lang="en-US" sz="1500" dirty="0">
                <a:solidFill>
                  <a:schemeClr val="tx1"/>
                </a:solidFill>
              </a:rPr>
              <a:t>superseded 48.8% → 0.0% · exact-string 7/7 → 7/7 · multi-hop 0/3 → 3/3 · latency +0.9 ms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lIns="0" tIns="0" rIns="0" bIns="0" rtlCol="0" anchor="b"/>
          <a:lstStyle/>
          <a:p>
            <a:pPr algn="l" indent="0" marL="0">
              <a:buNone/>
            </a:pPr>
            <a:r>
              <a:rPr lang="en-US" sz="4400" b="1" dirty="0">
                <a:solidFill>
                  <a:schemeClr val="bg1"/>
                </a:solidFill>
              </a:rPr>
              <a:t>Done: stale retrieval 48.8% → 0%, exact-string flat</a:t>
            </a: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lIns="0" tIns="0" rIns="0" bIns="0" rtlCol="0" anchor="t"/>
          <a:lstStyle/>
          <a:p>
            <a:pPr indent="0" marL="0">
              <a:buNone/>
            </a:pPr>
            <a:r>
              <a:rPr lang="en-US" sz="2000" dirty="0">
                <a:solidFill>
                  <a:schemeClr val="accent5"/>
                </a:solidFill>
              </a:rPr>
              <a:t>Public code: github.com/shreenathacc22/L2-RAG-B1-track-b-kafka-version-aware · branches main · track-b-kafka-version-aware · rag-deployment</a:t>
            </a:r>
            <a:endParaRPr lang="en-US" sz="2000" dirty="0"/>
          </a:p>
        </p:txBody>
      </p:sp>
      <p:sp>
        <p:nvSpPr>
          <p:cNvPr id="4" name="badge done"/>
          <p:cNvSpPr/>
          <p:nvPr/>
        </p:nvSpPr>
        <p:spPr>
          <a:xfrm>
            <a:off x="548640" y="914400"/>
            <a:ext cx="640080" cy="640080"/>
          </a:xfrm>
          <a:prstGeom prst="ellipse">
            <a:avLst/>
          </a:prstGeom>
          <a:solidFill>
            <a:srgbClr val="0F9D8A"/>
          </a:solidFill>
          <a:ln/>
        </p:spPr>
      </p:sp>
      <p:sp>
        <p:nvSpPr>
          <p:cNvPr id="5" name="Text 3"/>
          <p:cNvSpPr txBox="1"/>
          <p:nvPr/>
        </p:nvSpPr>
        <p:spPr>
          <a:xfrm>
            <a:off x="548640" y="914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Tree>
  </p:cSld>
  <p:clrMapOvr>
    <a:masterClrMapping/>
  </p:clrMapOvr>
</p:sld>
</file>

<file path=ppt/theme/theme1.xml><?xml version="1.0" encoding="utf-8"?>
<a:theme xmlns:a="http://schemas.openxmlformats.org/drawingml/2006/main" name="B1 Kafka Versioning">
  <a:themeElements>
    <a:clrScheme name="B1 Kafka Versioning">
      <a:dk1>
        <a:srgbClr val="1F2A37"/>
      </a:dk1>
      <a:lt1>
        <a:srgbClr val="FFFFFF"/>
      </a:lt1>
      <a:dk2>
        <a:srgbClr val="0B6E61"/>
      </a:dk2>
      <a:lt2>
        <a:srgbClr val="EEF2F5"/>
      </a:lt2>
      <a:accent1>
        <a:srgbClr val="0F9D8A"/>
      </a:accent1>
      <a:accent2>
        <a:srgbClr val="E8833A"/>
      </a:accent2>
      <a:accent3>
        <a:srgbClr val="B42318"/>
      </a:accent3>
      <a:accent4>
        <a:srgbClr val="64748B"/>
      </a:accent4>
      <a:accent5>
        <a:srgbClr val="CDEFEA"/>
      </a:accent5>
      <a:accent6>
        <a:srgbClr val="FDEBDC"/>
      </a:accent6>
      <a:hlink>
        <a:srgbClr val="0F9D8A"/>
      </a:hlink>
      <a:folHlink>
        <a:srgbClr val="0B6E61"/>
      </a:folHlink>
    </a:clrScheme>
    <a:fontScheme name="B1 Kafka Versio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Version-Aware Retrieval — Track B flow</dc:title>
  <dc:subject>Modern AI Pro Level 2, Track B, project B1</dc:subject>
  <dc:creator>Shreenath Shetty</dc:creator>
  <cp:lastModifiedBy>Shreenath Shetty</cp:lastModifiedBy>
  <cp:revision>1</cp:revision>
  <dcterms:created xsi:type="dcterms:W3CDTF">2026-10-18T16:50:58Z</dcterms:created>
  <dcterms:modified xsi:type="dcterms:W3CDTF">2026-10-18T16:50:58Z</dcterms:modified>
</cp:coreProperties>
</file>